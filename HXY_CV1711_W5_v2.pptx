
<file path=[Content_Types].xml><?xml version="1.0" encoding="utf-8"?>
<Types xmlns="http://schemas.openxmlformats.org/package/2006/content-types">
  <Default Extension="glb" ContentType="model/gltf.binary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68" r:id="rId5"/>
    <p:sldId id="336" r:id="rId6"/>
    <p:sldId id="334" r:id="rId7"/>
    <p:sldId id="301" r:id="rId8"/>
    <p:sldId id="302" r:id="rId9"/>
    <p:sldId id="337" r:id="rId10"/>
    <p:sldId id="300" r:id="rId11"/>
    <p:sldId id="291" r:id="rId12"/>
    <p:sldId id="269" r:id="rId13"/>
    <p:sldId id="290" r:id="rId14"/>
    <p:sldId id="303" r:id="rId15"/>
    <p:sldId id="292" r:id="rId16"/>
    <p:sldId id="294" r:id="rId17"/>
    <p:sldId id="350" r:id="rId18"/>
    <p:sldId id="311" r:id="rId19"/>
    <p:sldId id="310" r:id="rId20"/>
    <p:sldId id="306" r:id="rId21"/>
    <p:sldId id="343" r:id="rId22"/>
    <p:sldId id="344" r:id="rId23"/>
    <p:sldId id="345" r:id="rId24"/>
    <p:sldId id="348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FF00"/>
    <a:srgbClr val="DCE6F2"/>
    <a:srgbClr val="AE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034C07-5DA5-4C93-A211-F8D04CFE4848}" v="5" dt="2026-09-08T03:40:13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92" autoAdjust="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HUANG XINYA#" userId="0394e048-be67-4ff5-b348-88acdc9df0d1" providerId="ADAL" clId="{817F73F0-AC24-4E52-87B6-779E04DFBBB7}"/>
    <pc:docChg chg="custSel modSld sldOrd">
      <pc:chgData name="#HUANG XINYA#" userId="0394e048-be67-4ff5-b348-88acdc9df0d1" providerId="ADAL" clId="{817F73F0-AC24-4E52-87B6-779E04DFBBB7}" dt="2026-09-08T03:40:16.759" v="120" actId="20577"/>
      <pc:docMkLst>
        <pc:docMk/>
      </pc:docMkLst>
      <pc:sldChg chg="addSp modSp mod">
        <pc:chgData name="#HUANG XINYA#" userId="0394e048-be67-4ff5-b348-88acdc9df0d1" providerId="ADAL" clId="{817F73F0-AC24-4E52-87B6-779E04DFBBB7}" dt="2026-09-08T03:26:20.999" v="59" actId="1076"/>
        <pc:sldMkLst>
          <pc:docMk/>
          <pc:sldMk cId="2576713322" sldId="291"/>
        </pc:sldMkLst>
        <pc:spChg chg="add mod">
          <ac:chgData name="#HUANG XINYA#" userId="0394e048-be67-4ff5-b348-88acdc9df0d1" providerId="ADAL" clId="{817F73F0-AC24-4E52-87B6-779E04DFBBB7}" dt="2026-09-08T03:26:20.999" v="59" actId="1076"/>
          <ac:spMkLst>
            <pc:docMk/>
            <pc:sldMk cId="2576713322" sldId="291"/>
            <ac:spMk id="7" creationId="{5791E957-5F06-956E-39FE-A9EFAEA57F72}"/>
          </ac:spMkLst>
        </pc:spChg>
        <pc:cxnChg chg="add mod">
          <ac:chgData name="#HUANG XINYA#" userId="0394e048-be67-4ff5-b348-88acdc9df0d1" providerId="ADAL" clId="{817F73F0-AC24-4E52-87B6-779E04DFBBB7}" dt="2026-09-08T03:25:49.205" v="40" actId="208"/>
          <ac:cxnSpMkLst>
            <pc:docMk/>
            <pc:sldMk cId="2576713322" sldId="291"/>
            <ac:cxnSpMk id="6" creationId="{89FB618B-AF6D-A3A2-0846-E722B23B7355}"/>
          </ac:cxnSpMkLst>
        </pc:cxnChg>
      </pc:sldChg>
      <pc:sldChg chg="addSp delSp modSp mod">
        <pc:chgData name="#HUANG XINYA#" userId="0394e048-be67-4ff5-b348-88acdc9df0d1" providerId="ADAL" clId="{817F73F0-AC24-4E52-87B6-779E04DFBBB7}" dt="2026-09-08T03:20:36.380" v="37" actId="1037"/>
        <pc:sldMkLst>
          <pc:docMk/>
          <pc:sldMk cId="3890169643" sldId="336"/>
        </pc:sldMkLst>
        <pc:spChg chg="mod">
          <ac:chgData name="#HUANG XINYA#" userId="0394e048-be67-4ff5-b348-88acdc9df0d1" providerId="ADAL" clId="{817F73F0-AC24-4E52-87B6-779E04DFBBB7}" dt="2026-09-08T03:19:16.646" v="6" actId="1076"/>
          <ac:spMkLst>
            <pc:docMk/>
            <pc:sldMk cId="3890169643" sldId="336"/>
            <ac:spMk id="6" creationId="{AFD3C2A5-BB08-34B7-CE04-6D599E008C3E}"/>
          </ac:spMkLst>
        </pc:spChg>
        <pc:spChg chg="add mod">
          <ac:chgData name="#HUANG XINYA#" userId="0394e048-be67-4ff5-b348-88acdc9df0d1" providerId="ADAL" clId="{817F73F0-AC24-4E52-87B6-779E04DFBBB7}" dt="2026-09-08T03:20:36.380" v="37" actId="1037"/>
          <ac:spMkLst>
            <pc:docMk/>
            <pc:sldMk cId="3890169643" sldId="336"/>
            <ac:spMk id="7" creationId="{6259E4E1-0485-7ABD-B360-5C0A267F87CE}"/>
          </ac:spMkLst>
        </pc:spChg>
        <pc:picChg chg="add mod ord">
          <ac:chgData name="#HUANG XINYA#" userId="0394e048-be67-4ff5-b348-88acdc9df0d1" providerId="ADAL" clId="{817F73F0-AC24-4E52-87B6-779E04DFBBB7}" dt="2026-09-08T03:19:14.093" v="5" actId="167"/>
          <ac:picMkLst>
            <pc:docMk/>
            <pc:sldMk cId="3890169643" sldId="336"/>
            <ac:picMk id="2" creationId="{C375A710-1ACF-E8B4-25E0-E23FBDED6E4F}"/>
          </ac:picMkLst>
        </pc:picChg>
        <pc:picChg chg="del">
          <ac:chgData name="#HUANG XINYA#" userId="0394e048-be67-4ff5-b348-88acdc9df0d1" providerId="ADAL" clId="{817F73F0-AC24-4E52-87B6-779E04DFBBB7}" dt="2026-09-08T03:17:39.303" v="0" actId="478"/>
          <ac:picMkLst>
            <pc:docMk/>
            <pc:sldMk cId="3890169643" sldId="336"/>
            <ac:picMk id="3" creationId="{D1CBC225-0C5E-1EF2-68BD-ED16069880D7}"/>
          </ac:picMkLst>
        </pc:picChg>
        <pc:picChg chg="add mod">
          <ac:chgData name="#HUANG XINYA#" userId="0394e048-be67-4ff5-b348-88acdc9df0d1" providerId="ADAL" clId="{817F73F0-AC24-4E52-87B6-779E04DFBBB7}" dt="2026-09-08T03:20:36.380" v="37" actId="1037"/>
          <ac:picMkLst>
            <pc:docMk/>
            <pc:sldMk cId="3890169643" sldId="336"/>
            <ac:picMk id="4" creationId="{0EEE1383-388B-5E3F-1FE1-CF5E31DF90C4}"/>
          </ac:picMkLst>
        </pc:picChg>
      </pc:sldChg>
      <pc:sldChg chg="modSp mod ord">
        <pc:chgData name="#HUANG XINYA#" userId="0394e048-be67-4ff5-b348-88acdc9df0d1" providerId="ADAL" clId="{817F73F0-AC24-4E52-87B6-779E04DFBBB7}" dt="2026-09-08T03:40:16.759" v="120" actId="20577"/>
        <pc:sldMkLst>
          <pc:docMk/>
          <pc:sldMk cId="1712540678" sldId="337"/>
        </pc:sldMkLst>
        <pc:spChg chg="mod">
          <ac:chgData name="#HUANG XINYA#" userId="0394e048-be67-4ff5-b348-88acdc9df0d1" providerId="ADAL" clId="{817F73F0-AC24-4E52-87B6-779E04DFBBB7}" dt="2026-09-08T03:40:16.759" v="120" actId="20577"/>
          <ac:spMkLst>
            <pc:docMk/>
            <pc:sldMk cId="1712540678" sldId="337"/>
            <ac:spMk id="2" creationId="{0AFDD895-376C-2927-2FDB-835C40734F65}"/>
          </ac:spMkLst>
        </pc:spChg>
      </pc:sldChg>
    </pc:docChg>
  </pc:docChgLst>
  <pc:docChgLst>
    <pc:chgData name="#HUANG XINYA#" userId="0394e048-be67-4ff5-b348-88acdc9df0d1" providerId="ADAL" clId="{02486B59-77C2-44D9-86E4-77A6D6D6742A}"/>
    <pc:docChg chg="undo redo custSel addSld delSld modSld sldOrd">
      <pc:chgData name="#HUANG XINYA#" userId="0394e048-be67-4ff5-b348-88acdc9df0d1" providerId="ADAL" clId="{02486B59-77C2-44D9-86E4-77A6D6D6742A}" dt="2026-08-28T01:45:31.872" v="16252" actId="47"/>
      <pc:docMkLst>
        <pc:docMk/>
      </pc:docMkLst>
      <pc:sldChg chg="addSp delSp mod ord">
        <pc:chgData name="#HUANG XINYA#" userId="0394e048-be67-4ff5-b348-88acdc9df0d1" providerId="ADAL" clId="{02486B59-77C2-44D9-86E4-77A6D6D6742A}" dt="2026-08-28T01:45:22.373" v="16251" actId="20578"/>
        <pc:sldMkLst>
          <pc:docMk/>
          <pc:sldMk cId="1444261047" sldId="2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9/8/2026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6C49-6F48-4F46-A0C4-F823054334BD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B86D8-D67E-429E-B575-006BC027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2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6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6C77-5F37-ECB0-0505-3938500B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9B030-A1FB-90FA-60EA-BBE6171AC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B56A-9048-BE07-CE0F-B41819857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C665-25D7-065C-F682-E79014860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491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525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231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101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255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891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263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406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420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991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6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226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694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191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308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488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2519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087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898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1526-9E80-08B7-C662-6511C6E0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099BF-348D-46A4-88F5-DE6F9AA2C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B721A-C19A-2335-D06B-5FCC60F62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FF134-AE21-9730-05CF-6FBB27A2E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38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PUgz6Pj0ds&amp;list=PLILX3iYME5rHp4AplmfQXYfMYkzTCIVat&amp;index=7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Q8YeCa0tB0I&amp;list=PLILX3iYME5rHp4AplmfQXYfMYkzTCIVat&amp;index=76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608-D302-8513-6306-E5E7E4DD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CBC3A0-2B36-47B2-F7C2-6B2DAB24C5B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42DC2-361B-DF45-341F-D86291606981}"/>
              </a:ext>
            </a:extLst>
          </p:cNvPr>
          <p:cNvSpPr txBox="1"/>
          <p:nvPr/>
        </p:nvSpPr>
        <p:spPr>
          <a:xfrm>
            <a:off x="1613365" y="1989925"/>
            <a:ext cx="633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Very Import, Please Pay Close Attention!</a:t>
            </a:r>
          </a:p>
        </p:txBody>
      </p:sp>
    </p:spTree>
    <p:extLst>
      <p:ext uri="{BB962C8B-B14F-4D97-AF65-F5344CB8AC3E}">
        <p14:creationId xmlns:p14="http://schemas.microsoft.com/office/powerpoint/2010/main" val="144426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5C652-3F8B-4D91-7FD6-088406B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75A710-1ACF-E8B4-25E0-E23FBDED6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11" y="967666"/>
            <a:ext cx="5800037" cy="3462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4A3CB-9BB1-C24E-4B25-05CC09E7C3A6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5 – </a:t>
            </a:r>
            <a:r>
              <a:rPr lang="en-US" sz="2800" b="1"/>
              <a:t>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Self-learning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3C2A5-BB08-34B7-CE04-6D599E008C3E}"/>
              </a:ext>
            </a:extLst>
          </p:cNvPr>
          <p:cNvSpPr/>
          <p:nvPr/>
        </p:nvSpPr>
        <p:spPr>
          <a:xfrm>
            <a:off x="3098700" y="3823405"/>
            <a:ext cx="1143000" cy="221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E1383-388B-5E3F-1FE1-CF5E31DF9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34" y="1462045"/>
            <a:ext cx="2417100" cy="26018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59E4E1-0485-7ABD-B360-5C0A267F87CE}"/>
              </a:ext>
            </a:extLst>
          </p:cNvPr>
          <p:cNvSpPr/>
          <p:nvPr/>
        </p:nvSpPr>
        <p:spPr>
          <a:xfrm>
            <a:off x="274374" y="2176509"/>
            <a:ext cx="1739952" cy="355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016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0B9F-9C6E-D6BB-4362-FBA77D0A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71BE2-9B72-DF17-2EFE-CDE687E58EDF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5 – 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uxiliary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rojection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Assignments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06C2-38AB-DA97-4EA2-E57B8728EF6D}"/>
              </a:ext>
            </a:extLst>
          </p:cNvPr>
          <p:cNvSpPr txBox="1"/>
          <p:nvPr/>
        </p:nvSpPr>
        <p:spPr>
          <a:xfrm>
            <a:off x="317634" y="1494038"/>
            <a:ext cx="5830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Finish – E9, E10, E11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Submit – E10 </a:t>
            </a:r>
          </a:p>
        </p:txBody>
      </p:sp>
    </p:spTree>
    <p:extLst>
      <p:ext uri="{BB962C8B-B14F-4D97-AF65-F5344CB8AC3E}">
        <p14:creationId xmlns:p14="http://schemas.microsoft.com/office/powerpoint/2010/main" val="196218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23862-188E-9C64-5116-B2D6C348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421312-0961-EE01-7BE7-66644AB43AD0}"/>
              </a:ext>
            </a:extLst>
          </p:cNvPr>
          <p:cNvGrpSpPr/>
          <p:nvPr/>
        </p:nvGrpSpPr>
        <p:grpSpPr>
          <a:xfrm>
            <a:off x="2513643" y="120068"/>
            <a:ext cx="4012232" cy="4633559"/>
            <a:chOff x="1762866" y="-646885"/>
            <a:chExt cx="5574078" cy="64372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80EAAE-BAA6-A2B2-4B66-008C75371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6" name="Speech Bubble: Rectangle 52">
              <a:extLst>
                <a:ext uri="{FF2B5EF4-FFF2-40B4-BE49-F238E27FC236}">
                  <a16:creationId xmlns:a16="http://schemas.microsoft.com/office/drawing/2014/main" id="{5F51AF46-93A5-F808-20DF-77DD3B10FC34}"/>
                </a:ext>
              </a:extLst>
            </p:cNvPr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3FA7D153-A11D-19A6-4216-F700DA63D0ED}"/>
                </a:ext>
              </a:extLst>
            </p:cNvPr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E1D60B3C-4497-9565-FBC7-2E55B6F1D3A5}"/>
                </a:ext>
              </a:extLst>
            </p:cNvPr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F11FFC6-0C89-ABE7-FADF-816D9FE01785}"/>
                </a:ext>
              </a:extLst>
            </p:cNvPr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132B998C-D7A5-91AC-3978-74370DC049A7}"/>
                </a:ext>
              </a:extLst>
            </p:cNvPr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Speech Bubble: Rectangle 51">
              <a:extLst>
                <a:ext uri="{FF2B5EF4-FFF2-40B4-BE49-F238E27FC236}">
                  <a16:creationId xmlns:a16="http://schemas.microsoft.com/office/drawing/2014/main" id="{3B7278A9-DB4A-DFCB-7E3E-BCE14812321D}"/>
                </a:ext>
              </a:extLst>
            </p:cNvPr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32778E-1C9C-3557-46F7-4A6EA3BF0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F4E61C-2DC8-D7D8-5575-B251755ED934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lang="en-US" altLang="zh-CN" sz="2800" b="1">
                <a:solidFill>
                  <a:srgbClr val="FF0000"/>
                </a:solidFill>
              </a:rPr>
              <a:t>– Recap</a:t>
            </a:r>
            <a:endParaRPr 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5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A0F0-F205-4F2D-4D1E-DB10E5E7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078B9-99D0-A4B7-4DCA-F901AFBFD1F8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lang="en-US" altLang="zh-CN" sz="2800" b="1">
                <a:solidFill>
                  <a:srgbClr val="FF0000"/>
                </a:solidFill>
              </a:rPr>
              <a:t>– Terms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56925-9907-7DC2-4C2A-38F2E85D4B7A}"/>
              </a:ext>
            </a:extLst>
          </p:cNvPr>
          <p:cNvSpPr txBox="1"/>
          <p:nvPr/>
        </p:nvSpPr>
        <p:spPr>
          <a:xfrm>
            <a:off x="571500" y="1113204"/>
            <a:ext cx="7741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First (P</a:t>
            </a:r>
            <a:r>
              <a:rPr lang="en-US" altLang="zh-CN" sz="2400" b="1"/>
              <a:t>rimary</a:t>
            </a:r>
            <a:r>
              <a:rPr lang="en-US" sz="2400" b="1"/>
              <a:t>) Auxiliary Projection:</a:t>
            </a:r>
            <a:r>
              <a:rPr lang="en-US" sz="2400"/>
              <a:t> A view projected onto a plane that is perpendicular to one principal view, used to show an inclined surface in its true size and shape.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2959A-CB76-6565-B574-AF8536BF45BE}"/>
              </a:ext>
            </a:extLst>
          </p:cNvPr>
          <p:cNvSpPr txBox="1"/>
          <p:nvPr/>
        </p:nvSpPr>
        <p:spPr>
          <a:xfrm>
            <a:off x="571500" y="2658876"/>
            <a:ext cx="79324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First / P</a:t>
            </a:r>
            <a:r>
              <a:rPr lang="en-US" altLang="zh-CN" sz="2400" b="1"/>
              <a:t>rimary:</a:t>
            </a:r>
            <a:br>
              <a:rPr lang="en-US" sz="2400"/>
            </a:br>
            <a:r>
              <a:rPr lang="en-US" sz="2400"/>
              <a:t>The projection obtained by </a:t>
            </a:r>
            <a:r>
              <a:rPr lang="en-US" sz="2400" b="1">
                <a:solidFill>
                  <a:srgbClr val="FF0000"/>
                </a:solidFill>
              </a:rPr>
              <a:t>rotating once </a:t>
            </a:r>
            <a:r>
              <a:rPr lang="en-US" sz="2400"/>
              <a:t>from a principal view (front, top, or side). </a:t>
            </a:r>
            <a:r>
              <a:rPr lang="en-US" sz="2400" b="1">
                <a:solidFill>
                  <a:srgbClr val="FF0000"/>
                </a:solidFill>
              </a:rPr>
              <a:t>N</a:t>
            </a:r>
            <a:r>
              <a:rPr lang="en-US" altLang="zh-CN" sz="2400" b="1">
                <a:solidFill>
                  <a:srgbClr val="FF0000"/>
                </a:solidFill>
              </a:rPr>
              <a:t>OT</a:t>
            </a:r>
            <a:r>
              <a:rPr lang="en-US" altLang="zh-CN" sz="2400"/>
              <a:t> First Quadrant/First Angle Projection.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7768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14C9-972E-795E-475C-D0BB4A04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60C2B9-59E0-4FA0-59BC-9938E9AFBE87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5 – Auxiliary P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rojection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DD895-376C-2927-2FDB-835C40734F65}"/>
              </a:ext>
            </a:extLst>
          </p:cNvPr>
          <p:cNvSpPr txBox="1"/>
          <p:nvPr/>
        </p:nvSpPr>
        <p:spPr>
          <a:xfrm>
            <a:off x="317634" y="1096849"/>
            <a:ext cx="63192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prstClr val="black"/>
                </a:solidFill>
              </a:rPr>
              <a:t>First Auxiliary Plan (using 1</a:t>
            </a:r>
            <a:r>
              <a:rPr lang="en-GB" baseline="30000" dirty="0">
                <a:solidFill>
                  <a:prstClr val="black"/>
                </a:solidFill>
              </a:rPr>
              <a:t>st</a:t>
            </a:r>
            <a:r>
              <a:rPr lang="en-GB" dirty="0">
                <a:solidFill>
                  <a:prstClr val="black"/>
                </a:solidFill>
              </a:rPr>
              <a:t> Angle Projection)</a:t>
            </a:r>
          </a:p>
          <a:p>
            <a:pPr lvl="0">
              <a:defRPr/>
            </a:pPr>
            <a:r>
              <a:rPr lang="en-GB" i="1" dirty="0">
                <a:solidFill>
                  <a:prstClr val="black"/>
                </a:solidFill>
                <a:hlinkClick r:id="rId3"/>
              </a:rPr>
              <a:t>https://www.youtube.com/watch?v=xPUgz6Pj0ds&amp;list=PLILX3iYME5rHp4AplmfQXYfMYkzTCIVat&amp;index=73</a:t>
            </a:r>
            <a:endParaRPr lang="en-GB" i="1" dirty="0">
              <a:solidFill>
                <a:prstClr val="black"/>
              </a:solidFill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First Auxiliary Elevation (using 1</a:t>
            </a:r>
            <a:r>
              <a:rPr lang="en-GB" baseline="30000" dirty="0">
                <a:solidFill>
                  <a:prstClr val="black"/>
                </a:solidFill>
                <a:latin typeface="Calibri"/>
              </a:rPr>
              <a:t>st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Angle Projection)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black"/>
                </a:solidFill>
                <a:hlinkClick r:id="rId4"/>
              </a:rPr>
              <a:t>https://www.youtube.com/watch?v=Q8YeCa0tB0I&amp;list=PLILX3iYME5rHp4AplmfQXYfMYkzTCIVat&amp;index=76</a:t>
            </a:r>
            <a:endParaRPr lang="en-GB" dirty="0">
              <a:solidFill>
                <a:prstClr val="black"/>
              </a:solidFill>
            </a:endParaRPr>
          </a:p>
          <a:p>
            <a:pPr lvl="0"/>
            <a:endParaRPr lang="en-GB" dirty="0">
              <a:solidFill>
                <a:prstClr val="black"/>
              </a:solidFill>
              <a:latin typeface="Calibri"/>
            </a:endParaRPr>
          </a:p>
          <a:p>
            <a:pPr lvl="0"/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54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14B0-58FC-076E-E1AC-B2C80663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E78F3D-4F3C-FCE2-BFE0-19756033B99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lang="en-US" altLang="zh-CN" sz="2800" b="1">
                <a:solidFill>
                  <a:srgbClr val="FF0000"/>
                </a:solidFill>
              </a:rPr>
              <a:t>– Auxiliary Plan</a:t>
            </a:r>
            <a:endParaRPr lang="en-US" sz="2800" b="1">
              <a:solidFill>
                <a:srgbClr val="FF0000"/>
              </a:solidFill>
            </a:endParaRPr>
          </a:p>
        </p:txBody>
      </p:sp>
      <p:pic>
        <p:nvPicPr>
          <p:cNvPr id="3" name="Picture 2" descr="A diagram of a geometrical figure&#10;&#10;AI-generated content may be incorrect.">
            <a:extLst>
              <a:ext uri="{FF2B5EF4-FFF2-40B4-BE49-F238E27FC236}">
                <a16:creationId xmlns:a16="http://schemas.microsoft.com/office/drawing/2014/main" id="{CC1AAA08-D7D7-A0EA-4117-460251720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86" y="816495"/>
            <a:ext cx="5364476" cy="37792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EF4576-864C-DCAA-6A10-D63E153E3667}"/>
              </a:ext>
            </a:extLst>
          </p:cNvPr>
          <p:cNvSpPr txBox="1"/>
          <p:nvPr/>
        </p:nvSpPr>
        <p:spPr>
          <a:xfrm>
            <a:off x="5620447" y="712854"/>
            <a:ext cx="3292966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Some Kind of Plan: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 – More Like Plan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 – Projected from Elevation View (i.e. Perpendicular to Elevation View)</a:t>
            </a:r>
          </a:p>
        </p:txBody>
      </p:sp>
    </p:spTree>
    <p:extLst>
      <p:ext uri="{BB962C8B-B14F-4D97-AF65-F5344CB8AC3E}">
        <p14:creationId xmlns:p14="http://schemas.microsoft.com/office/powerpoint/2010/main" val="377923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F533-266C-DA02-0A6C-7C3BBEC6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ep&#10;&#10;AI-generated content may be incorrect.">
            <a:extLst>
              <a:ext uri="{FF2B5EF4-FFF2-40B4-BE49-F238E27FC236}">
                <a16:creationId xmlns:a16="http://schemas.microsoft.com/office/drawing/2014/main" id="{0E7AD2AC-E5F6-2B54-319D-C466F1C0D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22" y="430077"/>
            <a:ext cx="6059592" cy="4283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1BC983-CEB1-62FF-0600-4E0F2FD4C234}"/>
              </a:ext>
            </a:extLst>
          </p:cNvPr>
          <p:cNvSpPr/>
          <p:nvPr/>
        </p:nvSpPr>
        <p:spPr>
          <a:xfrm>
            <a:off x="5639651" y="654676"/>
            <a:ext cx="823386" cy="250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564D83-35E2-797F-515E-E52C643A3008}"/>
              </a:ext>
            </a:extLst>
          </p:cNvPr>
          <p:cNvSpPr/>
          <p:nvPr/>
        </p:nvSpPr>
        <p:spPr>
          <a:xfrm>
            <a:off x="2965836" y="1503623"/>
            <a:ext cx="222689" cy="954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9FB618B-AF6D-A3A2-0846-E722B23B7355}"/>
              </a:ext>
            </a:extLst>
          </p:cNvPr>
          <p:cNvCxnSpPr/>
          <p:nvPr/>
        </p:nvCxnSpPr>
        <p:spPr>
          <a:xfrm flipH="1" flipV="1">
            <a:off x="4944862" y="3719743"/>
            <a:ext cx="443883" cy="2219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91E957-5F06-956E-39FE-A9EFAEA57F72}"/>
              </a:ext>
            </a:extLst>
          </p:cNvPr>
          <p:cNvSpPr txBox="1"/>
          <p:nvPr/>
        </p:nvSpPr>
        <p:spPr>
          <a:xfrm>
            <a:off x="5361498" y="3865888"/>
            <a:ext cx="1100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Ground line</a:t>
            </a:r>
            <a:endParaRPr lang="en-GB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71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D0A-9F67-9A2D-587C-2491444D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36BCA-7263-4043-546F-4FEBEBF17082}"/>
              </a:ext>
            </a:extLst>
          </p:cNvPr>
          <p:cNvSpPr txBox="1"/>
          <p:nvPr/>
        </p:nvSpPr>
        <p:spPr>
          <a:xfrm>
            <a:off x="317633" y="168441"/>
            <a:ext cx="7921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r>
              <a:rPr lang="en-US" altLang="zh-CN" sz="2800" b="1">
                <a:solidFill>
                  <a:srgbClr val="FF0000"/>
                </a:solidFill>
              </a:rPr>
              <a:t> – Auxiliary Elevation</a:t>
            </a:r>
            <a:endParaRPr lang="en-US" sz="2800" b="1"/>
          </a:p>
        </p:txBody>
      </p:sp>
      <p:pic>
        <p:nvPicPr>
          <p:cNvPr id="5" name="Picture 4" descr="A diagram of a hexagon and hexagon&#10;&#10;AI-generated content may be incorrect.">
            <a:extLst>
              <a:ext uri="{FF2B5EF4-FFF2-40B4-BE49-F238E27FC236}">
                <a16:creationId xmlns:a16="http://schemas.microsoft.com/office/drawing/2014/main" id="{FF361FA9-8E15-C994-23B1-D3D52C76A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12" y="649301"/>
            <a:ext cx="5514381" cy="3903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08059-8C49-266A-AA3F-1C8E17A949D4}"/>
              </a:ext>
            </a:extLst>
          </p:cNvPr>
          <p:cNvSpPr txBox="1"/>
          <p:nvPr/>
        </p:nvSpPr>
        <p:spPr>
          <a:xfrm>
            <a:off x="5730557" y="712854"/>
            <a:ext cx="3729411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Some Kind of Elevation: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– More Like Elevation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– Projected from Plan View (i.e. Perpendicular to Plan View)</a:t>
            </a:r>
          </a:p>
        </p:txBody>
      </p:sp>
    </p:spTree>
    <p:extLst>
      <p:ext uri="{BB962C8B-B14F-4D97-AF65-F5344CB8AC3E}">
        <p14:creationId xmlns:p14="http://schemas.microsoft.com/office/powerpoint/2010/main" val="381790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835-C99A-6EFA-6B0E-3231F240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ctangular object&#10;&#10;AI-generated content may be incorrect.">
            <a:extLst>
              <a:ext uri="{FF2B5EF4-FFF2-40B4-BE49-F238E27FC236}">
                <a16:creationId xmlns:a16="http://schemas.microsoft.com/office/drawing/2014/main" id="{1CA90B0D-4084-7E88-7898-529BA09CB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137" y="691661"/>
            <a:ext cx="5707022" cy="401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EEBE0F-7E32-D2DB-BF4E-14BC13C68920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endParaRPr lang="en-US" sz="28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562937-7CAF-96F8-BD06-BED51358BBF6}"/>
              </a:ext>
            </a:extLst>
          </p:cNvPr>
          <p:cNvSpPr/>
          <p:nvPr/>
        </p:nvSpPr>
        <p:spPr>
          <a:xfrm>
            <a:off x="3323645" y="1693628"/>
            <a:ext cx="357809" cy="954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08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D3FF-E520-1CC2-2726-736D62D3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FD592E-771A-AC69-9989-9BBAC7A27184}"/>
              </a:ext>
            </a:extLst>
          </p:cNvPr>
          <p:cNvSpPr txBox="1"/>
          <p:nvPr/>
        </p:nvSpPr>
        <p:spPr>
          <a:xfrm>
            <a:off x="317634" y="168441"/>
            <a:ext cx="7881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endParaRPr lang="en-US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CAE65-D048-542A-426C-005BD3F3D984}"/>
              </a:ext>
            </a:extLst>
          </p:cNvPr>
          <p:cNvSpPr txBox="1"/>
          <p:nvPr/>
        </p:nvSpPr>
        <p:spPr>
          <a:xfrm>
            <a:off x="790074" y="1634252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First Quadrant (Angle)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1791F-EB00-FA47-BAF1-C765EF72DEDE}"/>
              </a:ext>
            </a:extLst>
          </p:cNvPr>
          <p:cNvSpPr txBox="1"/>
          <p:nvPr/>
        </p:nvSpPr>
        <p:spPr>
          <a:xfrm>
            <a:off x="790074" y="3201977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Third Quadrant (Angle)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7CD61-FCBE-8BEC-BA45-DF14807A7183}"/>
              </a:ext>
            </a:extLst>
          </p:cNvPr>
          <p:cNvSpPr txBox="1"/>
          <p:nvPr/>
        </p:nvSpPr>
        <p:spPr>
          <a:xfrm>
            <a:off x="5788794" y="1634252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A</a:t>
            </a:r>
            <a:r>
              <a:rPr lang="en-US" altLang="zh-CN" sz="2400" b="1">
                <a:solidFill>
                  <a:srgbClr val="FF0000"/>
                </a:solidFill>
              </a:rPr>
              <a:t>uxiliary Plan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CC400-5550-1B1E-94D1-DAA8264490B7}"/>
              </a:ext>
            </a:extLst>
          </p:cNvPr>
          <p:cNvSpPr txBox="1"/>
          <p:nvPr/>
        </p:nvSpPr>
        <p:spPr>
          <a:xfrm>
            <a:off x="5788794" y="3201977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A</a:t>
            </a:r>
            <a:r>
              <a:rPr lang="en-US" altLang="zh-CN" sz="2400" b="1">
                <a:solidFill>
                  <a:srgbClr val="FF0000"/>
                </a:solidFill>
              </a:rPr>
              <a:t>uxiliary Elevation</a:t>
            </a:r>
            <a:endParaRPr lang="en-US" sz="2400" b="1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9820D8-D843-A4E1-DAB2-0AAA380EB257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040EEA-9DC5-4AF2-2049-C2896120C48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906654" y="1865085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A704E3-B687-2E64-561E-5F6D5A0662E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00B794-D15C-4F46-E425-C5B6CE1A18B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906654" y="3432810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40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F610-F94F-05B8-8B33-400A869E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cylinder and a cylinder&#10;&#10;AI-generated content may be incorrect.">
            <a:extLst>
              <a:ext uri="{FF2B5EF4-FFF2-40B4-BE49-F238E27FC236}">
                <a16:creationId xmlns:a16="http://schemas.microsoft.com/office/drawing/2014/main" id="{F5FC1B21-0F48-6CBC-4725-AA87B69A7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18" y="61301"/>
            <a:ext cx="3351749" cy="4770588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6A5F8B8-84E3-8B30-A25B-8FD4BBADEC27}"/>
              </a:ext>
            </a:extLst>
          </p:cNvPr>
          <p:cNvSpPr/>
          <p:nvPr/>
        </p:nvSpPr>
        <p:spPr>
          <a:xfrm rot="16200000">
            <a:off x="6812330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5ACB3E5-E31C-72A0-09F7-E7EA3CDD9B59}"/>
              </a:ext>
            </a:extLst>
          </p:cNvPr>
          <p:cNvSpPr/>
          <p:nvPr/>
        </p:nvSpPr>
        <p:spPr>
          <a:xfrm rot="9000000" flipV="1">
            <a:off x="6038017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95EFA29B-029B-A96A-879D-F34CB63687C7}"/>
              </a:ext>
            </a:extLst>
          </p:cNvPr>
          <p:cNvSpPr/>
          <p:nvPr/>
        </p:nvSpPr>
        <p:spPr>
          <a:xfrm rot="16200000" flipV="1">
            <a:off x="5594062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B706204-AFCE-12C1-850B-4D902F3A5436}"/>
              </a:ext>
            </a:extLst>
          </p:cNvPr>
          <p:cNvSpPr/>
          <p:nvPr/>
        </p:nvSpPr>
        <p:spPr>
          <a:xfrm rot="16200000">
            <a:off x="5526480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BEB899-AB7E-F28D-D19B-2646623B769C}"/>
              </a:ext>
            </a:extLst>
          </p:cNvPr>
          <p:cNvGrpSpPr/>
          <p:nvPr/>
        </p:nvGrpSpPr>
        <p:grpSpPr>
          <a:xfrm>
            <a:off x="5937890" y="844408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71035E3-5CCF-9CC0-9DCD-8C502704F339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6DAA58-E76B-5105-012C-63F671EA5BA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E96EEE-63DB-265F-E902-81C1108C779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54A35-D5A1-4322-E4D1-9A13F884DF12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5ED08A8-0E29-FA1D-BB5A-C4E84457D37F}"/>
              </a:ext>
            </a:extLst>
          </p:cNvPr>
          <p:cNvSpPr/>
          <p:nvPr/>
        </p:nvSpPr>
        <p:spPr>
          <a:xfrm>
            <a:off x="560678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5BC3D2-CC77-BCF8-84A9-FCCD5108F670}"/>
              </a:ext>
            </a:extLst>
          </p:cNvPr>
          <p:cNvSpPr/>
          <p:nvPr/>
        </p:nvSpPr>
        <p:spPr>
          <a:xfrm>
            <a:off x="6683962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A1F161-E642-A39A-7BDA-DDD9DC696596}"/>
              </a:ext>
            </a:extLst>
          </p:cNvPr>
          <p:cNvSpPr/>
          <p:nvPr/>
        </p:nvSpPr>
        <p:spPr>
          <a:xfrm>
            <a:off x="7761135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2DE1C2-5285-2C62-2E50-077DCC5503D4}"/>
              </a:ext>
            </a:extLst>
          </p:cNvPr>
          <p:cNvSpPr/>
          <p:nvPr/>
        </p:nvSpPr>
        <p:spPr>
          <a:xfrm>
            <a:off x="6683962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F960A-C854-F615-4320-4D943DEA73CA}"/>
              </a:ext>
            </a:extLst>
          </p:cNvPr>
          <p:cNvSpPr/>
          <p:nvPr/>
        </p:nvSpPr>
        <p:spPr>
          <a:xfrm rot="18900000">
            <a:off x="6345356" y="3299284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01DBF-5F28-1382-21EE-A5F66146BCEF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- First Angle</a:t>
            </a:r>
            <a:endParaRPr lang="en-US" altLang="zh-CN" sz="1800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- First Auxiliary Plan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DE08-2BBE-DFCA-6A83-315A69690726}"/>
              </a:ext>
            </a:extLst>
          </p:cNvPr>
          <p:cNvSpPr txBox="1"/>
          <p:nvPr/>
        </p:nvSpPr>
        <p:spPr>
          <a:xfrm>
            <a:off x="3721887" y="1372082"/>
            <a:ext cx="23255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behind</a:t>
            </a:r>
            <a:r>
              <a:rPr lang="en-US" b="1" dirty="0">
                <a:solidFill>
                  <a:srgbClr val="FF0000"/>
                </a:solidFill>
              </a:rPr>
              <a:t>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Elevation</a:t>
            </a:r>
            <a:r>
              <a:rPr lang="en-US" b="1" dirty="0">
                <a:solidFill>
                  <a:srgbClr val="FF0000"/>
                </a:solidFill>
              </a:rPr>
              <a:t>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28342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3B1-82E4-7263-9535-0DBD3635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D5D31C-A3FA-CAD2-A12C-37F2C1A4E844}"/>
              </a:ext>
            </a:extLst>
          </p:cNvPr>
          <p:cNvSpPr/>
          <p:nvPr/>
        </p:nvSpPr>
        <p:spPr>
          <a:xfrm rot="16200000">
            <a:off x="6273744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CF66835-6963-C8AD-87AD-727DDE8BD9CC}"/>
              </a:ext>
            </a:extLst>
          </p:cNvPr>
          <p:cNvSpPr/>
          <p:nvPr/>
        </p:nvSpPr>
        <p:spPr>
          <a:xfrm rot="9000000" flipV="1">
            <a:off x="5499431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174B8FF-1C52-3108-51DB-DF98834538F7}"/>
              </a:ext>
            </a:extLst>
          </p:cNvPr>
          <p:cNvSpPr/>
          <p:nvPr/>
        </p:nvSpPr>
        <p:spPr>
          <a:xfrm rot="16200000" flipV="1">
            <a:off x="5055476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2CBE314-9322-7153-1CB7-48BE82E7F995}"/>
              </a:ext>
            </a:extLst>
          </p:cNvPr>
          <p:cNvSpPr/>
          <p:nvPr/>
        </p:nvSpPr>
        <p:spPr>
          <a:xfrm rot="16200000">
            <a:off x="4987894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38D8F7-C0F7-0042-CB8D-C28310F12A55}"/>
              </a:ext>
            </a:extLst>
          </p:cNvPr>
          <p:cNvGrpSpPr/>
          <p:nvPr/>
        </p:nvGrpSpPr>
        <p:grpSpPr>
          <a:xfrm rot="14400000">
            <a:off x="5543829" y="856109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F08912-DFAE-32AF-0841-2B2FD2146A98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D04E28-5756-34B0-F475-DE6461195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3F9955-6F9E-5AF8-1D21-530657373E0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618CD7-7A0B-C527-5991-61824FB048E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7284784-E551-F147-948F-5134322A5D15}"/>
              </a:ext>
            </a:extLst>
          </p:cNvPr>
          <p:cNvSpPr/>
          <p:nvPr/>
        </p:nvSpPr>
        <p:spPr>
          <a:xfrm>
            <a:off x="5068203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4C4E59-CE4D-1A90-88A1-EE338EE654D8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7EF879-9810-F1A1-D59A-E083C694F2F0}"/>
              </a:ext>
            </a:extLst>
          </p:cNvPr>
          <p:cNvSpPr/>
          <p:nvPr/>
        </p:nvSpPr>
        <p:spPr>
          <a:xfrm>
            <a:off x="722254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4100E7-3FCA-F4CF-C2D1-A408A4B0CBBF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721BF0-A009-4633-24A7-B638732B38FC}"/>
              </a:ext>
            </a:extLst>
          </p:cNvPr>
          <p:cNvSpPr/>
          <p:nvPr/>
        </p:nvSpPr>
        <p:spPr>
          <a:xfrm rot="13500000">
            <a:off x="5941115" y="3426671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77A00-BF5C-3731-F7BB-78F773305E5B}"/>
              </a:ext>
            </a:extLst>
          </p:cNvPr>
          <p:cNvSpPr txBox="1"/>
          <p:nvPr/>
        </p:nvSpPr>
        <p:spPr>
          <a:xfrm>
            <a:off x="376706" y="34875"/>
            <a:ext cx="3021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- First Angle</a:t>
            </a:r>
            <a:endParaRPr lang="en-US" altLang="zh-CN" sz="1800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- First Auxiliary Elevation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E2D14-A3B8-8F23-AF48-6A6E49717FA4}"/>
              </a:ext>
            </a:extLst>
          </p:cNvPr>
          <p:cNvSpPr txBox="1"/>
          <p:nvPr/>
        </p:nvSpPr>
        <p:spPr>
          <a:xfrm>
            <a:off x="376706" y="1357324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behind</a:t>
            </a:r>
            <a:r>
              <a:rPr lang="en-US" b="1" dirty="0">
                <a:solidFill>
                  <a:srgbClr val="FF0000"/>
                </a:solidFill>
              </a:rPr>
              <a:t>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Plan</a:t>
            </a:r>
            <a:r>
              <a:rPr lang="en-US" b="1" dirty="0">
                <a:solidFill>
                  <a:srgbClr val="FF0000"/>
                </a:solidFill>
              </a:rPr>
              <a:t>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98026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CB4A-603E-06EB-8270-2CE2379F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C81315-85E3-CD03-1987-5F82F1A6F6D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CURVES APPROXIMATION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EDDF4-24BC-D2A9-055C-55FA08094D40}"/>
              </a:ext>
            </a:extLst>
          </p:cNvPr>
          <p:cNvSpPr txBox="1"/>
          <p:nvPr/>
        </p:nvSpPr>
        <p:spPr>
          <a:xfrm>
            <a:off x="674204" y="49871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ow many points ? Up to you</a:t>
            </a:r>
            <a:endParaRPr kumimoji="0" lang="en-SG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6BC66131-7736-4AE5-163A-2C4524466A13}"/>
              </a:ext>
            </a:extLst>
          </p:cNvPr>
          <p:cNvSpPr/>
          <p:nvPr/>
        </p:nvSpPr>
        <p:spPr>
          <a:xfrm>
            <a:off x="1313736" y="1907793"/>
            <a:ext cx="3111835" cy="3111835"/>
          </a:xfrm>
          <a:prstGeom prst="pie">
            <a:avLst>
              <a:gd name="adj1" fmla="val 10797228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15D94-4BD8-D1D0-7FBE-CE2EFCFC1B5A}"/>
              </a:ext>
            </a:extLst>
          </p:cNvPr>
          <p:cNvSpPr txBox="1"/>
          <p:nvPr/>
        </p:nvSpPr>
        <p:spPr>
          <a:xfrm>
            <a:off x="674204" y="93452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Generally: 2 pts in the middle for a quarter of a circle</a:t>
            </a:r>
            <a:endParaRPr kumimoji="0" lang="en-SG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D0D65740-AC89-062B-C0A0-0D012B2ED40B}"/>
              </a:ext>
            </a:extLst>
          </p:cNvPr>
          <p:cNvSpPr/>
          <p:nvPr/>
        </p:nvSpPr>
        <p:spPr>
          <a:xfrm>
            <a:off x="2685337" y="174262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20616771-64EE-66F9-DD39-F198FDEF96A3}"/>
              </a:ext>
            </a:extLst>
          </p:cNvPr>
          <p:cNvSpPr/>
          <p:nvPr/>
        </p:nvSpPr>
        <p:spPr>
          <a:xfrm>
            <a:off x="1148569" y="329854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F4E39156-4C15-1020-A7E0-6DAF192B121D}"/>
              </a:ext>
            </a:extLst>
          </p:cNvPr>
          <p:cNvSpPr/>
          <p:nvPr/>
        </p:nvSpPr>
        <p:spPr>
          <a:xfrm>
            <a:off x="2185811" y="1830130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4240C1DE-829C-7C3A-486F-A3B39C6F40F0}"/>
              </a:ext>
            </a:extLst>
          </p:cNvPr>
          <p:cNvSpPr/>
          <p:nvPr/>
        </p:nvSpPr>
        <p:spPr>
          <a:xfrm>
            <a:off x="1675688" y="215292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C11F83-DB0C-738A-EA3E-C91D979E0F01}"/>
              </a:ext>
            </a:extLst>
          </p:cNvPr>
          <p:cNvCxnSpPr>
            <a:cxnSpLocks/>
          </p:cNvCxnSpPr>
          <p:nvPr/>
        </p:nvCxnSpPr>
        <p:spPr>
          <a:xfrm>
            <a:off x="2864863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CBD141-83DD-1296-1FE8-60B13CBD9A2B}"/>
              </a:ext>
            </a:extLst>
          </p:cNvPr>
          <p:cNvCxnSpPr>
            <a:cxnSpLocks/>
          </p:cNvCxnSpPr>
          <p:nvPr/>
        </p:nvCxnSpPr>
        <p:spPr>
          <a:xfrm>
            <a:off x="2348351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CD2159-AAB7-297D-6DFC-DAE900DD0591}"/>
              </a:ext>
            </a:extLst>
          </p:cNvPr>
          <p:cNvCxnSpPr>
            <a:cxnSpLocks/>
          </p:cNvCxnSpPr>
          <p:nvPr/>
        </p:nvCxnSpPr>
        <p:spPr>
          <a:xfrm>
            <a:off x="1831839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47754E-C98B-3DF8-479B-E33BE6F63051}"/>
              </a:ext>
            </a:extLst>
          </p:cNvPr>
          <p:cNvCxnSpPr>
            <a:cxnSpLocks/>
          </p:cNvCxnSpPr>
          <p:nvPr/>
        </p:nvCxnSpPr>
        <p:spPr>
          <a:xfrm>
            <a:off x="1315327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rtial Circle 23">
            <a:extLst>
              <a:ext uri="{FF2B5EF4-FFF2-40B4-BE49-F238E27FC236}">
                <a16:creationId xmlns:a16="http://schemas.microsoft.com/office/drawing/2014/main" id="{587A3A93-9D1E-72E5-F096-A272DC32FAC0}"/>
              </a:ext>
            </a:extLst>
          </p:cNvPr>
          <p:cNvSpPr/>
          <p:nvPr/>
        </p:nvSpPr>
        <p:spPr>
          <a:xfrm>
            <a:off x="4942082" y="1895026"/>
            <a:ext cx="3111835" cy="3111835"/>
          </a:xfrm>
          <a:prstGeom prst="pie">
            <a:avLst>
              <a:gd name="adj1" fmla="val 14370614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1B6434-D151-B81A-5411-5753BFA71A94}"/>
              </a:ext>
            </a:extLst>
          </p:cNvPr>
          <p:cNvSpPr/>
          <p:nvPr/>
        </p:nvSpPr>
        <p:spPr>
          <a:xfrm>
            <a:off x="6313683" y="1729859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Partial Circle 32">
            <a:extLst>
              <a:ext uri="{FF2B5EF4-FFF2-40B4-BE49-F238E27FC236}">
                <a16:creationId xmlns:a16="http://schemas.microsoft.com/office/drawing/2014/main" id="{A5CD09C7-F73D-3683-4508-D2F1D8DCBDEA}"/>
              </a:ext>
            </a:extLst>
          </p:cNvPr>
          <p:cNvSpPr/>
          <p:nvPr/>
        </p:nvSpPr>
        <p:spPr>
          <a:xfrm>
            <a:off x="4942082" y="1895024"/>
            <a:ext cx="3111835" cy="3111835"/>
          </a:xfrm>
          <a:prstGeom prst="pie">
            <a:avLst>
              <a:gd name="adj1" fmla="val 10779264"/>
              <a:gd name="adj2" fmla="val 123980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6FB94E0B-B518-3C58-4CAE-0CF1A6258833}"/>
              </a:ext>
            </a:extLst>
          </p:cNvPr>
          <p:cNvSpPr/>
          <p:nvPr/>
        </p:nvSpPr>
        <p:spPr>
          <a:xfrm>
            <a:off x="4942082" y="1895022"/>
            <a:ext cx="3111835" cy="3111835"/>
          </a:xfrm>
          <a:prstGeom prst="pie">
            <a:avLst>
              <a:gd name="adj1" fmla="val 12408755"/>
              <a:gd name="adj2" fmla="val 143677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60D9D109-E937-F5EF-921C-936C8CA8C7D9}"/>
              </a:ext>
            </a:extLst>
          </p:cNvPr>
          <p:cNvSpPr/>
          <p:nvPr/>
        </p:nvSpPr>
        <p:spPr>
          <a:xfrm>
            <a:off x="4942082" y="256021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C95311F9-8BE7-4593-70BC-BAC63E55816B}"/>
              </a:ext>
            </a:extLst>
          </p:cNvPr>
          <p:cNvSpPr/>
          <p:nvPr/>
        </p:nvSpPr>
        <p:spPr>
          <a:xfrm>
            <a:off x="4776915" y="328577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93CA6CFD-922C-8658-E149-5F5123D64923}"/>
              </a:ext>
            </a:extLst>
          </p:cNvPr>
          <p:cNvSpPr/>
          <p:nvPr/>
        </p:nvSpPr>
        <p:spPr>
          <a:xfrm>
            <a:off x="5559928" y="191018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B6B6D-EA7C-2400-31AE-783551F5B223}"/>
              </a:ext>
            </a:extLst>
          </p:cNvPr>
          <p:cNvSpPr txBox="1"/>
          <p:nvPr/>
        </p:nvSpPr>
        <p:spPr>
          <a:xfrm>
            <a:off x="5436610" y="3094377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31C53-E8B3-9228-9C3D-C5B5BC8D5C50}"/>
              </a:ext>
            </a:extLst>
          </p:cNvPr>
          <p:cNvSpPr txBox="1"/>
          <p:nvPr/>
        </p:nvSpPr>
        <p:spPr>
          <a:xfrm>
            <a:off x="5593111" y="2660936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AC61E-C6B0-EA68-1A01-B53584D63666}"/>
              </a:ext>
            </a:extLst>
          </p:cNvPr>
          <p:cNvSpPr txBox="1"/>
          <p:nvPr/>
        </p:nvSpPr>
        <p:spPr>
          <a:xfrm>
            <a:off x="6053705" y="2387084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E8D73-C48E-7413-DACE-C731E65E6D78}"/>
              </a:ext>
            </a:extLst>
          </p:cNvPr>
          <p:cNvSpPr txBox="1"/>
          <p:nvPr/>
        </p:nvSpPr>
        <p:spPr>
          <a:xfrm>
            <a:off x="1320246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FF2BE-A0DB-83E1-50B4-A6B90B1390BB}"/>
              </a:ext>
            </a:extLst>
          </p:cNvPr>
          <p:cNvSpPr txBox="1"/>
          <p:nvPr/>
        </p:nvSpPr>
        <p:spPr>
          <a:xfrm>
            <a:off x="1870212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B742E-20F8-F9F1-D0D8-19F8B87200F1}"/>
              </a:ext>
            </a:extLst>
          </p:cNvPr>
          <p:cNvSpPr txBox="1"/>
          <p:nvPr/>
        </p:nvSpPr>
        <p:spPr>
          <a:xfrm>
            <a:off x="2395390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70AF2-B36F-021D-AEE9-1679FF17A9ED}"/>
              </a:ext>
            </a:extLst>
          </p:cNvPr>
          <p:cNvSpPr txBox="1"/>
          <p:nvPr/>
        </p:nvSpPr>
        <p:spPr>
          <a:xfrm>
            <a:off x="1893238" y="1254302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8DB25D-CE02-2173-06E1-EEE0A0B3E29A}"/>
              </a:ext>
            </a:extLst>
          </p:cNvPr>
          <p:cNvCxnSpPr>
            <a:cxnSpLocks/>
          </p:cNvCxnSpPr>
          <p:nvPr/>
        </p:nvCxnSpPr>
        <p:spPr>
          <a:xfrm flipV="1">
            <a:off x="1316919" y="1686428"/>
            <a:ext cx="1533584" cy="7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575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90B1-44C1-1776-DA97-1F2D9790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8D064-E38F-2350-C034-784EE921A6F2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FURTHEST POINTS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D82855-0258-8D86-1B62-EE2111BF72C5}"/>
              </a:ext>
            </a:extLst>
          </p:cNvPr>
          <p:cNvSpPr/>
          <p:nvPr/>
        </p:nvSpPr>
        <p:spPr>
          <a:xfrm>
            <a:off x="1627726" y="1245631"/>
            <a:ext cx="2336268" cy="233626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F3A830-CF9C-F1E1-AD35-3EC24C6EBAFF}"/>
              </a:ext>
            </a:extLst>
          </p:cNvPr>
          <p:cNvCxnSpPr>
            <a:cxnSpLocks/>
          </p:cNvCxnSpPr>
          <p:nvPr/>
        </p:nvCxnSpPr>
        <p:spPr>
          <a:xfrm flipV="1">
            <a:off x="311183" y="3143399"/>
            <a:ext cx="1077173" cy="49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AAF58C-36BE-04EE-3B04-13A38B235936}"/>
              </a:ext>
            </a:extLst>
          </p:cNvPr>
          <p:cNvCxnSpPr>
            <a:cxnSpLocks/>
          </p:cNvCxnSpPr>
          <p:nvPr/>
        </p:nvCxnSpPr>
        <p:spPr>
          <a:xfrm flipV="1">
            <a:off x="560130" y="509948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79DF2A-B103-921B-4BDE-E16FDDE1E455}"/>
              </a:ext>
            </a:extLst>
          </p:cNvPr>
          <p:cNvCxnSpPr>
            <a:cxnSpLocks/>
          </p:cNvCxnSpPr>
          <p:nvPr/>
        </p:nvCxnSpPr>
        <p:spPr>
          <a:xfrm flipV="1">
            <a:off x="1627726" y="2629983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E4948D-1DB3-2E86-66F7-DA40CC47DCEE}"/>
              </a:ext>
            </a:extLst>
          </p:cNvPr>
          <p:cNvCxnSpPr/>
          <p:nvPr/>
        </p:nvCxnSpPr>
        <p:spPr>
          <a:xfrm flipH="1" flipV="1">
            <a:off x="1838373" y="509948"/>
            <a:ext cx="1914974" cy="38178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69DD0173-AE5E-07DC-B873-6B1B7EBA1A4A}"/>
              </a:ext>
            </a:extLst>
          </p:cNvPr>
          <p:cNvSpPr/>
          <p:nvPr/>
        </p:nvSpPr>
        <p:spPr>
          <a:xfrm>
            <a:off x="2630693" y="2248598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659FCF-F2CE-1403-81B0-90F91A78EF76}"/>
              </a:ext>
            </a:extLst>
          </p:cNvPr>
          <p:cNvSpPr/>
          <p:nvPr/>
        </p:nvSpPr>
        <p:spPr>
          <a:xfrm>
            <a:off x="2133597" y="1219504"/>
            <a:ext cx="278369" cy="27836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360541-FC93-2364-BB51-48E5C9435504}"/>
              </a:ext>
            </a:extLst>
          </p:cNvPr>
          <p:cNvSpPr/>
          <p:nvPr/>
        </p:nvSpPr>
        <p:spPr>
          <a:xfrm>
            <a:off x="3174275" y="3313926"/>
            <a:ext cx="278369" cy="27836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5D8610-1BAA-D542-A6AB-18C7A72BD585}"/>
              </a:ext>
            </a:extLst>
          </p:cNvPr>
          <p:cNvCxnSpPr>
            <a:cxnSpLocks/>
          </p:cNvCxnSpPr>
          <p:nvPr/>
        </p:nvCxnSpPr>
        <p:spPr>
          <a:xfrm flipV="1">
            <a:off x="2990394" y="1435100"/>
            <a:ext cx="2110064" cy="1392204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AC9D70-0CF4-DA4F-18DB-EB2ABC3D90D0}"/>
              </a:ext>
            </a:extLst>
          </p:cNvPr>
          <p:cNvSpPr txBox="1"/>
          <p:nvPr/>
        </p:nvSpPr>
        <p:spPr>
          <a:xfrm>
            <a:off x="5129826" y="834935"/>
            <a:ext cx="3483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Generally: draw a line to connect  furthest points (visible – solid; invisible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dashed).</a:t>
            </a:r>
          </a:p>
        </p:txBody>
      </p:sp>
    </p:spTree>
    <p:extLst>
      <p:ext uri="{BB962C8B-B14F-4D97-AF65-F5344CB8AC3E}">
        <p14:creationId xmlns:p14="http://schemas.microsoft.com/office/powerpoint/2010/main" val="169638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4ADF-B124-0EFE-0834-2667007A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A34E1-766F-CAD8-2A2B-C5FDE63BA2B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EDGE OF COLUMNS</a:t>
            </a:r>
            <a:endParaRPr lang="en-SG" sz="16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68282" y="976430"/>
              <a:ext cx="2263584" cy="345873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263584" cy="3458734"/>
                    </a:xfrm>
                    <a:prstGeom prst="rect">
                      <a:avLst/>
                    </a:prstGeom>
                  </am3d:spPr>
                  <am3d:camera>
                    <am3d:pos x="0" y="0" z="627828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59681" d="1000000"/>
                    <am3d:preTrans dx="22" dy="-18000000" dz="6"/>
                    <am3d:scale>
                      <am3d:sx n="1000000" d="1000000"/>
                      <am3d:sy n="1000000" d="1000000"/>
                      <am3d:sz n="1000000" d="1000000"/>
                    </am3d:scale>
                    <am3d:rot ax="2938419" ay="-73858" az="-8486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9565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282" y="976430"/>
                <a:ext cx="2263584" cy="345873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B7D0895-A145-F1F5-0BE9-5B79ADF6C33A}"/>
              </a:ext>
            </a:extLst>
          </p:cNvPr>
          <p:cNvSpPr/>
          <p:nvPr/>
        </p:nvSpPr>
        <p:spPr>
          <a:xfrm>
            <a:off x="5332404" y="1120260"/>
            <a:ext cx="1398729" cy="30639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BB03F-4DAE-1E43-09C9-A2134B8268E0}"/>
              </a:ext>
            </a:extLst>
          </p:cNvPr>
          <p:cNvSpPr/>
          <p:nvPr/>
        </p:nvSpPr>
        <p:spPr>
          <a:xfrm>
            <a:off x="4931058" y="1120260"/>
            <a:ext cx="2263584" cy="306395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50FD2-B05E-48FA-F892-DE41438FADDA}"/>
              </a:ext>
            </a:extLst>
          </p:cNvPr>
          <p:cNvSpPr txBox="1"/>
          <p:nvPr/>
        </p:nvSpPr>
        <p:spPr>
          <a:xfrm>
            <a:off x="5512201" y="89790"/>
            <a:ext cx="3483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Generally: draw a line to connect  furthest points (visible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solid; invisible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dashed).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D3F19F3-28F9-748E-DBBE-C9A6117C9C74}"/>
              </a:ext>
            </a:extLst>
          </p:cNvPr>
          <p:cNvGrpSpPr/>
          <p:nvPr/>
        </p:nvGrpSpPr>
        <p:grpSpPr>
          <a:xfrm>
            <a:off x="2636215" y="2583032"/>
            <a:ext cx="2495516" cy="936714"/>
            <a:chOff x="2543533" y="2927350"/>
            <a:chExt cx="2495516" cy="93671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407DF26-A9BE-1A8D-F43D-3F811F5A04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752" y="3168650"/>
              <a:ext cx="1345798" cy="2998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65E73B-B4BB-30F6-6BC7-518814BF7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3533" y="2927350"/>
              <a:ext cx="196625" cy="8636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D80F89B-9BA2-5100-933D-D342BD11C5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0109" y="3187700"/>
              <a:ext cx="21352" cy="12700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378AAC8-A36C-637D-3649-D124C639BA1E}"/>
                </a:ext>
              </a:extLst>
            </p:cNvPr>
            <p:cNvCxnSpPr>
              <a:cxnSpLocks/>
            </p:cNvCxnSpPr>
            <p:nvPr/>
          </p:nvCxnSpPr>
          <p:spPr>
            <a:xfrm>
              <a:off x="2673752" y="3302000"/>
              <a:ext cx="116357" cy="2540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5EDEC1-0E9C-7AAB-346D-E4D3A4575284}"/>
                </a:ext>
              </a:extLst>
            </p:cNvPr>
            <p:cNvSpPr txBox="1"/>
            <p:nvPr/>
          </p:nvSpPr>
          <p:spPr>
            <a:xfrm>
              <a:off x="2641532" y="3283866"/>
              <a:ext cx="723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rgbClr val="4F81BD"/>
                  </a:solidFill>
                </a:rPr>
                <a:t>90</a:t>
              </a:r>
              <a:r>
                <a:rPr lang="en-US" altLang="zh-CN">
                  <a:solidFill>
                    <a:srgbClr val="4F81BD"/>
                  </a:solidFill>
                </a:rPr>
                <a:t>°</a:t>
              </a:r>
              <a:endParaRPr lang="en-GB">
                <a:solidFill>
                  <a:srgbClr val="4F81BD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450856-4DCA-CCD4-7E51-5CFE54C76F85}"/>
                </a:ext>
              </a:extLst>
            </p:cNvPr>
            <p:cNvSpPr txBox="1"/>
            <p:nvPr/>
          </p:nvSpPr>
          <p:spPr>
            <a:xfrm>
              <a:off x="3365432" y="3494732"/>
              <a:ext cx="1673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4F81BD"/>
                  </a:solidFill>
                </a:rPr>
                <a:t>View direction</a:t>
              </a:r>
              <a:endParaRPr lang="en-GB">
                <a:solidFill>
                  <a:srgbClr val="4F81BD"/>
                </a:solidFill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1981CBD8-0D58-42FE-5A5E-8970AC8378A6}"/>
              </a:ext>
            </a:extLst>
          </p:cNvPr>
          <p:cNvSpPr/>
          <p:nvPr/>
        </p:nvSpPr>
        <p:spPr>
          <a:xfrm>
            <a:off x="1114274" y="1206500"/>
            <a:ext cx="1371600" cy="8255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6B2F08-DF9E-45D5-ADC0-B780BBBD2850}"/>
              </a:ext>
            </a:extLst>
          </p:cNvPr>
          <p:cNvSpPr txBox="1"/>
          <p:nvPr/>
        </p:nvSpPr>
        <p:spPr>
          <a:xfrm>
            <a:off x="3216033" y="620262"/>
            <a:ext cx="167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Inner surface</a:t>
            </a:r>
            <a:endParaRPr lang="en-GB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7EE38E5-BB07-BFA8-588B-74449C4E5CA7}"/>
              </a:ext>
            </a:extLst>
          </p:cNvPr>
          <p:cNvCxnSpPr>
            <a:cxnSpLocks/>
          </p:cNvCxnSpPr>
          <p:nvPr/>
        </p:nvCxnSpPr>
        <p:spPr>
          <a:xfrm flipV="1">
            <a:off x="2487355" y="925578"/>
            <a:ext cx="782895" cy="6298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11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AC96-4092-04D2-CAC0-1A6886B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03435" y="826568"/>
              <a:ext cx="3886955" cy="231264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886955" cy="2312649"/>
                    </a:xfrm>
                    <a:prstGeom prst="rect">
                      <a:avLst/>
                    </a:prstGeom>
                  </am3d:spPr>
                  <am3d:camera>
                    <am3d:pos x="0" y="0" z="576644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61393" d="1000000"/>
                    <am3d:preTrans dx="0" dy="-649360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53566" ay="-1874177" az="-23620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0639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435" y="826568"/>
                <a:ext cx="3886955" cy="231264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205F48E-ACDB-F8DF-E388-225FB1A4C0E8}"/>
              </a:ext>
            </a:extLst>
          </p:cNvPr>
          <p:cNvSpPr/>
          <p:nvPr/>
        </p:nvSpPr>
        <p:spPr>
          <a:xfrm>
            <a:off x="511856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FC292-D588-ACA1-D17A-1E0DAE1199EF}"/>
              </a:ext>
            </a:extLst>
          </p:cNvPr>
          <p:cNvSpPr/>
          <p:nvPr/>
        </p:nvSpPr>
        <p:spPr>
          <a:xfrm>
            <a:off x="603695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054F42-76EE-C78D-1AE8-495634FB2CB8}"/>
              </a:ext>
            </a:extLst>
          </p:cNvPr>
          <p:cNvCxnSpPr/>
          <p:nvPr/>
        </p:nvCxnSpPr>
        <p:spPr>
          <a:xfrm>
            <a:off x="6473409" y="1090636"/>
            <a:ext cx="0" cy="971849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35C9B04-94BA-3D8A-EC8F-6A0507DE0D85}"/>
              </a:ext>
            </a:extLst>
          </p:cNvPr>
          <p:cNvSpPr/>
          <p:nvPr/>
        </p:nvSpPr>
        <p:spPr>
          <a:xfrm>
            <a:off x="5156865" y="2571750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9BB53-0CBD-92AA-0E0F-3B1DD28ABFD8}"/>
              </a:ext>
            </a:extLst>
          </p:cNvPr>
          <p:cNvSpPr/>
          <p:nvPr/>
        </p:nvSpPr>
        <p:spPr>
          <a:xfrm>
            <a:off x="6272337" y="2571750"/>
            <a:ext cx="1069193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49879-EDFB-BC08-5C98-6D3E382960B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HIDDEN LINES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C60C9-D239-51F0-B1E7-52E4964F91F8}"/>
              </a:ext>
            </a:extLst>
          </p:cNvPr>
          <p:cNvSpPr txBox="1"/>
          <p:nvPr/>
        </p:nvSpPr>
        <p:spPr>
          <a:xfrm>
            <a:off x="504509" y="3646919"/>
            <a:ext cx="849922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When a hidden line coincide with a solid line, only keep the SOLID line.</a:t>
            </a:r>
          </a:p>
        </p:txBody>
      </p:sp>
    </p:spTree>
    <p:extLst>
      <p:ext uri="{BB962C8B-B14F-4D97-AF65-F5344CB8AC3E}">
        <p14:creationId xmlns:p14="http://schemas.microsoft.com/office/powerpoint/2010/main" val="210246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A145-50D0-DAF2-D72C-EDFBA64C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E01C3C-149B-12FF-25D2-174AEAF9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1947211"/>
            <a:ext cx="5842000" cy="28406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92616-971D-3119-F77D-009CA075F04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6B0F-D259-4366-2CA3-2F6575998E92}"/>
              </a:ext>
            </a:extLst>
          </p:cNvPr>
          <p:cNvSpPr txBox="1"/>
          <p:nvPr/>
        </p:nvSpPr>
        <p:spPr>
          <a:xfrm>
            <a:off x="148385" y="517589"/>
            <a:ext cx="8383463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Visible lines/curves, use solid lines/curves;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lines/curves, use dashed lines/curves.</a:t>
            </a:r>
          </a:p>
          <a:p>
            <a:pPr lvl="0">
              <a:lnSpc>
                <a:spcPct val="150000"/>
              </a:lnSpc>
            </a:pPr>
            <a:r>
              <a:rPr lang="en-US" sz="2000" b="1"/>
              <a:t>‘Layer Properties’ &gt; ‘</a:t>
            </a:r>
            <a:r>
              <a:rPr lang="en-US" sz="2000" b="1" err="1"/>
              <a:t>Linetype</a:t>
            </a:r>
            <a:r>
              <a:rPr lang="en-US" sz="2000" b="1"/>
              <a:t>’ to change solid/dashed lines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CE6E49-D3AE-E638-F4FA-5AD9678A6F28}"/>
              </a:ext>
            </a:extLst>
          </p:cNvPr>
          <p:cNvSpPr/>
          <p:nvPr/>
        </p:nvSpPr>
        <p:spPr>
          <a:xfrm>
            <a:off x="2594610" y="2051100"/>
            <a:ext cx="304800" cy="411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29DB78-B44C-6E86-A89A-FC332381FBEE}"/>
              </a:ext>
            </a:extLst>
          </p:cNvPr>
          <p:cNvSpPr/>
          <p:nvPr/>
        </p:nvSpPr>
        <p:spPr>
          <a:xfrm>
            <a:off x="2830830" y="2778760"/>
            <a:ext cx="320040" cy="597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24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60EC8-46A6-A6BE-03D2-314A27315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F1DCED-7ADF-640E-B021-D2D8ECFF9DDB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BREAK AT A POINT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07647-8D81-F887-6CC1-E29DF6BA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00" y="1221124"/>
            <a:ext cx="7142741" cy="28174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FCA6C2-FA37-68DC-26DF-EC63D7420C89}"/>
              </a:ext>
            </a:extLst>
          </p:cNvPr>
          <p:cNvCxnSpPr>
            <a:cxnSpLocks/>
          </p:cNvCxnSpPr>
          <p:nvPr/>
        </p:nvCxnSpPr>
        <p:spPr>
          <a:xfrm>
            <a:off x="2622550" y="1044758"/>
            <a:ext cx="707759" cy="2041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EDDAEF-1D9F-33C9-67AA-616A6317CF73}"/>
              </a:ext>
            </a:extLst>
          </p:cNvPr>
          <p:cNvSpPr txBox="1"/>
          <p:nvPr/>
        </p:nvSpPr>
        <p:spPr>
          <a:xfrm>
            <a:off x="148385" y="514183"/>
            <a:ext cx="7494402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‘Modify’ &gt; ‘Break at a point’: break the line into 2 parts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B205C7-8407-A412-1DBC-878877AA367D}"/>
              </a:ext>
            </a:extLst>
          </p:cNvPr>
          <p:cNvSpPr/>
          <p:nvPr/>
        </p:nvSpPr>
        <p:spPr>
          <a:xfrm>
            <a:off x="3187700" y="3086100"/>
            <a:ext cx="304800" cy="219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68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EC20-F50F-3816-546D-274770E4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2D702-93DA-FC5F-A41D-7EC1493D817F}"/>
              </a:ext>
            </a:extLst>
          </p:cNvPr>
          <p:cNvSpPr txBox="1"/>
          <p:nvPr/>
        </p:nvSpPr>
        <p:spPr>
          <a:xfrm>
            <a:off x="148384" y="89790"/>
            <a:ext cx="8889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 &amp; BREAK AT A POINT – EXAMPLE - Video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Screen Recording 2026-07-24 151329">
            <a:hlinkClick r:id="" action="ppaction://media"/>
            <a:extLst>
              <a:ext uri="{FF2B5EF4-FFF2-40B4-BE49-F238E27FC236}">
                <a16:creationId xmlns:a16="http://schemas.microsoft.com/office/drawing/2014/main" id="{2414F416-F63E-04A0-6365-EAEA63BA5A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4950" y="489900"/>
            <a:ext cx="8166100" cy="412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0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3B55-20AB-7097-8C95-C5BE9419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4EB539-52AB-B5FF-B6E5-E8BFCABE0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FBCE3-F323-63C5-3C75-A635AF027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E94A0A-9EE8-73FD-6C2B-A49890A7BB5B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E0FABD-FA60-012E-779A-48C4FF2AA917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D3ACCA7-6E88-5799-9F91-CB1B8509540A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4C27B9-BCE7-A12D-BEF3-7F07E39AE960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94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64D3FE7-A0C8-4453-A806-BCAD6F53B901}">
  <ds:schemaRefs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543</Words>
  <Application>Microsoft Office PowerPoint</Application>
  <PresentationFormat>On-screen Show (16:9)</PresentationFormat>
  <Paragraphs>97</Paragraphs>
  <Slides>21</Slides>
  <Notes>21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#HUANG XINYA#</cp:lastModifiedBy>
  <cp:revision>5</cp:revision>
  <dcterms:created xsi:type="dcterms:W3CDTF">2017-05-14T01:29:56Z</dcterms:created>
  <dcterms:modified xsi:type="dcterms:W3CDTF">2026-09-08T07:57:16Z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