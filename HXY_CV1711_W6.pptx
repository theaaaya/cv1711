
<file path=[Content_Types].xml><?xml version="1.0" encoding="utf-8"?>
<Types xmlns="http://schemas.openxmlformats.org/package/2006/content-types">
  <Default Extension="glb" ContentType="model/gltf.binary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36" r:id="rId5"/>
    <p:sldId id="334" r:id="rId6"/>
    <p:sldId id="352" r:id="rId7"/>
    <p:sldId id="351" r:id="rId8"/>
    <p:sldId id="350" r:id="rId9"/>
    <p:sldId id="311" r:id="rId10"/>
    <p:sldId id="310" r:id="rId11"/>
    <p:sldId id="306" r:id="rId12"/>
    <p:sldId id="343" r:id="rId13"/>
    <p:sldId id="344" r:id="rId14"/>
    <p:sldId id="345" r:id="rId15"/>
    <p:sldId id="353" r:id="rId16"/>
    <p:sldId id="354" r:id="rId17"/>
    <p:sldId id="355" r:id="rId18"/>
    <p:sldId id="339" r:id="rId19"/>
    <p:sldId id="341" r:id="rId20"/>
    <p:sldId id="342" r:id="rId21"/>
    <p:sldId id="349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FF00"/>
    <a:srgbClr val="DCE6F2"/>
    <a:srgbClr val="AED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92" autoAdjust="0"/>
  </p:normalViewPr>
  <p:slideViewPr>
    <p:cSldViewPr snapToGrid="0">
      <p:cViewPr varScale="1">
        <p:scale>
          <a:sx n="108" d="100"/>
          <a:sy n="108" d="100"/>
        </p:scale>
        <p:origin x="170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HUANG XINYA#" userId="0394e048-be67-4ff5-b348-88acdc9df0d1" providerId="ADAL" clId="{02486B59-77C2-44D9-86E4-77A6D6D6742A}"/>
    <pc:docChg chg="undo redo custSel addSld delSld modSld sldOrd">
      <pc:chgData name="#HUANG XINYA#" userId="0394e048-be67-4ff5-b348-88acdc9df0d1" providerId="ADAL" clId="{02486B59-77C2-44D9-86E4-77A6D6D6742A}" dt="2026-08-28T01:46:01.543" v="16248" actId="47"/>
      <pc:docMkLst>
        <pc:docMk/>
      </pc:docMkLst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897986182" sldId="259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946053145" sldId="262"/>
        </pc:sldMkLst>
      </pc:sldChg>
      <pc:sldChg chg="modSp del mod or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741047462" sldId="266"/>
        </pc:sldMkLst>
      </pc:sldChg>
      <pc:sldChg chg="addSp delSp del mod">
        <pc:chgData name="#HUANG XINYA#" userId="0394e048-be67-4ff5-b348-88acdc9df0d1" providerId="ADAL" clId="{02486B59-77C2-44D9-86E4-77A6D6D6742A}" dt="2026-08-28T01:46:01.543" v="16248" actId="47"/>
        <pc:sldMkLst>
          <pc:docMk/>
          <pc:sldMk cId="1444261047" sldId="268"/>
        </pc:sldMkLst>
      </pc:sldChg>
      <pc:sldChg chg="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817903410" sldId="269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307439785" sldId="270"/>
        </pc:sldMkLst>
      </pc:sldChg>
      <pc:sldChg chg="addSp 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4100255535" sldId="271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247883481" sldId="272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856787668" sldId="275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401384901" sldId="276"/>
        </pc:sldMkLst>
      </pc:sldChg>
      <pc:sldChg chg="addSp modSp del mod modAnim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148859768" sldId="277"/>
        </pc:sldMkLst>
      </pc:sldChg>
      <pc:sldChg chg="addSp delSp modSp del mod ord modAnim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732387768" sldId="278"/>
        </pc:sldMkLst>
      </pc:sldChg>
      <pc:sldChg chg="addSp modSp del mod modAnim">
        <pc:chgData name="#HUANG XINYA#" userId="0394e048-be67-4ff5-b348-88acdc9df0d1" providerId="ADAL" clId="{02486B59-77C2-44D9-86E4-77A6D6D6742A}" dt="2026-08-28T01:46:01.543" v="16248" actId="47"/>
        <pc:sldMkLst>
          <pc:docMk/>
          <pc:sldMk cId="940724167" sldId="279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606987900" sldId="282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4266317831" sldId="283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400981342" sldId="284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734273537" sldId="285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693852826" sldId="286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021957308" sldId="287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645861750" sldId="288"/>
        </pc:sldMkLst>
      </pc:sldChg>
      <pc:sldChg chg="addSp 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679089101" sldId="290"/>
        </pc:sldMkLst>
      </pc:sldChg>
      <pc:sldChg chg="addSp 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576713322" sldId="291"/>
        </pc:sldMkLst>
      </pc:sldChg>
      <pc:sldChg chg="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283426111" sldId="292"/>
        </pc:sldMkLst>
      </pc:sldChg>
      <pc:sldChg chg="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43491516" sldId="293"/>
        </pc:sldMkLst>
      </pc:sldChg>
      <pc:sldChg chg="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980262105" sldId="294"/>
        </pc:sldMkLst>
      </pc:sldChg>
      <pc:sldChg chg="addSp 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582355745" sldId="295"/>
        </pc:sldMkLst>
      </pc:sldChg>
      <pc:sldChg chg="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602438779" sldId="296"/>
        </pc:sldMkLst>
      </pc:sldChg>
      <pc:sldChg chg="addSp delSp modSp del mod ord modAnim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73653382" sldId="297"/>
        </pc:sldMkLst>
      </pc:sldChg>
      <pc:sldChg chg="del or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856398079" sldId="298"/>
        </pc:sldMkLst>
      </pc:sldChg>
      <pc:sldChg chg="modSp del mod">
        <pc:chgData name="#HUANG XINYA#" userId="0394e048-be67-4ff5-b348-88acdc9df0d1" providerId="ADAL" clId="{02486B59-77C2-44D9-86E4-77A6D6D6742A}" dt="2026-08-28T01:46:01.543" v="16248" actId="47"/>
        <pc:sldMkLst>
          <pc:docMk/>
          <pc:sldMk cId="3704679447" sldId="299"/>
        </pc:sldMkLst>
      </pc:sldChg>
      <pc:sldChg chg="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779232994" sldId="300"/>
        </pc:sldMkLst>
      </pc:sldChg>
      <pc:sldChg chg="del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06254916" sldId="301"/>
        </pc:sldMkLst>
      </pc:sldChg>
      <pc:sldChg chg="modSp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2977683853" sldId="302"/>
        </pc:sldMkLst>
      </pc:sldChg>
      <pc:sldChg chg="addSp modSp del mod modAnim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525409591" sldId="303"/>
        </pc:sldMkLst>
      </pc:sldChg>
      <pc:sldChg chg="modSp add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843396615" sldId="333"/>
        </pc:sldMkLst>
      </pc:sldChg>
      <pc:sldChg chg="modSp add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962184743" sldId="334"/>
        </pc:sldMkLst>
      </pc:sldChg>
      <pc:sldChg chg="addSp delSp modSp add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517604735" sldId="335"/>
        </pc:sldMkLst>
      </pc:sldChg>
      <pc:sldChg chg="addSp delSp modSp add del mod or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3890169643" sldId="336"/>
        </pc:sldMkLst>
      </pc:sldChg>
      <pc:sldChg chg="delSp modSp add del mod modNotesTx">
        <pc:chgData name="#HUANG XINYA#" userId="0394e048-be67-4ff5-b348-88acdc9df0d1" providerId="ADAL" clId="{02486B59-77C2-44D9-86E4-77A6D6D6742A}" dt="2026-08-28T01:46:01.543" v="16248" actId="47"/>
        <pc:sldMkLst>
          <pc:docMk/>
          <pc:sldMk cId="1712540678" sldId="337"/>
        </pc:sldMkLst>
      </pc:sldChg>
      <pc:sldChg chg="addSp delSp modSp add mod delAnim modAnim modNotesTx">
        <pc:chgData name="#HUANG XINYA#" userId="0394e048-be67-4ff5-b348-88acdc9df0d1" providerId="ADAL" clId="{02486B59-77C2-44D9-86E4-77A6D6D6742A}" dt="2026-08-08T06:31:31.739" v="16216"/>
        <pc:sldMkLst>
          <pc:docMk/>
          <pc:sldMk cId="1279301954" sldId="345"/>
        </pc:sldMkLst>
      </pc:sldChg>
      <pc:sldChg chg="delSp modSp add del mod">
        <pc:chgData name="#HUANG XINYA#" userId="0394e048-be67-4ff5-b348-88acdc9df0d1" providerId="ADAL" clId="{02486B59-77C2-44D9-86E4-77A6D6D6742A}" dt="2026-08-28T01:46:01.543" v="16248" actId="47"/>
        <pc:sldMkLst>
          <pc:docMk/>
          <pc:sldMk cId="1235230076" sldId="347"/>
        </pc:sldMkLst>
      </pc:sldChg>
      <pc:sldChg chg="add del">
        <pc:chgData name="#HUANG XINYA#" userId="0394e048-be67-4ff5-b348-88acdc9df0d1" providerId="ADAL" clId="{02486B59-77C2-44D9-86E4-77A6D6D6742A}" dt="2026-08-28T01:46:01.543" v="16248" actId="47"/>
        <pc:sldMkLst>
          <pc:docMk/>
          <pc:sldMk cId="3268945510" sldId="348"/>
        </pc:sldMkLst>
      </pc:sldChg>
      <pc:sldChg chg="add">
        <pc:chgData name="#HUANG XINYA#" userId="0394e048-be67-4ff5-b348-88acdc9df0d1" providerId="ADAL" clId="{02486B59-77C2-44D9-86E4-77A6D6D6742A}" dt="2026-08-08T07:03:29.960" v="16243"/>
        <pc:sldMkLst>
          <pc:docMk/>
          <pc:sldMk cId="4212675989" sldId="349"/>
        </pc:sldMkLst>
      </pc:sldChg>
      <pc:sldChg chg="add modNotesTx">
        <pc:chgData name="#HUANG XINYA#" userId="0394e048-be67-4ff5-b348-88acdc9df0d1" providerId="ADAL" clId="{02486B59-77C2-44D9-86E4-77A6D6D6742A}" dt="2026-08-08T09:51:57.526" v="16247" actId="20577"/>
        <pc:sldMkLst>
          <pc:docMk/>
          <pc:sldMk cId="3816575668" sldId="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9/9/2026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D6C49-6F48-4F46-A0C4-F823054334BD}" type="datetimeFigureOut">
              <a:rPr lang="en-GB" smtClean="0"/>
              <a:t>09/09/2026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B86D8-D67E-429E-B575-006BC027F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82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6C77-5F37-ECB0-0505-3938500B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9B030-A1FB-90FA-60EA-BBE6171AC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CB56A-9048-BE07-CE0F-B41819857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BC665-25D7-065C-F682-E79014860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443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49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F16ED-3011-7469-4B0D-40DC4C84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E3610-DBE6-F5D5-41C1-E82EE1C3C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D8DD7-7AC4-3F52-170B-B66039A91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80CE6-5EA9-3575-217D-EED81BF8D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861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0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694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191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308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488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251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087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898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AF1F-4017-9108-4AB1-B1E4898B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54D17-FDD7-6B83-F0F0-F23182FBD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8C2E8-CFE3-B23B-870E-C82B5AE0D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88601-DECC-56DB-D21C-3AC7B3740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14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046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097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6842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76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B86D8-D67E-429E-B575-006BC027FE4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391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85299-F701-CC6B-B840-7C2501BA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AA630-B91D-EB53-F028-67B00BD51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77606-30E9-686D-15C7-C426C5694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A05FD-1B7F-D362-713D-93CB9FC6E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5B86D8-D67E-429E-B575-006BC027FE4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559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C899-6CEC-9548-B06D-7E1EB6F78CA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9F1CC899-6CEC-9548-B06D-7E1EB6F78CA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36153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36153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1"/>
            <a:ext cx="9144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5C652-3F8B-4D91-7FD6-088406B5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1E8BBC-8AC1-5E46-6D80-CC68653E0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348"/>
          <a:stretch>
            <a:fillRect/>
          </a:stretch>
        </p:blipFill>
        <p:spPr>
          <a:xfrm>
            <a:off x="2950869" y="1358282"/>
            <a:ext cx="5886597" cy="3417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34A3CB-9BB1-C24E-4B25-05CC09E7C3A6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6 – </a:t>
            </a:r>
            <a:r>
              <a:rPr lang="en-US" sz="2800" b="1" dirty="0"/>
              <a:t>A</a:t>
            </a:r>
            <a:r>
              <a:rPr lang="en-US" altLang="zh-CN" sz="2800" b="1" dirty="0"/>
              <a:t>uxiliary</a:t>
            </a:r>
            <a:r>
              <a:rPr lang="en-US" sz="2800" b="1" dirty="0"/>
              <a:t> P</a:t>
            </a:r>
            <a:r>
              <a:rPr lang="en-US" altLang="zh-CN" sz="2800" b="1" dirty="0"/>
              <a:t>rojection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Self-learning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3C2A5-BB08-34B7-CE04-6D599E008C3E}"/>
              </a:ext>
            </a:extLst>
          </p:cNvPr>
          <p:cNvSpPr/>
          <p:nvPr/>
        </p:nvSpPr>
        <p:spPr>
          <a:xfrm>
            <a:off x="3054312" y="4311677"/>
            <a:ext cx="1143000" cy="2210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E1383-388B-5E3F-1FE1-CF5E31DF9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534" y="1462045"/>
            <a:ext cx="2417100" cy="26018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59E4E1-0485-7ABD-B360-5C0A267F87CE}"/>
              </a:ext>
            </a:extLst>
          </p:cNvPr>
          <p:cNvSpPr/>
          <p:nvPr/>
        </p:nvSpPr>
        <p:spPr>
          <a:xfrm>
            <a:off x="274374" y="2176509"/>
            <a:ext cx="1739952" cy="355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582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0B9F-9C6E-D6BB-4362-FBA77D0AF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171BE2-9B72-DF17-2EFE-CDE687E58EDF}"/>
              </a:ext>
            </a:extLst>
          </p:cNvPr>
          <p:cNvSpPr txBox="1"/>
          <p:nvPr/>
        </p:nvSpPr>
        <p:spPr>
          <a:xfrm>
            <a:off x="317634" y="168441"/>
            <a:ext cx="9100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WEEK 6 – 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uxiliary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rojection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– Assignments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06C2-38AB-DA97-4EA2-E57B8728EF6D}"/>
              </a:ext>
            </a:extLst>
          </p:cNvPr>
          <p:cNvSpPr txBox="1"/>
          <p:nvPr/>
        </p:nvSpPr>
        <p:spPr>
          <a:xfrm>
            <a:off x="317634" y="1494038"/>
            <a:ext cx="58308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Finish – E12, E13, E14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Submit – E13 </a:t>
            </a:r>
          </a:p>
        </p:txBody>
      </p:sp>
    </p:spTree>
    <p:extLst>
      <p:ext uri="{BB962C8B-B14F-4D97-AF65-F5344CB8AC3E}">
        <p14:creationId xmlns:p14="http://schemas.microsoft.com/office/powerpoint/2010/main" val="30776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5E63-7C0C-41F8-95D7-2F1A4F29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D18F6A-1976-AF5E-0DCD-15DAA0F53122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WEEK 6 – Recap</a:t>
            </a:r>
            <a:endParaRPr lang="en-SG" sz="16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2CD23-506D-FF92-5448-087A9EBEA000}"/>
              </a:ext>
            </a:extLst>
          </p:cNvPr>
          <p:cNvSpPr txBox="1"/>
          <p:nvPr/>
        </p:nvSpPr>
        <p:spPr>
          <a:xfrm>
            <a:off x="196278" y="745759"/>
            <a:ext cx="803413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1</a:t>
            </a:r>
            <a:r>
              <a:rPr lang="en-GB" sz="2000" b="1" baseline="30000" dirty="0"/>
              <a:t>st</a:t>
            </a:r>
            <a:r>
              <a:rPr lang="en-GB" sz="2000" b="1" dirty="0"/>
              <a:t> Angle Projection: Projection </a:t>
            </a:r>
            <a:r>
              <a:rPr lang="en-GB" sz="2000" b="1" dirty="0">
                <a:highlight>
                  <a:srgbClr val="FFFF00"/>
                </a:highlight>
              </a:rPr>
              <a:t>behind</a:t>
            </a:r>
            <a:r>
              <a:rPr lang="en-GB" sz="2000" b="1" dirty="0"/>
              <a:t> the object</a:t>
            </a:r>
          </a:p>
          <a:p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3</a:t>
            </a:r>
            <a:r>
              <a:rPr lang="en-GB" sz="2000" b="1" baseline="30000" dirty="0"/>
              <a:t>rd</a:t>
            </a:r>
            <a:r>
              <a:rPr lang="en-GB" sz="2000" b="1" dirty="0"/>
              <a:t> Angle Projection: Projection </a:t>
            </a:r>
            <a:r>
              <a:rPr lang="en-GB" sz="2000" b="1" dirty="0">
                <a:highlight>
                  <a:srgbClr val="FFFF00"/>
                </a:highlight>
              </a:rPr>
              <a:t>in front of </a:t>
            </a:r>
            <a:r>
              <a:rPr lang="en-GB" sz="2000" b="1" dirty="0"/>
              <a:t>the object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Auxiliary Plan: Projected from the </a:t>
            </a:r>
            <a:r>
              <a:rPr lang="en-GB" sz="2000" b="1" dirty="0">
                <a:highlight>
                  <a:srgbClr val="FFFF00"/>
                </a:highlight>
              </a:rPr>
              <a:t>elevation</a:t>
            </a:r>
            <a:r>
              <a:rPr lang="en-GB" sz="2000" b="1" dirty="0"/>
              <a:t>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/>
              <a:t>Auxiliary Elevation: Projected from the </a:t>
            </a:r>
            <a:r>
              <a:rPr lang="en-GB" sz="2000" b="1" dirty="0">
                <a:highlight>
                  <a:srgbClr val="FFFF00"/>
                </a:highlight>
              </a:rPr>
              <a:t>plan</a:t>
            </a:r>
            <a:r>
              <a:rPr lang="en-GB" sz="2000" b="1" dirty="0"/>
              <a:t>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96851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61EB-E116-152A-38FA-D3C0496DB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CDEEC-3806-C762-09D6-30AE4E311FC0}"/>
              </a:ext>
            </a:extLst>
          </p:cNvPr>
          <p:cNvSpPr txBox="1"/>
          <p:nvPr/>
        </p:nvSpPr>
        <p:spPr>
          <a:xfrm>
            <a:off x="148385" y="89790"/>
            <a:ext cx="4533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AUXILIARY PROJECTION - Recap</a:t>
            </a:r>
            <a:endParaRPr lang="en-SG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5BFC1-82F7-910B-0FB3-8D5EF9B703B5}"/>
              </a:ext>
            </a:extLst>
          </p:cNvPr>
          <p:cNvSpPr txBox="1"/>
          <p:nvPr/>
        </p:nvSpPr>
        <p:spPr>
          <a:xfrm>
            <a:off x="827402" y="805940"/>
            <a:ext cx="60559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1. </a:t>
            </a:r>
            <a:r>
              <a:rPr lang="en-SG" sz="2000" b="1">
                <a:solidFill>
                  <a:srgbClr val="FF0000"/>
                </a:solidFill>
              </a:rPr>
              <a:t>R</a:t>
            </a:r>
            <a:r>
              <a:rPr lang="en-US" altLang="zh-CN" sz="2000" b="1" err="1">
                <a:solidFill>
                  <a:srgbClr val="FF0000"/>
                </a:solidFill>
              </a:rPr>
              <a:t>eproduce</a:t>
            </a:r>
            <a:r>
              <a:rPr lang="en-US" altLang="zh-CN" sz="2000" b="1">
                <a:solidFill>
                  <a:srgbClr val="FF0000"/>
                </a:solidFill>
              </a:rPr>
              <a:t> </a:t>
            </a:r>
            <a:r>
              <a:rPr lang="en-US" altLang="zh-CN" sz="2000" b="1"/>
              <a:t>the </a:t>
            </a:r>
            <a:r>
              <a:rPr lang="en-US" sz="2000" b="1"/>
              <a:t>principal</a:t>
            </a:r>
            <a:r>
              <a:rPr lang="en-US" altLang="zh-CN" sz="2000" b="1"/>
              <a:t> views (Elevation &amp; Plan)</a:t>
            </a:r>
            <a:endParaRPr lang="en-SG" sz="1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4B397-AF1B-CCC7-AAF3-A08BB2C40511}"/>
              </a:ext>
            </a:extLst>
          </p:cNvPr>
          <p:cNvSpPr txBox="1"/>
          <p:nvPr/>
        </p:nvSpPr>
        <p:spPr>
          <a:xfrm>
            <a:off x="827401" y="1408360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2. </a:t>
            </a:r>
            <a:r>
              <a:rPr lang="en-SG" sz="2000" b="1">
                <a:solidFill>
                  <a:srgbClr val="FF0000"/>
                </a:solidFill>
              </a:rPr>
              <a:t>Projectors </a:t>
            </a:r>
            <a:r>
              <a:rPr lang="en-US" sz="2000" b="1">
                <a:solidFill>
                  <a:srgbClr val="FF0000"/>
                </a:solidFill>
              </a:rPr>
              <a:t>parallel </a:t>
            </a:r>
            <a:r>
              <a:rPr lang="en-US" sz="2000" b="1"/>
              <a:t>to the given direction from end points  </a:t>
            </a:r>
            <a:endParaRPr lang="en-SG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4CAF4-AB49-F038-C76A-7757EF2C86CE}"/>
              </a:ext>
            </a:extLst>
          </p:cNvPr>
          <p:cNvSpPr txBox="1"/>
          <p:nvPr/>
        </p:nvSpPr>
        <p:spPr>
          <a:xfrm>
            <a:off x="827401" y="1973254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3. </a:t>
            </a:r>
            <a:r>
              <a:rPr lang="en-US" sz="2000" b="1">
                <a:solidFill>
                  <a:srgbClr val="FF0000"/>
                </a:solidFill>
              </a:rPr>
              <a:t>G</a:t>
            </a:r>
            <a:r>
              <a:rPr lang="en-US" altLang="zh-CN" sz="2000" b="1">
                <a:solidFill>
                  <a:srgbClr val="FF0000"/>
                </a:solidFill>
              </a:rPr>
              <a:t>round line </a:t>
            </a:r>
            <a:r>
              <a:rPr lang="en-US" altLang="zh-CN" sz="2000" b="1"/>
              <a:t>perpendicular to the projectors</a:t>
            </a:r>
            <a:endParaRPr lang="en-SG" sz="1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E73A2-DC85-C425-1B62-3A68A1BF11E3}"/>
              </a:ext>
            </a:extLst>
          </p:cNvPr>
          <p:cNvSpPr txBox="1"/>
          <p:nvPr/>
        </p:nvSpPr>
        <p:spPr>
          <a:xfrm>
            <a:off x="827401" y="2598473"/>
            <a:ext cx="7646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4. </a:t>
            </a:r>
            <a:r>
              <a:rPr lang="en-US" sz="2000" b="1">
                <a:solidFill>
                  <a:srgbClr val="FF0000"/>
                </a:solidFill>
              </a:rPr>
              <a:t>Transfer</a:t>
            </a:r>
            <a:r>
              <a:rPr lang="en-US" sz="2000" b="1"/>
              <a:t> heights/widths</a:t>
            </a:r>
            <a:endParaRPr lang="en-SG" sz="1600"/>
          </a:p>
        </p:txBody>
      </p:sp>
    </p:spTree>
    <p:extLst>
      <p:ext uri="{BB962C8B-B14F-4D97-AF65-F5344CB8AC3E}">
        <p14:creationId xmlns:p14="http://schemas.microsoft.com/office/powerpoint/2010/main" val="97699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CB4A-603E-06EB-8270-2CE2379F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C81315-85E3-CD03-1987-5F82F1A6F6DD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CURVES APPROXIMATION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EDDF4-24BC-D2A9-055C-55FA08094D40}"/>
              </a:ext>
            </a:extLst>
          </p:cNvPr>
          <p:cNvSpPr txBox="1"/>
          <p:nvPr/>
        </p:nvSpPr>
        <p:spPr>
          <a:xfrm>
            <a:off x="674204" y="498710"/>
            <a:ext cx="750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ow many points ? Up to you</a:t>
            </a:r>
            <a:endParaRPr kumimoji="0" lang="en-SG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tial Circle 14">
            <a:extLst>
              <a:ext uri="{FF2B5EF4-FFF2-40B4-BE49-F238E27FC236}">
                <a16:creationId xmlns:a16="http://schemas.microsoft.com/office/drawing/2014/main" id="{6BC66131-7736-4AE5-163A-2C4524466A13}"/>
              </a:ext>
            </a:extLst>
          </p:cNvPr>
          <p:cNvSpPr/>
          <p:nvPr/>
        </p:nvSpPr>
        <p:spPr>
          <a:xfrm>
            <a:off x="1313736" y="1907793"/>
            <a:ext cx="3111835" cy="3111835"/>
          </a:xfrm>
          <a:prstGeom prst="pie">
            <a:avLst>
              <a:gd name="adj1" fmla="val 10797228"/>
              <a:gd name="adj2" fmla="val 161855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15D94-4BD8-D1D0-7FBE-CE2EFCFC1B5A}"/>
              </a:ext>
            </a:extLst>
          </p:cNvPr>
          <p:cNvSpPr txBox="1"/>
          <p:nvPr/>
        </p:nvSpPr>
        <p:spPr>
          <a:xfrm>
            <a:off x="674204" y="934520"/>
            <a:ext cx="7502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Generally: 2 pts in the middle for a quarter of a circle</a:t>
            </a:r>
            <a:endParaRPr kumimoji="0" lang="en-SG" sz="20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D0D65740-AC89-062B-C0A0-0D012B2ED40B}"/>
              </a:ext>
            </a:extLst>
          </p:cNvPr>
          <p:cNvSpPr/>
          <p:nvPr/>
        </p:nvSpPr>
        <p:spPr>
          <a:xfrm>
            <a:off x="2685337" y="174262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20616771-64EE-66F9-DD39-F198FDEF96A3}"/>
              </a:ext>
            </a:extLst>
          </p:cNvPr>
          <p:cNvSpPr/>
          <p:nvPr/>
        </p:nvSpPr>
        <p:spPr>
          <a:xfrm>
            <a:off x="1148569" y="329854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F4E39156-4C15-1020-A7E0-6DAF192B121D}"/>
              </a:ext>
            </a:extLst>
          </p:cNvPr>
          <p:cNvSpPr/>
          <p:nvPr/>
        </p:nvSpPr>
        <p:spPr>
          <a:xfrm>
            <a:off x="2185811" y="1830130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4240C1DE-829C-7C3A-486F-A3B39C6F40F0}"/>
              </a:ext>
            </a:extLst>
          </p:cNvPr>
          <p:cNvSpPr/>
          <p:nvPr/>
        </p:nvSpPr>
        <p:spPr>
          <a:xfrm>
            <a:off x="1675688" y="215292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C11F83-DB0C-738A-EA3E-C91D979E0F01}"/>
              </a:ext>
            </a:extLst>
          </p:cNvPr>
          <p:cNvCxnSpPr>
            <a:cxnSpLocks/>
          </p:cNvCxnSpPr>
          <p:nvPr/>
        </p:nvCxnSpPr>
        <p:spPr>
          <a:xfrm>
            <a:off x="2864863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CBD141-83DD-1296-1FE8-60B13CBD9A2B}"/>
              </a:ext>
            </a:extLst>
          </p:cNvPr>
          <p:cNvCxnSpPr>
            <a:cxnSpLocks/>
          </p:cNvCxnSpPr>
          <p:nvPr/>
        </p:nvCxnSpPr>
        <p:spPr>
          <a:xfrm>
            <a:off x="2348351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CD2159-AAB7-297D-6DFC-DAE900DD0591}"/>
              </a:ext>
            </a:extLst>
          </p:cNvPr>
          <p:cNvCxnSpPr>
            <a:cxnSpLocks/>
          </p:cNvCxnSpPr>
          <p:nvPr/>
        </p:nvCxnSpPr>
        <p:spPr>
          <a:xfrm>
            <a:off x="1831839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47754E-C98B-3DF8-479B-E33BE6F63051}"/>
              </a:ext>
            </a:extLst>
          </p:cNvPr>
          <p:cNvCxnSpPr>
            <a:cxnSpLocks/>
          </p:cNvCxnSpPr>
          <p:nvPr/>
        </p:nvCxnSpPr>
        <p:spPr>
          <a:xfrm>
            <a:off x="1315327" y="1405065"/>
            <a:ext cx="0" cy="319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rtial Circle 23">
            <a:extLst>
              <a:ext uri="{FF2B5EF4-FFF2-40B4-BE49-F238E27FC236}">
                <a16:creationId xmlns:a16="http://schemas.microsoft.com/office/drawing/2014/main" id="{587A3A93-9D1E-72E5-F096-A272DC32FAC0}"/>
              </a:ext>
            </a:extLst>
          </p:cNvPr>
          <p:cNvSpPr/>
          <p:nvPr/>
        </p:nvSpPr>
        <p:spPr>
          <a:xfrm>
            <a:off x="4942082" y="1895026"/>
            <a:ext cx="3111835" cy="3111835"/>
          </a:xfrm>
          <a:prstGeom prst="pie">
            <a:avLst>
              <a:gd name="adj1" fmla="val 14370614"/>
              <a:gd name="adj2" fmla="val 161855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951B6434-D151-B81A-5411-5753BFA71A94}"/>
              </a:ext>
            </a:extLst>
          </p:cNvPr>
          <p:cNvSpPr/>
          <p:nvPr/>
        </p:nvSpPr>
        <p:spPr>
          <a:xfrm>
            <a:off x="6313683" y="1729859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Partial Circle 32">
            <a:extLst>
              <a:ext uri="{FF2B5EF4-FFF2-40B4-BE49-F238E27FC236}">
                <a16:creationId xmlns:a16="http://schemas.microsoft.com/office/drawing/2014/main" id="{A5CD09C7-F73D-3683-4508-D2F1D8DCBDEA}"/>
              </a:ext>
            </a:extLst>
          </p:cNvPr>
          <p:cNvSpPr/>
          <p:nvPr/>
        </p:nvSpPr>
        <p:spPr>
          <a:xfrm>
            <a:off x="4942082" y="1895024"/>
            <a:ext cx="3111835" cy="3111835"/>
          </a:xfrm>
          <a:prstGeom prst="pie">
            <a:avLst>
              <a:gd name="adj1" fmla="val 10779264"/>
              <a:gd name="adj2" fmla="val 1239809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6FB94E0B-B518-3C58-4CAE-0CF1A6258833}"/>
              </a:ext>
            </a:extLst>
          </p:cNvPr>
          <p:cNvSpPr/>
          <p:nvPr/>
        </p:nvSpPr>
        <p:spPr>
          <a:xfrm>
            <a:off x="4942082" y="1895022"/>
            <a:ext cx="3111835" cy="3111835"/>
          </a:xfrm>
          <a:prstGeom prst="pie">
            <a:avLst>
              <a:gd name="adj1" fmla="val 12408755"/>
              <a:gd name="adj2" fmla="val 1436776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60D9D109-E937-F5EF-921C-936C8CA8C7D9}"/>
              </a:ext>
            </a:extLst>
          </p:cNvPr>
          <p:cNvSpPr/>
          <p:nvPr/>
        </p:nvSpPr>
        <p:spPr>
          <a:xfrm>
            <a:off x="4942082" y="2560213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C95311F9-8BE7-4593-70BC-BAC63E55816B}"/>
              </a:ext>
            </a:extLst>
          </p:cNvPr>
          <p:cNvSpPr/>
          <p:nvPr/>
        </p:nvSpPr>
        <p:spPr>
          <a:xfrm>
            <a:off x="4776915" y="328577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93CA6CFD-922C-8658-E149-5F5123D64923}"/>
              </a:ext>
            </a:extLst>
          </p:cNvPr>
          <p:cNvSpPr/>
          <p:nvPr/>
        </p:nvSpPr>
        <p:spPr>
          <a:xfrm>
            <a:off x="5559928" y="1910186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B6B6D-EA7C-2400-31AE-783551F5B223}"/>
              </a:ext>
            </a:extLst>
          </p:cNvPr>
          <p:cNvSpPr txBox="1"/>
          <p:nvPr/>
        </p:nvSpPr>
        <p:spPr>
          <a:xfrm>
            <a:off x="5436610" y="3094377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31C53-E8B3-9228-9C3D-C5B5BC8D5C50}"/>
              </a:ext>
            </a:extLst>
          </p:cNvPr>
          <p:cNvSpPr txBox="1"/>
          <p:nvPr/>
        </p:nvSpPr>
        <p:spPr>
          <a:xfrm>
            <a:off x="5593111" y="2660936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AC61E-C6B0-EA68-1A01-B53584D63666}"/>
              </a:ext>
            </a:extLst>
          </p:cNvPr>
          <p:cNvSpPr txBox="1"/>
          <p:nvPr/>
        </p:nvSpPr>
        <p:spPr>
          <a:xfrm>
            <a:off x="6053705" y="2387084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°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E8D73-C48E-7413-DACE-C731E65E6D78}"/>
              </a:ext>
            </a:extLst>
          </p:cNvPr>
          <p:cNvSpPr txBox="1"/>
          <p:nvPr/>
        </p:nvSpPr>
        <p:spPr>
          <a:xfrm>
            <a:off x="1320246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FF2BE-A0DB-83E1-50B4-A6B90B1390BB}"/>
              </a:ext>
            </a:extLst>
          </p:cNvPr>
          <p:cNvSpPr txBox="1"/>
          <p:nvPr/>
        </p:nvSpPr>
        <p:spPr>
          <a:xfrm>
            <a:off x="1870212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B742E-20F8-F9F1-D0D8-19F8B87200F1}"/>
              </a:ext>
            </a:extLst>
          </p:cNvPr>
          <p:cNvSpPr txBox="1"/>
          <p:nvPr/>
        </p:nvSpPr>
        <p:spPr>
          <a:xfrm>
            <a:off x="2395390" y="3965701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L/3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70AF2-B36F-021D-AEE9-1679FF17A9ED}"/>
              </a:ext>
            </a:extLst>
          </p:cNvPr>
          <p:cNvSpPr txBox="1"/>
          <p:nvPr/>
        </p:nvSpPr>
        <p:spPr>
          <a:xfrm>
            <a:off x="1893238" y="1254302"/>
            <a:ext cx="713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8DB25D-CE02-2173-06E1-EEE0A0B3E29A}"/>
              </a:ext>
            </a:extLst>
          </p:cNvPr>
          <p:cNvCxnSpPr>
            <a:cxnSpLocks/>
          </p:cNvCxnSpPr>
          <p:nvPr/>
        </p:nvCxnSpPr>
        <p:spPr>
          <a:xfrm flipV="1">
            <a:off x="1316919" y="1686428"/>
            <a:ext cx="1533584" cy="78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57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290B1-44C1-1776-DA97-1F2D9790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98D064-E38F-2350-C034-784EE921A6F2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FURTHEST POINTS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D82855-0258-8D86-1B62-EE2111BF72C5}"/>
              </a:ext>
            </a:extLst>
          </p:cNvPr>
          <p:cNvSpPr/>
          <p:nvPr/>
        </p:nvSpPr>
        <p:spPr>
          <a:xfrm>
            <a:off x="1627726" y="1245631"/>
            <a:ext cx="2336268" cy="233626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F3A830-CF9C-F1E1-AD35-3EC24C6EBAFF}"/>
              </a:ext>
            </a:extLst>
          </p:cNvPr>
          <p:cNvCxnSpPr>
            <a:cxnSpLocks/>
          </p:cNvCxnSpPr>
          <p:nvPr/>
        </p:nvCxnSpPr>
        <p:spPr>
          <a:xfrm flipV="1">
            <a:off x="311183" y="3143399"/>
            <a:ext cx="1077173" cy="494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AAF58C-36BE-04EE-3B04-13A38B235936}"/>
              </a:ext>
            </a:extLst>
          </p:cNvPr>
          <p:cNvCxnSpPr>
            <a:cxnSpLocks/>
          </p:cNvCxnSpPr>
          <p:nvPr/>
        </p:nvCxnSpPr>
        <p:spPr>
          <a:xfrm flipV="1">
            <a:off x="560130" y="509948"/>
            <a:ext cx="3483414" cy="163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79DF2A-B103-921B-4BDE-E16FDDE1E455}"/>
              </a:ext>
            </a:extLst>
          </p:cNvPr>
          <p:cNvCxnSpPr>
            <a:cxnSpLocks/>
          </p:cNvCxnSpPr>
          <p:nvPr/>
        </p:nvCxnSpPr>
        <p:spPr>
          <a:xfrm flipV="1">
            <a:off x="1627726" y="2629983"/>
            <a:ext cx="3483414" cy="1633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E4948D-1DB3-2E86-66F7-DA40CC47DCEE}"/>
              </a:ext>
            </a:extLst>
          </p:cNvPr>
          <p:cNvCxnSpPr/>
          <p:nvPr/>
        </p:nvCxnSpPr>
        <p:spPr>
          <a:xfrm flipH="1" flipV="1">
            <a:off x="1838373" y="509948"/>
            <a:ext cx="1914974" cy="38178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69DD0173-AE5E-07DC-B873-6B1B7EBA1A4A}"/>
              </a:ext>
            </a:extLst>
          </p:cNvPr>
          <p:cNvSpPr/>
          <p:nvPr/>
        </p:nvSpPr>
        <p:spPr>
          <a:xfrm>
            <a:off x="2630693" y="2248598"/>
            <a:ext cx="330333" cy="330333"/>
          </a:xfrm>
          <a:prstGeom prst="mathMultiply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659FCF-F2CE-1403-81B0-90F91A78EF76}"/>
              </a:ext>
            </a:extLst>
          </p:cNvPr>
          <p:cNvSpPr/>
          <p:nvPr/>
        </p:nvSpPr>
        <p:spPr>
          <a:xfrm>
            <a:off x="2133597" y="1219504"/>
            <a:ext cx="278369" cy="27836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360541-FC93-2364-BB51-48E5C9435504}"/>
              </a:ext>
            </a:extLst>
          </p:cNvPr>
          <p:cNvSpPr/>
          <p:nvPr/>
        </p:nvSpPr>
        <p:spPr>
          <a:xfrm>
            <a:off x="3174275" y="3313926"/>
            <a:ext cx="278369" cy="27836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5D8610-1BAA-D542-A6AB-18C7A72BD585}"/>
              </a:ext>
            </a:extLst>
          </p:cNvPr>
          <p:cNvCxnSpPr>
            <a:cxnSpLocks/>
          </p:cNvCxnSpPr>
          <p:nvPr/>
        </p:nvCxnSpPr>
        <p:spPr>
          <a:xfrm flipV="1">
            <a:off x="2990394" y="1435100"/>
            <a:ext cx="2110064" cy="1392204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5AC9D70-0CF4-DA4F-18DB-EB2ABC3D90D0}"/>
              </a:ext>
            </a:extLst>
          </p:cNvPr>
          <p:cNvSpPr txBox="1"/>
          <p:nvPr/>
        </p:nvSpPr>
        <p:spPr>
          <a:xfrm>
            <a:off x="5129826" y="834935"/>
            <a:ext cx="3483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Generally: draw a line to connect  furthest points (visible – solid; invisible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dashed).</a:t>
            </a:r>
          </a:p>
        </p:txBody>
      </p:sp>
    </p:spTree>
    <p:extLst>
      <p:ext uri="{BB962C8B-B14F-4D97-AF65-F5344CB8AC3E}">
        <p14:creationId xmlns:p14="http://schemas.microsoft.com/office/powerpoint/2010/main" val="169638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4ADF-B124-0EFE-0834-2667007A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A34E1-766F-CAD8-2A2B-C5FDE63BA2B0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EDGE OF COLUMNS</a:t>
            </a:r>
            <a:endParaRPr lang="en-SG" sz="16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Light Gray Tube">
                <a:extLst>
                  <a:ext uri="{FF2B5EF4-FFF2-40B4-BE49-F238E27FC236}">
                    <a16:creationId xmlns:a16="http://schemas.microsoft.com/office/drawing/2014/main" id="{D73C5224-5B84-E288-0E79-EC91E87739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72933558"/>
                  </p:ext>
                </p:extLst>
              </p:nvPr>
            </p:nvGraphicFramePr>
            <p:xfrm>
              <a:off x="668282" y="976430"/>
              <a:ext cx="2263584" cy="345873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263584" cy="3458734"/>
                    </a:xfrm>
                    <a:prstGeom prst="rect">
                      <a:avLst/>
                    </a:prstGeom>
                  </am3d:spPr>
                  <am3d:camera>
                    <am3d:pos x="0" y="0" z="6278280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59681" d="1000000"/>
                    <am3d:preTrans dx="22" dy="-18000000" dz="6"/>
                    <am3d:scale>
                      <am3d:sx n="1000000" d="1000000"/>
                      <am3d:sy n="1000000" d="1000000"/>
                      <am3d:sz n="1000000" d="1000000"/>
                    </am3d:scale>
                    <am3d:rot ax="2938419" ay="-73858" az="-8486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9565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Light Gray Tube">
                <a:extLst>
                  <a:ext uri="{FF2B5EF4-FFF2-40B4-BE49-F238E27FC236}">
                    <a16:creationId xmlns:a16="http://schemas.microsoft.com/office/drawing/2014/main" id="{D73C5224-5B84-E288-0E79-EC91E87739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8282" y="976430"/>
                <a:ext cx="2263584" cy="345873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B7D0895-A145-F1F5-0BE9-5B79ADF6C33A}"/>
              </a:ext>
            </a:extLst>
          </p:cNvPr>
          <p:cNvSpPr/>
          <p:nvPr/>
        </p:nvSpPr>
        <p:spPr>
          <a:xfrm>
            <a:off x="5332404" y="1120260"/>
            <a:ext cx="1398729" cy="306395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BB03F-4DAE-1E43-09C9-A2134B8268E0}"/>
              </a:ext>
            </a:extLst>
          </p:cNvPr>
          <p:cNvSpPr/>
          <p:nvPr/>
        </p:nvSpPr>
        <p:spPr>
          <a:xfrm>
            <a:off x="4931058" y="1120260"/>
            <a:ext cx="2263584" cy="306395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50FD2-B05E-48FA-F892-DE41438FADDA}"/>
              </a:ext>
            </a:extLst>
          </p:cNvPr>
          <p:cNvSpPr txBox="1"/>
          <p:nvPr/>
        </p:nvSpPr>
        <p:spPr>
          <a:xfrm>
            <a:off x="5512201" y="89790"/>
            <a:ext cx="3483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3"/>
                </a:solidFill>
              </a:rPr>
              <a:t>Generally: draw a line to connect  furthest points (visible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solid; invisible </a:t>
            </a:r>
            <a:r>
              <a:rPr lang="en-US" altLang="zh-CN">
                <a:solidFill>
                  <a:schemeClr val="accent3"/>
                </a:solidFill>
              </a:rPr>
              <a:t>–</a:t>
            </a:r>
            <a:r>
              <a:rPr lang="en-US">
                <a:solidFill>
                  <a:schemeClr val="accent3"/>
                </a:solidFill>
              </a:rPr>
              <a:t> dashed).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D3F19F3-28F9-748E-DBBE-C9A6117C9C74}"/>
              </a:ext>
            </a:extLst>
          </p:cNvPr>
          <p:cNvGrpSpPr/>
          <p:nvPr/>
        </p:nvGrpSpPr>
        <p:grpSpPr>
          <a:xfrm>
            <a:off x="2636215" y="2583032"/>
            <a:ext cx="2495516" cy="936714"/>
            <a:chOff x="2543533" y="2927350"/>
            <a:chExt cx="2495516" cy="93671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407DF26-A9BE-1A8D-F43D-3F811F5A04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3752" y="3168650"/>
              <a:ext cx="1345798" cy="2998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765E73B-B4BB-30F6-6BC7-518814BF7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3533" y="2927350"/>
              <a:ext cx="196625" cy="8636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D80F89B-9BA2-5100-933D-D342BD11C5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0109" y="3187700"/>
              <a:ext cx="21352" cy="12700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378AAC8-A36C-637D-3649-D124C639BA1E}"/>
                </a:ext>
              </a:extLst>
            </p:cNvPr>
            <p:cNvCxnSpPr>
              <a:cxnSpLocks/>
            </p:cNvCxnSpPr>
            <p:nvPr/>
          </p:nvCxnSpPr>
          <p:spPr>
            <a:xfrm>
              <a:off x="2673752" y="3302000"/>
              <a:ext cx="116357" cy="25400"/>
            </a:xfrm>
            <a:prstGeom prst="line">
              <a:avLst/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95EDEC1-0E9C-7AAB-346D-E4D3A4575284}"/>
                </a:ext>
              </a:extLst>
            </p:cNvPr>
            <p:cNvSpPr txBox="1"/>
            <p:nvPr/>
          </p:nvSpPr>
          <p:spPr>
            <a:xfrm>
              <a:off x="2641532" y="3283866"/>
              <a:ext cx="723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solidFill>
                    <a:srgbClr val="4F81BD"/>
                  </a:solidFill>
                </a:rPr>
                <a:t>90</a:t>
              </a:r>
              <a:r>
                <a:rPr lang="en-US" altLang="zh-CN">
                  <a:solidFill>
                    <a:srgbClr val="4F81BD"/>
                  </a:solidFill>
                </a:rPr>
                <a:t>°</a:t>
              </a:r>
              <a:endParaRPr lang="en-GB">
                <a:solidFill>
                  <a:srgbClr val="4F81BD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450856-4DCA-CCD4-7E51-5CFE54C76F85}"/>
                </a:ext>
              </a:extLst>
            </p:cNvPr>
            <p:cNvSpPr txBox="1"/>
            <p:nvPr/>
          </p:nvSpPr>
          <p:spPr>
            <a:xfrm>
              <a:off x="3365432" y="3494732"/>
              <a:ext cx="1673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4F81BD"/>
                  </a:solidFill>
                </a:rPr>
                <a:t>View direction</a:t>
              </a:r>
              <a:endParaRPr lang="en-GB">
                <a:solidFill>
                  <a:srgbClr val="4F81BD"/>
                </a:solidFill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1981CBD8-0D58-42FE-5A5E-8970AC8378A6}"/>
              </a:ext>
            </a:extLst>
          </p:cNvPr>
          <p:cNvSpPr/>
          <p:nvPr/>
        </p:nvSpPr>
        <p:spPr>
          <a:xfrm>
            <a:off x="1114274" y="1206500"/>
            <a:ext cx="1371600" cy="8255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6B2F08-DF9E-45D5-ADC0-B780BBBD2850}"/>
              </a:ext>
            </a:extLst>
          </p:cNvPr>
          <p:cNvSpPr txBox="1"/>
          <p:nvPr/>
        </p:nvSpPr>
        <p:spPr>
          <a:xfrm>
            <a:off x="3216033" y="620262"/>
            <a:ext cx="1673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Inner surface</a:t>
            </a:r>
            <a:endParaRPr lang="en-GB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7EE38E5-BB07-BFA8-588B-74449C4E5CA7}"/>
              </a:ext>
            </a:extLst>
          </p:cNvPr>
          <p:cNvCxnSpPr>
            <a:cxnSpLocks/>
          </p:cNvCxnSpPr>
          <p:nvPr/>
        </p:nvCxnSpPr>
        <p:spPr>
          <a:xfrm flipV="1">
            <a:off x="2487355" y="925578"/>
            <a:ext cx="782895" cy="6298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11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AC96-4092-04D2-CAC0-1A6886B3C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Light Gray Cuboid">
                <a:extLst>
                  <a:ext uri="{FF2B5EF4-FFF2-40B4-BE49-F238E27FC236}">
                    <a16:creationId xmlns:a16="http://schemas.microsoft.com/office/drawing/2014/main" id="{05FBEEB2-15F8-1C2E-7BEE-8B24F94288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8555841"/>
                  </p:ext>
                </p:extLst>
              </p:nvPr>
            </p:nvGraphicFramePr>
            <p:xfrm>
              <a:off x="603435" y="826568"/>
              <a:ext cx="3886955" cy="231264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886955" cy="2312649"/>
                    </a:xfrm>
                    <a:prstGeom prst="rect">
                      <a:avLst/>
                    </a:prstGeom>
                  </am3d:spPr>
                  <am3d:camera>
                    <am3d:pos x="0" y="0" z="576644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61393" d="1000000"/>
                    <am3d:preTrans dx="0" dy="-649360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53566" ay="-1874177" az="-23620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06399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Light Gray Cuboid">
                <a:extLst>
                  <a:ext uri="{FF2B5EF4-FFF2-40B4-BE49-F238E27FC236}">
                    <a16:creationId xmlns:a16="http://schemas.microsoft.com/office/drawing/2014/main" id="{05FBEEB2-15F8-1C2E-7BEE-8B24F94288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435" y="826568"/>
                <a:ext cx="3886955" cy="231264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205F48E-ACDB-F8DF-E388-225FB1A4C0E8}"/>
              </a:ext>
            </a:extLst>
          </p:cNvPr>
          <p:cNvSpPr/>
          <p:nvPr/>
        </p:nvSpPr>
        <p:spPr>
          <a:xfrm>
            <a:off x="5118565" y="1090636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FC292-D588-ACA1-D17A-1E0DAE1199EF}"/>
              </a:ext>
            </a:extLst>
          </p:cNvPr>
          <p:cNvSpPr/>
          <p:nvPr/>
        </p:nvSpPr>
        <p:spPr>
          <a:xfrm>
            <a:off x="6036955" y="1090636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054F42-76EE-C78D-1AE8-495634FB2CB8}"/>
              </a:ext>
            </a:extLst>
          </p:cNvPr>
          <p:cNvCxnSpPr/>
          <p:nvPr/>
        </p:nvCxnSpPr>
        <p:spPr>
          <a:xfrm>
            <a:off x="6473409" y="1090636"/>
            <a:ext cx="0" cy="971849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35C9B04-94BA-3D8A-EC8F-6A0507DE0D85}"/>
              </a:ext>
            </a:extLst>
          </p:cNvPr>
          <p:cNvSpPr/>
          <p:nvPr/>
        </p:nvSpPr>
        <p:spPr>
          <a:xfrm>
            <a:off x="5156865" y="2571750"/>
            <a:ext cx="1354844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19BB53-0CBD-92AA-0E0F-3B1DD28ABFD8}"/>
              </a:ext>
            </a:extLst>
          </p:cNvPr>
          <p:cNvSpPr/>
          <p:nvPr/>
        </p:nvSpPr>
        <p:spPr>
          <a:xfrm>
            <a:off x="6272337" y="2571750"/>
            <a:ext cx="1069193" cy="971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49879-EDFB-BC08-5C98-6D3E382960BD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AUXILIARY PROJECTION – </a:t>
            </a:r>
            <a:r>
              <a:rPr lang="en-SG" sz="2000" b="1">
                <a:solidFill>
                  <a:srgbClr val="FF0000"/>
                </a:solidFill>
              </a:rPr>
              <a:t>HIDDEN LINES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C60C9-D239-51F0-B1E7-52E4964F91F8}"/>
              </a:ext>
            </a:extLst>
          </p:cNvPr>
          <p:cNvSpPr txBox="1"/>
          <p:nvPr/>
        </p:nvSpPr>
        <p:spPr>
          <a:xfrm>
            <a:off x="504509" y="3646919"/>
            <a:ext cx="849922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When a hidden line coincide with a solid line, only keep the SOLID line.</a:t>
            </a:r>
          </a:p>
        </p:txBody>
      </p:sp>
    </p:spTree>
    <p:extLst>
      <p:ext uri="{BB962C8B-B14F-4D97-AF65-F5344CB8AC3E}">
        <p14:creationId xmlns:p14="http://schemas.microsoft.com/office/powerpoint/2010/main" val="210246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A145-50D0-DAF2-D72C-EDFBA64C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E01C3C-149B-12FF-25D2-174AEAF9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1947211"/>
            <a:ext cx="5842000" cy="28406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B92616-971D-3119-F77D-009CA075F040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6B0F-D259-4366-2CA3-2F6575998E92}"/>
              </a:ext>
            </a:extLst>
          </p:cNvPr>
          <p:cNvSpPr txBox="1"/>
          <p:nvPr/>
        </p:nvSpPr>
        <p:spPr>
          <a:xfrm>
            <a:off x="148385" y="517589"/>
            <a:ext cx="8383463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Visible lines/curves, use solid lines/curves;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lines/curves, use dashed lines/curves.</a:t>
            </a:r>
          </a:p>
          <a:p>
            <a:pPr lvl="0">
              <a:lnSpc>
                <a:spcPct val="150000"/>
              </a:lnSpc>
            </a:pPr>
            <a:r>
              <a:rPr lang="en-US" sz="2000" b="1"/>
              <a:t>‘Layer Properties’ &gt; ‘</a:t>
            </a:r>
            <a:r>
              <a:rPr lang="en-US" sz="2000" b="1" err="1"/>
              <a:t>Linetype</a:t>
            </a:r>
            <a:r>
              <a:rPr lang="en-US" sz="2000" b="1"/>
              <a:t>’ to change solid/dashed lines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CE6E49-D3AE-E638-F4FA-5AD9678A6F28}"/>
              </a:ext>
            </a:extLst>
          </p:cNvPr>
          <p:cNvSpPr/>
          <p:nvPr/>
        </p:nvSpPr>
        <p:spPr>
          <a:xfrm>
            <a:off x="2594610" y="2051100"/>
            <a:ext cx="304800" cy="411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29DB78-B44C-6E86-A89A-FC332381FBEE}"/>
              </a:ext>
            </a:extLst>
          </p:cNvPr>
          <p:cNvSpPr/>
          <p:nvPr/>
        </p:nvSpPr>
        <p:spPr>
          <a:xfrm>
            <a:off x="2830830" y="2778760"/>
            <a:ext cx="320040" cy="597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24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60EC8-46A6-A6BE-03D2-314A27315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F1DCED-7ADF-640E-B021-D2D8ECFF9DDB}"/>
              </a:ext>
            </a:extLst>
          </p:cNvPr>
          <p:cNvSpPr txBox="1"/>
          <p:nvPr/>
        </p:nvSpPr>
        <p:spPr>
          <a:xfrm>
            <a:off x="148385" y="89790"/>
            <a:ext cx="7990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BREAK AT A POINT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07647-8D81-F887-6CC1-E29DF6BAA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00" y="1221124"/>
            <a:ext cx="7142741" cy="28174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FCA6C2-FA37-68DC-26DF-EC63D7420C89}"/>
              </a:ext>
            </a:extLst>
          </p:cNvPr>
          <p:cNvCxnSpPr>
            <a:cxnSpLocks/>
          </p:cNvCxnSpPr>
          <p:nvPr/>
        </p:nvCxnSpPr>
        <p:spPr>
          <a:xfrm>
            <a:off x="2622550" y="1044758"/>
            <a:ext cx="707759" cy="2041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EDDAEF-1D9F-33C9-67AA-616A6317CF73}"/>
              </a:ext>
            </a:extLst>
          </p:cNvPr>
          <p:cNvSpPr txBox="1"/>
          <p:nvPr/>
        </p:nvSpPr>
        <p:spPr>
          <a:xfrm>
            <a:off x="148385" y="514183"/>
            <a:ext cx="7494402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‘Modify’ &gt; ‘Break at a point’: break the line into 2 parts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B205C7-8407-A412-1DBC-878877AA367D}"/>
              </a:ext>
            </a:extLst>
          </p:cNvPr>
          <p:cNvSpPr/>
          <p:nvPr/>
        </p:nvSpPr>
        <p:spPr>
          <a:xfrm>
            <a:off x="3187700" y="3086100"/>
            <a:ext cx="304800" cy="21951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68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EC20-F50F-3816-546D-274770E4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92D702-93DA-FC5F-A41D-7EC1493D817F}"/>
              </a:ext>
            </a:extLst>
          </p:cNvPr>
          <p:cNvSpPr txBox="1"/>
          <p:nvPr/>
        </p:nvSpPr>
        <p:spPr>
          <a:xfrm>
            <a:off x="148384" y="89790"/>
            <a:ext cx="8889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AUXILIARY PROJECTION – </a:t>
            </a:r>
            <a:r>
              <a:rPr kumimoji="0" lang="en-SG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 LINES &amp; BREAK AT A POINT – EXAMPLE - Video</a:t>
            </a:r>
            <a:endParaRPr kumimoji="0" lang="en-SG" sz="16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Screen Recording 2026-07-24 151329">
            <a:hlinkClick r:id="" action="ppaction://media"/>
            <a:extLst>
              <a:ext uri="{FF2B5EF4-FFF2-40B4-BE49-F238E27FC236}">
                <a16:creationId xmlns:a16="http://schemas.microsoft.com/office/drawing/2014/main" id="{2414F416-F63E-04A0-6365-EAEA63BA5A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4950" y="489900"/>
            <a:ext cx="8166100" cy="412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0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7EC1-7D29-D5F7-71F5-27A02D00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294997-447B-BC44-E9A3-9612B9B981CA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WEEK 6 – Prepare for Quiz 1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965FB-E4E5-0028-615F-E8E22B07C56B}"/>
              </a:ext>
            </a:extLst>
          </p:cNvPr>
          <p:cNvSpPr txBox="1"/>
          <p:nvPr/>
        </p:nvSpPr>
        <p:spPr>
          <a:xfrm>
            <a:off x="196278" y="745759"/>
            <a:ext cx="80341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FF0000"/>
                </a:solidFill>
              </a:rPr>
              <a:t>Scope: Auxiliary Projection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Review: E9-E14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22359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CEBD-9639-351B-0A62-32F5E968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80D842-F672-7140-A492-1BE5B4E3E821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WEEK 6 – Prepare for Quiz 1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32CF3-AA6C-214E-3C07-F779A44C7843}"/>
              </a:ext>
            </a:extLst>
          </p:cNvPr>
          <p:cNvSpPr txBox="1"/>
          <p:nvPr/>
        </p:nvSpPr>
        <p:spPr>
          <a:xfrm>
            <a:off x="196278" y="745759"/>
            <a:ext cx="80341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/>
              <a:t>SEATING – </a:t>
            </a:r>
            <a:r>
              <a:rPr lang="en-SG" sz="2000" b="1">
                <a:solidFill>
                  <a:srgbClr val="FF0000"/>
                </a:solidFill>
              </a:rPr>
              <a:t>Every Other Column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/>
              <a:t>QUIZ PAPER (cannot be taken out) – Write down </a:t>
            </a:r>
            <a:r>
              <a:rPr lang="en-US" sz="2000" b="1">
                <a:solidFill>
                  <a:srgbClr val="FF0000"/>
                </a:solidFill>
              </a:rPr>
              <a:t>Name + </a:t>
            </a:r>
            <a:r>
              <a:rPr lang="en-US" sz="2000" b="1" err="1">
                <a:solidFill>
                  <a:srgbClr val="FF0000"/>
                </a:solidFill>
              </a:rPr>
              <a:t>Matr.No</a:t>
            </a:r>
            <a:r>
              <a:rPr lang="en-US" sz="2000" b="1">
                <a:solidFill>
                  <a:srgbClr val="FF0000"/>
                </a:solidFill>
              </a:rPr>
              <a:t>.</a:t>
            </a:r>
            <a:endParaRPr lang="en-SG" sz="2000" b="1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/>
              <a:t>NO INTERNET CONNECTION, ONLY </a:t>
            </a:r>
            <a:r>
              <a:rPr lang="en-SG" sz="2000" b="1" err="1"/>
              <a:t>NTULearn</a:t>
            </a:r>
            <a:r>
              <a:rPr lang="en-SG" sz="2000" b="1"/>
              <a:t> Access</a:t>
            </a:r>
            <a:endParaRPr lang="en-SG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b="1">
                <a:solidFill>
                  <a:srgbClr val="FF0000"/>
                </a:solidFill>
              </a:rPr>
              <a:t>Files to submit: DWG + PDF</a:t>
            </a:r>
          </a:p>
        </p:txBody>
      </p:sp>
    </p:spTree>
    <p:extLst>
      <p:ext uri="{BB962C8B-B14F-4D97-AF65-F5344CB8AC3E}">
        <p14:creationId xmlns:p14="http://schemas.microsoft.com/office/powerpoint/2010/main" val="658135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1D71-D1A0-071C-CE9B-059E0317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597C1B-3837-051B-6E2E-6E4018DC2087}"/>
              </a:ext>
            </a:extLst>
          </p:cNvPr>
          <p:cNvSpPr txBox="1"/>
          <p:nvPr/>
        </p:nvSpPr>
        <p:spPr>
          <a:xfrm>
            <a:off x="148385" y="89790"/>
            <a:ext cx="6491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/>
              <a:t>WEEK 6 – Prepare for Quiz 1</a:t>
            </a:r>
            <a:endParaRPr lang="en-SG" sz="160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31092-0476-10B1-64E7-AC7B92D56AB4}"/>
              </a:ext>
            </a:extLst>
          </p:cNvPr>
          <p:cNvSpPr txBox="1"/>
          <p:nvPr/>
        </p:nvSpPr>
        <p:spPr>
          <a:xfrm>
            <a:off x="196278" y="745759"/>
            <a:ext cx="80341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buFont typeface="Arial" panose="020B0604020202020204" pitchFamily="34" charset="0"/>
              <a:buChar char="•"/>
            </a:pPr>
            <a:r>
              <a:rPr lang="en-SG" sz="2000" b="1"/>
              <a:t>Export </a:t>
            </a:r>
            <a:r>
              <a:rPr lang="en-SG" sz="2000" b="1">
                <a:solidFill>
                  <a:srgbClr val="FF0000"/>
                </a:solidFill>
              </a:rPr>
              <a:t>DWG</a:t>
            </a:r>
            <a:r>
              <a:rPr lang="en-SG" sz="2000" b="1"/>
              <a:t>: </a:t>
            </a:r>
          </a:p>
          <a:p>
            <a:pPr marL="358775"/>
            <a:endParaRPr lang="en-US" sz="2000" b="1"/>
          </a:p>
          <a:p>
            <a:pPr marL="358775"/>
            <a:r>
              <a:rPr lang="en-US" sz="2000" b="1"/>
              <a:t>‘FILE’ &gt; ‘Save As’ &gt; ’.dwg’</a:t>
            </a:r>
          </a:p>
          <a:p>
            <a:endParaRPr lang="en-US" sz="2000" b="1"/>
          </a:p>
          <a:p>
            <a:pPr marL="358775" indent="-358775">
              <a:buFont typeface="Arial" panose="020B0604020202020204" pitchFamily="34" charset="0"/>
              <a:buChar char="•"/>
            </a:pPr>
            <a:r>
              <a:rPr lang="en-US" sz="2000" b="1"/>
              <a:t>Export </a:t>
            </a:r>
            <a:r>
              <a:rPr lang="en-US" sz="2000" b="1">
                <a:solidFill>
                  <a:srgbClr val="FF0000"/>
                </a:solidFill>
              </a:rPr>
              <a:t>PDF</a:t>
            </a:r>
            <a:r>
              <a:rPr lang="en-US" sz="2000" b="1"/>
              <a:t>: </a:t>
            </a:r>
          </a:p>
          <a:p>
            <a:pPr marL="358775"/>
            <a:endParaRPr lang="en-US" sz="2000" b="1"/>
          </a:p>
          <a:p>
            <a:pPr marL="358775"/>
            <a:r>
              <a:rPr lang="en-US" sz="2000" b="1"/>
              <a:t>‘Layout’ tab &gt; Type ‘print’ &gt; Select printer ‘Microsoft print to pdf’ &gt; ‘Preview’ to check &gt; ‘ESC’ exit preview &gt; ‘OK’ to save PDF file</a:t>
            </a:r>
            <a:endParaRPr lang="en-SG" sz="2000" b="1"/>
          </a:p>
        </p:txBody>
      </p:sp>
    </p:spTree>
    <p:extLst>
      <p:ext uri="{BB962C8B-B14F-4D97-AF65-F5344CB8AC3E}">
        <p14:creationId xmlns:p14="http://schemas.microsoft.com/office/powerpoint/2010/main" val="829585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FF1C-B219-7CE3-C5AD-86D5A924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D149A3-74FC-6CCE-F3C7-E427CDFAE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73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C5F5F-4F55-6D63-91AD-1E95354C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CE830D-190D-B414-F574-E19681E25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3" y="0"/>
            <a:ext cx="90994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07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ED89-B4A2-1DED-55E0-77DDE8A7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E79862-795B-F9A6-693D-E6780E167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3" y="0"/>
            <a:ext cx="770899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79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85B9-C8D9-89C4-5150-1BF6BBA0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E8B201-AB13-8994-0818-91D609CB15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07" b="12242"/>
          <a:stretch>
            <a:fillRect/>
          </a:stretch>
        </p:blipFill>
        <p:spPr>
          <a:xfrm>
            <a:off x="4425659" y="691661"/>
            <a:ext cx="2372530" cy="3834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21760B-5066-FBAE-1711-F8431865F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24" y="900866"/>
            <a:ext cx="3537210" cy="35372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625E4E-C5B6-35D1-8C61-074FBDE5ECA9}"/>
              </a:ext>
            </a:extLst>
          </p:cNvPr>
          <p:cNvSpPr txBox="1"/>
          <p:nvPr/>
        </p:nvSpPr>
        <p:spPr>
          <a:xfrm>
            <a:off x="317634" y="168441"/>
            <a:ext cx="5464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download the slides?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D1548D-6A34-28C1-7662-092B62DD3023}"/>
              </a:ext>
            </a:extLst>
          </p:cNvPr>
          <p:cNvCxnSpPr>
            <a:cxnSpLocks/>
          </p:cNvCxnSpPr>
          <p:nvPr/>
        </p:nvCxnSpPr>
        <p:spPr>
          <a:xfrm flipV="1">
            <a:off x="3586555" y="2232204"/>
            <a:ext cx="839104" cy="3767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EBDE5-6742-313A-A601-E9BD34625D5A}"/>
              </a:ext>
            </a:extLst>
          </p:cNvPr>
          <p:cNvSpPr/>
          <p:nvPr/>
        </p:nvSpPr>
        <p:spPr>
          <a:xfrm>
            <a:off x="5260065" y="4135176"/>
            <a:ext cx="1259095" cy="1867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1E8848-B37F-2DB5-41B4-CCC4F7883E69}"/>
              </a:ext>
            </a:extLst>
          </p:cNvPr>
          <p:cNvCxnSpPr>
            <a:cxnSpLocks/>
          </p:cNvCxnSpPr>
          <p:nvPr/>
        </p:nvCxnSpPr>
        <p:spPr>
          <a:xfrm flipH="1">
            <a:off x="6113837" y="3622345"/>
            <a:ext cx="315971" cy="425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67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8E816AC679FF4C86C22834E825BD05" ma:contentTypeVersion="1" ma:contentTypeDescription="Create a new document." ma:contentTypeScope="" ma:versionID="066e42d507d75a122d0db91dd470f30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48c5b5cd9b8d25ff6dd15848836f4270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4D3FE7-A0C8-4453-A806-BCAD6F53B901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schemas.microsoft.com/sharepoint/v3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FA540F8-4ACB-4DC8-920F-A3CE5A42B988}">
  <ds:schemaRefs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CCB8030-6F99-446F-BD3B-E5E3F435F1F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441</Words>
  <Application>Microsoft Office PowerPoint</Application>
  <PresentationFormat>On-screen Show (16:9)</PresentationFormat>
  <Paragraphs>84</Paragraphs>
  <Slides>18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#HUANG XINYA#</cp:lastModifiedBy>
  <cp:revision>6</cp:revision>
  <dcterms:created xsi:type="dcterms:W3CDTF">2017-05-14T01:29:56Z</dcterms:created>
  <dcterms:modified xsi:type="dcterms:W3CDTF">2026-09-09T03:01:33Z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0x010100E28E816AC679FF4C86C22834E825BD05</vt:lpwstr>
  </property>
</Properties>
</file>