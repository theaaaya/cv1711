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38"/>
  </p:notesMasterIdLst>
  <p:handoutMasterIdLst>
    <p:handoutMasterId r:id="rId39"/>
  </p:handoutMasterIdLst>
  <p:sldIdLst>
    <p:sldId id="259" r:id="rId5"/>
    <p:sldId id="281" r:id="rId6"/>
    <p:sldId id="314" r:id="rId7"/>
    <p:sldId id="316" r:id="rId8"/>
    <p:sldId id="348" r:id="rId9"/>
    <p:sldId id="365" r:id="rId10"/>
    <p:sldId id="317" r:id="rId11"/>
    <p:sldId id="350" r:id="rId12"/>
    <p:sldId id="352" r:id="rId13"/>
    <p:sldId id="353" r:id="rId14"/>
    <p:sldId id="354" r:id="rId15"/>
    <p:sldId id="358" r:id="rId16"/>
    <p:sldId id="355" r:id="rId17"/>
    <p:sldId id="325" r:id="rId18"/>
    <p:sldId id="307" r:id="rId19"/>
    <p:sldId id="318" r:id="rId20"/>
    <p:sldId id="356" r:id="rId21"/>
    <p:sldId id="326" r:id="rId22"/>
    <p:sldId id="366" r:id="rId23"/>
    <p:sldId id="305" r:id="rId24"/>
    <p:sldId id="319" r:id="rId25"/>
    <p:sldId id="359" r:id="rId26"/>
    <p:sldId id="367" r:id="rId27"/>
    <p:sldId id="360" r:id="rId28"/>
    <p:sldId id="320" r:id="rId29"/>
    <p:sldId id="361" r:id="rId30"/>
    <p:sldId id="363" r:id="rId31"/>
    <p:sldId id="362" r:id="rId32"/>
    <p:sldId id="322" r:id="rId33"/>
    <p:sldId id="323" r:id="rId34"/>
    <p:sldId id="324" r:id="rId35"/>
    <p:sldId id="265" r:id="rId36"/>
    <p:sldId id="327" r:id="rId37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F81BD"/>
    <a:srgbClr val="FFFF00"/>
    <a:srgbClr val="DCE6F2"/>
    <a:srgbClr val="AED5A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E971118-12EC-48D9-83FC-E3CBEAAD089D}" v="1" dt="2026-10-06T04:30:10.39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74092" autoAdjust="0"/>
  </p:normalViewPr>
  <p:slideViewPr>
    <p:cSldViewPr snapToGrid="0">
      <p:cViewPr varScale="1">
        <p:scale>
          <a:sx n="108" d="100"/>
          <a:sy n="108" d="100"/>
        </p:scale>
        <p:origin x="1704" y="10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handoutMaster" Target="handoutMasters/handoutMaster1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theme" Target="theme/theme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presProps" Target="presProps.xml"/><Relationship Id="rId45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tableStyles" Target="tableStyle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notesMaster" Target="notesMasters/notesMaster1.xml"/><Relationship Id="rId20" Type="http://schemas.openxmlformats.org/officeDocument/2006/relationships/slide" Target="slides/slide16.xml"/><Relationship Id="rId41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#HUANG XINYA#" userId="0394e048-be67-4ff5-b348-88acdc9df0d1" providerId="ADAL" clId="{817F73F0-AC24-4E52-87B6-779E04DFBBB7}"/>
    <pc:docChg chg="delSld modSld sldOrd">
      <pc:chgData name="#HUANG XINYA#" userId="0394e048-be67-4ff5-b348-88acdc9df0d1" providerId="ADAL" clId="{817F73F0-AC24-4E52-87B6-779E04DFBBB7}" dt="2026-10-06T04:32:30.139" v="3" actId="2696"/>
      <pc:docMkLst>
        <pc:docMk/>
      </pc:docMkLst>
      <pc:sldChg chg="del">
        <pc:chgData name="#HUANG XINYA#" userId="0394e048-be67-4ff5-b348-88acdc9df0d1" providerId="ADAL" clId="{817F73F0-AC24-4E52-87B6-779E04DFBBB7}" dt="2026-10-06T04:31:33.595" v="0" actId="2696"/>
        <pc:sldMkLst>
          <pc:docMk/>
          <pc:sldMk cId="756178142" sldId="328"/>
        </pc:sldMkLst>
      </pc:sldChg>
      <pc:sldChg chg="del">
        <pc:chgData name="#HUANG XINYA#" userId="0394e048-be67-4ff5-b348-88acdc9df0d1" providerId="ADAL" clId="{817F73F0-AC24-4E52-87B6-779E04DFBBB7}" dt="2026-10-06T04:31:33.595" v="0" actId="2696"/>
        <pc:sldMkLst>
          <pc:docMk/>
          <pc:sldMk cId="1235230076" sldId="347"/>
        </pc:sldMkLst>
      </pc:sldChg>
      <pc:sldChg chg="del ord">
        <pc:chgData name="#HUANG XINYA#" userId="0394e048-be67-4ff5-b348-88acdc9df0d1" providerId="ADAL" clId="{817F73F0-AC24-4E52-87B6-779E04DFBBB7}" dt="2026-10-06T04:32:30.139" v="3" actId="2696"/>
        <pc:sldMkLst>
          <pc:docMk/>
          <pc:sldMk cId="545510443" sldId="364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>
              <a:latin typeface="Arial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EFC5B3-379E-EF40-A0D2-38E640436CC2}" type="datetimeFigureOut">
              <a:rPr lang="en-US" smtClean="0">
                <a:latin typeface="Arial"/>
              </a:rPr>
              <a:t>10/6/2026</a:t>
            </a:fld>
            <a:endParaRPr lang="en-US">
              <a:latin typeface="Arial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>
              <a:latin typeface="Arial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A029101-7F9C-2D47-B95D-7561785BF174}" type="slidenum">
              <a:rPr lang="en-US" smtClean="0">
                <a:latin typeface="Arial"/>
              </a:rPr>
              <a:t>‹#›</a:t>
            </a:fld>
            <a:endParaRPr lang="en-US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611757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9D6C49-6F48-4F46-A0C4-F823054334BD}" type="datetimeFigureOut">
              <a:rPr lang="en-GB" smtClean="0"/>
              <a:t>06/10/2026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5B86D8-D67E-429E-B575-006BC027FE4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118220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5B86D8-D67E-429E-B575-006BC027FE49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307743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5B86D8-D67E-429E-B575-006BC027FE49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78446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br>
              <a:rPr lang="en-GB" dirty="0"/>
            </a:b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5B86D8-D67E-429E-B575-006BC027FE49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3865564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75B846-2023-EABD-80E3-2AB4F09639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BD4BD04-B20C-0E89-C706-126CB6A18E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6EA2F60-ACA4-E624-CACF-A0A58CC93B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3B93A7-5B42-A17C-D9F6-DDE663DCDC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5B86D8-D67E-429E-B575-006BC027FE49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5007760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E5B86D8-D67E-429E-B575-006BC027FE49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5135625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5B86D8-D67E-429E-B575-006BC027FE49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3756692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5B86D8-D67E-429E-B575-006BC027FE49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6136203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5B86D8-D67E-429E-B575-006BC027FE49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7087431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5B86D8-D67E-429E-B575-006BC027FE49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1035946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5B86D8-D67E-429E-B575-006BC027FE49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727925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5B86D8-D67E-429E-B575-006BC027FE49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6283294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5B86D8-D67E-429E-B575-006BC027FE49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4161893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5B86D8-D67E-429E-B575-006BC027FE49}" type="slidenum">
              <a:rPr lang="en-GB" smtClean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7158149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5B86D8-D67E-429E-B575-006BC027FE49}" type="slidenum">
              <a:rPr lang="en-GB" smtClean="0"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7709317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5B86D8-D67E-429E-B575-006BC027FE49}" type="slidenum">
              <a:rPr lang="en-GB" smtClean="0"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0577261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5B86D8-D67E-429E-B575-006BC027FE49}" type="slidenum">
              <a:rPr lang="en-GB" smtClean="0"/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1755513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5B86D8-D67E-429E-B575-006BC027FE49}" type="slidenum">
              <a:rPr lang="en-GB" smtClean="0"/>
              <a:t>18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6404542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E5B86D8-D67E-429E-B575-006BC027FE49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5135625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5B86D8-D67E-429E-B575-006BC027FE49}" type="slidenum">
              <a:rPr lang="en-GB" smtClean="0"/>
              <a:t>20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6583498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5B86D8-D67E-429E-B575-006BC027FE49}" type="slidenum">
              <a:rPr lang="en-GB" smtClean="0"/>
              <a:t>21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0579813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5B86D8-D67E-429E-B575-006BC027FE49}" type="slidenum">
              <a:rPr lang="en-GB" smtClean="0"/>
              <a:t>22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8194088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E5B86D8-D67E-429E-B575-006BC027FE49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5135625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5B86D8-D67E-429E-B575-006BC027FE49}" type="slidenum">
              <a:rPr lang="en-GB" smtClean="0"/>
              <a:t>24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529473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5B86D8-D67E-429E-B575-006BC027FE49}" type="slidenum">
              <a:rPr lang="en-GB" smtClean="0"/>
              <a:t>25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5839907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5B86D8-D67E-429E-B575-006BC027FE49}" type="slidenum">
              <a:rPr lang="en-GB" smtClean="0"/>
              <a:t>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5032872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E5B86D8-D67E-429E-B575-006BC027FE49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5135625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D4EBE5-3FBB-E58F-113D-8A913625FA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697ABD9-C9CF-C9E6-0C2A-0FD90DEF50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DFC8FF3-0BAE-88C3-D63A-AD3B8C3A3A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5911DA-E46E-5911-B134-CED1529BFB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5B86D8-D67E-429E-B575-006BC027FE49}" type="slidenum">
              <a:rPr lang="en-GB" smtClean="0"/>
              <a:t>28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757617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5B86D8-D67E-429E-B575-006BC027FE49}" type="slidenum">
              <a:rPr lang="en-GB" smtClean="0"/>
              <a:t>29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0494255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5B86D8-D67E-429E-B575-006BC027FE49}" type="slidenum">
              <a:rPr lang="en-GB" smtClean="0"/>
              <a:t>30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6012219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5B86D8-D67E-429E-B575-006BC027FE49}" type="slidenum">
              <a:rPr lang="en-GB" smtClean="0"/>
              <a:t>31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8059491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5B86D8-D67E-429E-B575-006BC027FE49}" type="slidenum">
              <a:rPr lang="en-GB" smtClean="0"/>
              <a:t>32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405492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5B86D8-D67E-429E-B575-006BC027FE49}" type="slidenum">
              <a:rPr lang="en-GB" smtClean="0"/>
              <a:t>33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139134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CC899-6CEC-9548-B06D-7E1EB6F78CA3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562B1-0B0F-0246-9532-09536BC2AE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24057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CC899-6CEC-9548-B06D-7E1EB6F78CA3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562B1-0B0F-0246-9532-09536BC2AE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29431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305176"/>
            <a:ext cx="82296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2180035"/>
            <a:ext cx="82296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CC899-6CEC-9548-B06D-7E1EB6F78CA3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562B1-0B0F-0246-9532-09536BC2AE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5841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CC899-6CEC-9548-B06D-7E1EB6F78CA3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562B1-0B0F-0246-9532-09536BC2AE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15388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39124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871068"/>
            <a:ext cx="4040188" cy="272130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39124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871068"/>
            <a:ext cx="4041775" cy="272130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CC899-6CEC-9548-B06D-7E1EB6F78CA3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562B1-0B0F-0246-9532-09536BC2AE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34906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CC899-6CEC-9548-B06D-7E1EB6F78CA3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562B1-0B0F-0246-9532-09536BC2AE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18491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CC899-6CEC-9548-B06D-7E1EB6F78CA3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562B1-0B0F-0246-9532-09536BC2AE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44856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591463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591464"/>
            <a:ext cx="5111750" cy="40486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593860"/>
            <a:ext cx="3008313" cy="3046254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CC899-6CEC-9548-B06D-7E1EB6F78CA3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562B1-0B0F-0246-9532-09536BC2AE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77747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CC899-6CEC-9548-B06D-7E1EB6F78CA3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562B1-0B0F-0246-9532-09536BC2AE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28996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422724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416896"/>
            <a:ext cx="8229600" cy="29070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361530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/>
              </a:defRPr>
            </a:lvl1pPr>
          </a:lstStyle>
          <a:p>
            <a:fld id="{9F1CC899-6CEC-9548-B06D-7E1EB6F78CA3}" type="datetimeFigureOut">
              <a:rPr lang="en-US" smtClean="0"/>
              <a:pPr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361530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361530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tint val="75000"/>
                  </a:schemeClr>
                </a:solidFill>
                <a:latin typeface="Arial"/>
              </a:defRPr>
            </a:lvl1pPr>
          </a:lstStyle>
          <a:p>
            <a:fld id="{8E6562B1-0B0F-0246-9532-09536BC2AE5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872191"/>
            <a:ext cx="9144000" cy="286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19309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txStyles>
    <p:titleStyle>
      <a:lvl1pPr algn="l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Arial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Arial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Arial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Arial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Arial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Arial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9Cppki7xaQQ?feature=oembed" TargetMode="External"/><Relationship Id="rId4" Type="http://schemas.openxmlformats.org/officeDocument/2006/relationships/image" Target="../media/image6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8.png"/><Relationship Id="rId4" Type="http://schemas.openxmlformats.org/officeDocument/2006/relationships/notesSlide" Target="../notesSlides/notesSlide1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HrcmENMpgGM?feature=oembed" TargetMode="External"/><Relationship Id="rId4" Type="http://schemas.openxmlformats.org/officeDocument/2006/relationships/image" Target="../media/image9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5" Type="http://schemas.openxmlformats.org/officeDocument/2006/relationships/image" Target="../media/image12.png"/><Relationship Id="rId4" Type="http://schemas.openxmlformats.org/officeDocument/2006/relationships/notesSlide" Target="../notesSlides/notesSlide1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SYlWzqpXYXk?feature=oembed" TargetMode="External"/><Relationship Id="rId4" Type="http://schemas.openxmlformats.org/officeDocument/2006/relationships/image" Target="../media/image13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HO8zCxEeGnw?feature=oembed" TargetMode="External"/><Relationship Id="rId4" Type="http://schemas.openxmlformats.org/officeDocument/2006/relationships/image" Target="../media/image18.jpe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3.mp4"/><Relationship Id="rId1" Type="http://schemas.microsoft.com/office/2007/relationships/media" Target="../media/media3.mp4"/><Relationship Id="rId5" Type="http://schemas.openxmlformats.org/officeDocument/2006/relationships/image" Target="../media/image24.png"/><Relationship Id="rId4" Type="http://schemas.openxmlformats.org/officeDocument/2006/relationships/notesSlide" Target="../notesSlides/notesSlide28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microsoft.com/office/2007/relationships/media" Target="../media/media5.mp4"/><Relationship Id="rId7" Type="http://schemas.openxmlformats.org/officeDocument/2006/relationships/image" Target="../media/image25.png"/><Relationship Id="rId2" Type="http://schemas.openxmlformats.org/officeDocument/2006/relationships/video" Target="../media/media4.mp4"/><Relationship Id="rId1" Type="http://schemas.microsoft.com/office/2007/relationships/media" Target="../media/media4.mp4"/><Relationship Id="rId6" Type="http://schemas.openxmlformats.org/officeDocument/2006/relationships/notesSlide" Target="../notesSlides/notesSlide30.xml"/><Relationship Id="rId5" Type="http://schemas.openxmlformats.org/officeDocument/2006/relationships/slideLayout" Target="../slideLayouts/slideLayout2.xml"/><Relationship Id="rId4" Type="http://schemas.openxmlformats.org/officeDocument/2006/relationships/video" Target="../media/media5.mp4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8303" y="1189841"/>
            <a:ext cx="5336535" cy="1481170"/>
          </a:xfrm>
        </p:spPr>
        <p:txBody>
          <a:bodyPr>
            <a:normAutofit/>
          </a:bodyPr>
          <a:lstStyle/>
          <a:p>
            <a:r>
              <a:rPr lang="en-US" sz="3000" b="1">
                <a:solidFill>
                  <a:schemeClr val="bg1"/>
                </a:solidFill>
                <a:cs typeface="Arial"/>
              </a:rPr>
              <a:t>CV1711 ENGINEERING DRAWING &amp; 3D BUILD </a:t>
            </a:r>
            <a:br>
              <a:rPr lang="en-US" sz="3000" b="1">
                <a:solidFill>
                  <a:schemeClr val="bg1"/>
                </a:solidFill>
                <a:cs typeface="Arial"/>
              </a:rPr>
            </a:br>
            <a:r>
              <a:rPr lang="en-US" sz="3000" b="1">
                <a:solidFill>
                  <a:schemeClr val="bg1"/>
                </a:solidFill>
                <a:cs typeface="Arial"/>
              </a:rPr>
              <a:t>INFO MODEL (LAB)</a:t>
            </a:r>
          </a:p>
        </p:txBody>
      </p:sp>
    </p:spTree>
    <p:extLst>
      <p:ext uri="{BB962C8B-B14F-4D97-AF65-F5344CB8AC3E}">
        <p14:creationId xmlns:p14="http://schemas.microsoft.com/office/powerpoint/2010/main" val="18979861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553C8F-D3E4-50C1-1F91-38A87974A1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5C4F215-BAF7-C5C8-7FEB-FC044925CA36}"/>
              </a:ext>
            </a:extLst>
          </p:cNvPr>
          <p:cNvSpPr txBox="1"/>
          <p:nvPr/>
        </p:nvSpPr>
        <p:spPr>
          <a:xfrm>
            <a:off x="317634" y="168441"/>
            <a:ext cx="59628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/>
              <a:t>WEEK </a:t>
            </a:r>
            <a:r>
              <a:rPr lang="en-US" altLang="zh-CN" sz="2800" b="1"/>
              <a:t>8</a:t>
            </a:r>
            <a:r>
              <a:rPr lang="en-US" sz="2800" b="1"/>
              <a:t> – BIM &amp; Autodesk Revit Basics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8FAB58D-3157-2BB5-2E7D-843A5C4B6F52}"/>
              </a:ext>
            </a:extLst>
          </p:cNvPr>
          <p:cNvSpPr txBox="1"/>
          <p:nvPr/>
        </p:nvSpPr>
        <p:spPr>
          <a:xfrm>
            <a:off x="317634" y="1371421"/>
            <a:ext cx="829942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000"/>
              <a:t>BIM is an intelligent </a:t>
            </a:r>
            <a:r>
              <a:rPr lang="en-US" sz="2000" b="1">
                <a:solidFill>
                  <a:srgbClr val="FF0000"/>
                </a:solidFill>
              </a:rPr>
              <a:t>digital process </a:t>
            </a:r>
            <a:r>
              <a:rPr lang="en-US" sz="2000"/>
              <a:t>that uses </a:t>
            </a:r>
            <a:r>
              <a:rPr lang="en-US" sz="2000" b="1">
                <a:solidFill>
                  <a:srgbClr val="FF0000"/>
                </a:solidFill>
              </a:rPr>
              <a:t>3D models </a:t>
            </a:r>
            <a:r>
              <a:rPr lang="en-US" sz="2000"/>
              <a:t>enriched with </a:t>
            </a:r>
            <a:r>
              <a:rPr lang="en-US" sz="2000" b="1">
                <a:solidFill>
                  <a:srgbClr val="FF0000"/>
                </a:solidFill>
              </a:rPr>
              <a:t>multidisciplinary data </a:t>
            </a:r>
            <a:r>
              <a:rPr lang="en-US" sz="2000"/>
              <a:t>to support the </a:t>
            </a:r>
            <a:r>
              <a:rPr lang="en-US" sz="2000" b="1">
                <a:solidFill>
                  <a:srgbClr val="FF0000"/>
                </a:solidFill>
              </a:rPr>
              <a:t>planning, design, construction, and lifecycle management</a:t>
            </a:r>
            <a:r>
              <a:rPr lang="en-US" sz="2000"/>
              <a:t> of buildings and infrastructure, enabling collaboration, efficiency, and informed decision-making across stakeholders.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F7547BF-A463-8A88-937E-0C7153BD7EEA}"/>
              </a:ext>
            </a:extLst>
          </p:cNvPr>
          <p:cNvSpPr txBox="1"/>
          <p:nvPr/>
        </p:nvSpPr>
        <p:spPr>
          <a:xfrm>
            <a:off x="317633" y="848606"/>
            <a:ext cx="55794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/>
              <a:t>Building Information Modeling (BIM)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95D2C01-C208-1DFD-32D7-5DDE436B5A85}"/>
              </a:ext>
            </a:extLst>
          </p:cNvPr>
          <p:cNvSpPr txBox="1"/>
          <p:nvPr/>
        </p:nvSpPr>
        <p:spPr>
          <a:xfrm>
            <a:off x="317632" y="2851805"/>
            <a:ext cx="55794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/>
              <a:t>Autodesk Revit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BC051F1-983B-775F-6A6B-D292E0945665}"/>
              </a:ext>
            </a:extLst>
          </p:cNvPr>
          <p:cNvSpPr txBox="1"/>
          <p:nvPr/>
        </p:nvSpPr>
        <p:spPr>
          <a:xfrm>
            <a:off x="317634" y="3374620"/>
            <a:ext cx="829942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000" b="1">
                <a:solidFill>
                  <a:srgbClr val="FF0000"/>
                </a:solidFill>
              </a:rPr>
              <a:t>Autodesk Revit </a:t>
            </a:r>
            <a:r>
              <a:rPr lang="en-US" sz="2000"/>
              <a:t>is the </a:t>
            </a:r>
            <a:r>
              <a:rPr lang="en-US" sz="2000" b="1">
                <a:solidFill>
                  <a:srgbClr val="FF0000"/>
                </a:solidFill>
              </a:rPr>
              <a:t>most widely used BIM software</a:t>
            </a:r>
            <a:r>
              <a:rPr lang="en-US" sz="2000"/>
              <a:t>, enabling architects, engineers, and construction professionals to collaboratively design, visualize, and manage building projects across their lifecycle.</a:t>
            </a:r>
          </a:p>
        </p:txBody>
      </p:sp>
    </p:spTree>
    <p:extLst>
      <p:ext uri="{BB962C8B-B14F-4D97-AF65-F5344CB8AC3E}">
        <p14:creationId xmlns:p14="http://schemas.microsoft.com/office/powerpoint/2010/main" val="16381025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C186B7-7530-EC06-1B3E-F352A347C9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CBF11B8-D00A-5DD2-EB9D-63C735D1DF6A}"/>
              </a:ext>
            </a:extLst>
          </p:cNvPr>
          <p:cNvSpPr txBox="1"/>
          <p:nvPr/>
        </p:nvSpPr>
        <p:spPr>
          <a:xfrm>
            <a:off x="317634" y="168441"/>
            <a:ext cx="59628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/>
              <a:t>WEEK </a:t>
            </a:r>
            <a:r>
              <a:rPr lang="en-US" altLang="zh-CN" sz="2800" b="1"/>
              <a:t>8</a:t>
            </a:r>
            <a:r>
              <a:rPr lang="en-US" sz="2800" b="1"/>
              <a:t> – BIM &amp; Autodesk Revit Basics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26CE499-DA34-EB47-C8BB-8D87D204EAF0}"/>
              </a:ext>
            </a:extLst>
          </p:cNvPr>
          <p:cNvSpPr txBox="1"/>
          <p:nvPr/>
        </p:nvSpPr>
        <p:spPr>
          <a:xfrm>
            <a:off x="317634" y="771898"/>
            <a:ext cx="8578393" cy="4280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Following </a:t>
            </a:r>
            <a:r>
              <a:rPr lang="en-US" sz="2800" dirty="0" err="1"/>
              <a:t>NTLearn</a:t>
            </a:r>
            <a:r>
              <a:rPr lang="en-US" sz="2800" dirty="0"/>
              <a:t> and </a:t>
            </a:r>
            <a:r>
              <a:rPr lang="en-US" sz="2800" dirty="0" err="1"/>
              <a:t>Linkedin</a:t>
            </a:r>
            <a:r>
              <a:rPr lang="en-US" sz="2800" dirty="0"/>
              <a:t> videos to learn Revit basic operations </a:t>
            </a:r>
            <a:r>
              <a:rPr lang="en-GB" sz="2800" dirty="0"/>
              <a:t>(Course Content &gt; Content &gt; </a:t>
            </a:r>
            <a:r>
              <a:rPr lang="en-GB" sz="2800" dirty="0">
                <a:solidFill>
                  <a:srgbClr val="FF0000"/>
                </a:solidFill>
              </a:rPr>
              <a:t>Note-Part 2</a:t>
            </a:r>
            <a:r>
              <a:rPr lang="en-GB" sz="2800" dirty="0"/>
              <a:t>) </a:t>
            </a:r>
            <a:endParaRPr lang="en-US" sz="2800" b="1" dirty="0"/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FF0000"/>
                </a:solidFill>
              </a:rPr>
              <a:t>Submit: R1-4 by the end of WEEK 8.</a:t>
            </a:r>
            <a:endParaRPr lang="en-SG" sz="2800" dirty="0">
              <a:solidFill>
                <a:srgbClr val="FF0000"/>
              </a:solidFill>
            </a:endParaRPr>
          </a:p>
          <a:p>
            <a:pPr>
              <a:lnSpc>
                <a:spcPct val="200000"/>
              </a:lnSpc>
            </a:pPr>
            <a:endParaRPr lang="en-SG" sz="2800" dirty="0"/>
          </a:p>
        </p:txBody>
      </p:sp>
    </p:spTree>
    <p:extLst>
      <p:ext uri="{BB962C8B-B14F-4D97-AF65-F5344CB8AC3E}">
        <p14:creationId xmlns:p14="http://schemas.microsoft.com/office/powerpoint/2010/main" val="15990205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010E99-625C-68F4-5570-BDF3611243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B5563C1-12A0-2249-D44D-D9AAACCECEA3}"/>
              </a:ext>
            </a:extLst>
          </p:cNvPr>
          <p:cNvSpPr txBox="1"/>
          <p:nvPr/>
        </p:nvSpPr>
        <p:spPr>
          <a:xfrm>
            <a:off x="317634" y="168441"/>
            <a:ext cx="59628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/>
              <a:t>WEEK </a:t>
            </a:r>
            <a:r>
              <a:rPr lang="en-US" altLang="zh-CN" sz="2800" b="1"/>
              <a:t>8</a:t>
            </a:r>
            <a:r>
              <a:rPr lang="en-US" sz="2800" b="1"/>
              <a:t> – Basic concepts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1723B61-C411-6003-7C75-108B28890282}"/>
              </a:ext>
            </a:extLst>
          </p:cNvPr>
          <p:cNvSpPr txBox="1"/>
          <p:nvPr/>
        </p:nvSpPr>
        <p:spPr>
          <a:xfrm>
            <a:off x="317633" y="691661"/>
            <a:ext cx="7198639" cy="18912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/>
              <a:t>Family – System/Component/In-place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/>
              <a:t>Family Anatomy – Reference/Dimension/Parameter/3D Mass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/>
              <a:t>B</a:t>
            </a:r>
            <a:r>
              <a:rPr lang="en-US" altLang="zh-CN" sz="2000" b="1"/>
              <a:t>asic Operations – Extrusions/Sweeps/Blends/Voids/Profile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/>
              <a:t>For sweeping, two phases – I Path / II Profile</a:t>
            </a:r>
            <a:endParaRPr lang="en-SG" sz="2000"/>
          </a:p>
        </p:txBody>
      </p:sp>
    </p:spTree>
    <p:extLst>
      <p:ext uri="{BB962C8B-B14F-4D97-AF65-F5344CB8AC3E}">
        <p14:creationId xmlns:p14="http://schemas.microsoft.com/office/powerpoint/2010/main" val="30049216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3F41AF-E3F5-F601-D1E0-0EC440BB44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98FAF22-00D9-0DE3-60E4-36FA5062F9A1}"/>
              </a:ext>
            </a:extLst>
          </p:cNvPr>
          <p:cNvSpPr txBox="1"/>
          <p:nvPr/>
        </p:nvSpPr>
        <p:spPr>
          <a:xfrm>
            <a:off x="317634" y="168441"/>
            <a:ext cx="59628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/>
              <a:t>WEEK </a:t>
            </a:r>
            <a:r>
              <a:rPr lang="en-US" altLang="zh-CN" sz="2800" b="1"/>
              <a:t>8</a:t>
            </a:r>
            <a:r>
              <a:rPr lang="en-US" sz="2800" b="1"/>
              <a:t> – Scope of Quiz 2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E02E785-ED3F-86EA-DE88-6EC1F4C38E8A}"/>
              </a:ext>
            </a:extLst>
          </p:cNvPr>
          <p:cNvSpPr txBox="1"/>
          <p:nvPr/>
        </p:nvSpPr>
        <p:spPr>
          <a:xfrm>
            <a:off x="317633" y="691661"/>
            <a:ext cx="7198639" cy="23529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/>
              <a:t>Create </a:t>
            </a:r>
            <a:r>
              <a:rPr lang="en-US" sz="2000" b="1">
                <a:solidFill>
                  <a:srgbClr val="FF0000"/>
                </a:solidFill>
              </a:rPr>
              <a:t>3D Mass/Void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/>
              <a:t>Understanding the use of :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>
                <a:solidFill>
                  <a:srgbClr val="FF0000"/>
                </a:solidFill>
              </a:rPr>
              <a:t>Extrusion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>
                <a:solidFill>
                  <a:srgbClr val="FF0000"/>
                </a:solidFill>
              </a:rPr>
              <a:t>Sweep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>
                <a:solidFill>
                  <a:srgbClr val="FF0000"/>
                </a:solidFill>
              </a:rPr>
              <a:t>Blend</a:t>
            </a:r>
            <a:endParaRPr lang="en-SG" sz="200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321439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066AF-A921-28C1-8AF9-8942C769A0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EE9430D9-C363-3DAC-53C7-736738E91F4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3207" b="12242"/>
          <a:stretch>
            <a:fillRect/>
          </a:stretch>
        </p:blipFill>
        <p:spPr>
          <a:xfrm>
            <a:off x="4425659" y="691661"/>
            <a:ext cx="2372530" cy="383456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519DC58-D837-9D48-A223-711F461AA8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4524" y="900866"/>
            <a:ext cx="3537210" cy="353721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F7CF7B7-7CE4-AE82-E71E-3279B130976D}"/>
              </a:ext>
            </a:extLst>
          </p:cNvPr>
          <p:cNvSpPr txBox="1"/>
          <p:nvPr/>
        </p:nvSpPr>
        <p:spPr>
          <a:xfrm>
            <a:off x="317634" y="168441"/>
            <a:ext cx="54649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Where to download the slides?</a:t>
            </a:r>
            <a:endParaRPr kumimoji="0" lang="en-US" altLang="zh-CN" sz="2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6CD26AAB-4A93-9ECB-14BE-61E6F44E5164}"/>
              </a:ext>
            </a:extLst>
          </p:cNvPr>
          <p:cNvCxnSpPr>
            <a:cxnSpLocks/>
          </p:cNvCxnSpPr>
          <p:nvPr/>
        </p:nvCxnSpPr>
        <p:spPr>
          <a:xfrm flipV="1">
            <a:off x="3586555" y="2232204"/>
            <a:ext cx="839104" cy="37673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9B088EBD-1777-E072-C48A-7B3EB1AD8169}"/>
              </a:ext>
            </a:extLst>
          </p:cNvPr>
          <p:cNvSpPr/>
          <p:nvPr/>
        </p:nvSpPr>
        <p:spPr>
          <a:xfrm>
            <a:off x="5260065" y="4135176"/>
            <a:ext cx="1259095" cy="18671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F3545CA8-659F-6416-28CF-C6D29B01723D}"/>
              </a:ext>
            </a:extLst>
          </p:cNvPr>
          <p:cNvCxnSpPr>
            <a:cxnSpLocks/>
          </p:cNvCxnSpPr>
          <p:nvPr/>
        </p:nvCxnSpPr>
        <p:spPr>
          <a:xfrm flipH="1">
            <a:off x="6113837" y="3622345"/>
            <a:ext cx="315971" cy="42528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751724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289602-684B-B053-E900-FEC5304A9F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829842A-F836-C5D1-BDD9-3FFC2443B7E3}"/>
              </a:ext>
            </a:extLst>
          </p:cNvPr>
          <p:cNvSpPr txBox="1"/>
          <p:nvPr/>
        </p:nvSpPr>
        <p:spPr>
          <a:xfrm>
            <a:off x="317634" y="168441"/>
            <a:ext cx="59628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/>
              <a:t>WEEK </a:t>
            </a:r>
            <a:r>
              <a:rPr lang="en-US" altLang="zh-CN" sz="2800" b="1"/>
              <a:t>9</a:t>
            </a:r>
            <a:r>
              <a:rPr lang="en-US" sz="2800" b="1"/>
              <a:t> – Recap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5C37909-82EA-1836-73EE-DE59F102FB94}"/>
              </a:ext>
            </a:extLst>
          </p:cNvPr>
          <p:cNvSpPr txBox="1"/>
          <p:nvPr/>
        </p:nvSpPr>
        <p:spPr>
          <a:xfrm>
            <a:off x="317633" y="691661"/>
            <a:ext cx="7198639" cy="23529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/>
              <a:t>Recap: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/>
              <a:t>Family – System/Component/In-place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/>
              <a:t>Family Anatomy – Reference/Dimension/Parameter/3D Mass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/>
              <a:t>B</a:t>
            </a:r>
            <a:r>
              <a:rPr lang="en-US" altLang="zh-CN" sz="2000" b="1"/>
              <a:t>asic Operations – Extrusions/Sweeps/Blends/Voids/Profile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/>
              <a:t>For sweeping, two phases – I Path / II Profile</a:t>
            </a:r>
            <a:endParaRPr lang="en-SG" sz="2000"/>
          </a:p>
        </p:txBody>
      </p:sp>
    </p:spTree>
    <p:extLst>
      <p:ext uri="{BB962C8B-B14F-4D97-AF65-F5344CB8AC3E}">
        <p14:creationId xmlns:p14="http://schemas.microsoft.com/office/powerpoint/2010/main" val="6848624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58DEFC-F34F-4D41-9F70-E06CFD09B7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E81747A-951B-5AB6-8717-257C77E69531}"/>
              </a:ext>
            </a:extLst>
          </p:cNvPr>
          <p:cNvSpPr txBox="1"/>
          <p:nvPr/>
        </p:nvSpPr>
        <p:spPr>
          <a:xfrm>
            <a:off x="317634" y="168441"/>
            <a:ext cx="59628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/>
              <a:t>WEEK </a:t>
            </a:r>
            <a:r>
              <a:rPr lang="en-US" altLang="zh-CN" sz="2800" b="1"/>
              <a:t>9</a:t>
            </a:r>
            <a:r>
              <a:rPr lang="en-US" sz="2800" b="1"/>
              <a:t> – Revit H</a:t>
            </a:r>
            <a:r>
              <a:rPr lang="en-US" altLang="zh-CN" sz="2800" b="1"/>
              <a:t>andson</a:t>
            </a:r>
            <a:endParaRPr lang="en-US" sz="2800" b="1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A4A4881-E1D5-A91F-9975-E3BF72113107}"/>
              </a:ext>
            </a:extLst>
          </p:cNvPr>
          <p:cNvSpPr txBox="1"/>
          <p:nvPr/>
        </p:nvSpPr>
        <p:spPr>
          <a:xfrm>
            <a:off x="317634" y="1144788"/>
            <a:ext cx="583082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marR="0" lvl="0" indent="-4572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Calibri"/>
                <a:ea typeface="+mn-ea"/>
                <a:cs typeface="+mn-cs"/>
              </a:rPr>
              <a:t>Finish – R5, R6</a:t>
            </a:r>
            <a:r>
              <a:rPr lang="en-US" sz="2800" b="1">
                <a:latin typeface="Calibri"/>
              </a:rPr>
              <a:t> &amp; R7</a:t>
            </a:r>
            <a:endParaRPr kumimoji="0" lang="en-US" sz="2800" b="1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R="0" lvl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sz="2800" b="1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457200" marR="0" lvl="0" indent="-4572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Submit – R5 by the end of WEEK 9</a:t>
            </a:r>
          </a:p>
        </p:txBody>
      </p:sp>
    </p:spTree>
    <p:extLst>
      <p:ext uri="{BB962C8B-B14F-4D97-AF65-F5344CB8AC3E}">
        <p14:creationId xmlns:p14="http://schemas.microsoft.com/office/powerpoint/2010/main" val="6337908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A81B1E-26C9-B8C6-7F67-64BFDD5A7A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2DF75D4-F4C4-60AE-F7DF-1AA54EB57B01}"/>
              </a:ext>
            </a:extLst>
          </p:cNvPr>
          <p:cNvSpPr txBox="1"/>
          <p:nvPr/>
        </p:nvSpPr>
        <p:spPr>
          <a:xfrm>
            <a:off x="317634" y="168441"/>
            <a:ext cx="81178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WEEK </a:t>
            </a: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9</a:t>
            </a:r>
            <a:r>
              <a:rPr kumimoji="0" lang="en-US" sz="2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–Revit H</a:t>
            </a: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andson</a:t>
            </a:r>
            <a:endParaRPr kumimoji="0" lang="en-US" sz="2800" b="1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242A4E5-344B-D044-07AE-34FF5360CD6F}"/>
              </a:ext>
            </a:extLst>
          </p:cNvPr>
          <p:cNvSpPr txBox="1"/>
          <p:nvPr/>
        </p:nvSpPr>
        <p:spPr>
          <a:xfrm>
            <a:off x="317634" y="807571"/>
            <a:ext cx="55794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R5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BCF27C5-E912-81E5-026A-5FF07581E0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8830" y="873238"/>
            <a:ext cx="5579471" cy="387814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2A11D5F-5342-7A0B-EFD3-1F38A6E76BDB}"/>
              </a:ext>
            </a:extLst>
          </p:cNvPr>
          <p:cNvSpPr txBox="1"/>
          <p:nvPr/>
        </p:nvSpPr>
        <p:spPr>
          <a:xfrm>
            <a:off x="6917119" y="1360692"/>
            <a:ext cx="1673726" cy="27847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l" defTabSz="4572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Floor Plan</a:t>
            </a:r>
          </a:p>
          <a:p>
            <a:pPr marL="285750" marR="0" lvl="0" indent="-285750" algn="l" defTabSz="4572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xtrusion</a:t>
            </a:r>
          </a:p>
          <a:p>
            <a:pPr marR="0" lvl="0" algn="l" defTabSz="4572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zh-CN" dirty="0">
                <a:solidFill>
                  <a:prstClr val="black"/>
                </a:solidFill>
                <a:latin typeface="Calibri"/>
                <a:ea typeface="宋体" panose="02010600030101010101" pitchFamily="2" charset="-122"/>
              </a:rPr>
              <a:t>Elevation Right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weep</a:t>
            </a:r>
          </a:p>
          <a:p>
            <a:pPr marL="285750" marR="0" lvl="0" indent="-285750" algn="l" defTabSz="4572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Void Sweep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B05A087-F572-4F0C-5C7C-FA1C39BF131D}"/>
              </a:ext>
            </a:extLst>
          </p:cNvPr>
          <p:cNvSpPr txBox="1"/>
          <p:nvPr/>
        </p:nvSpPr>
        <p:spPr>
          <a:xfrm>
            <a:off x="5900598" y="4527678"/>
            <a:ext cx="39798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FF0000"/>
                </a:solidFill>
              </a:rPr>
              <a:t>Sketch Sweep Path on </a:t>
            </a:r>
            <a:r>
              <a:rPr lang="en-US" altLang="zh-CN" dirty="0">
                <a:solidFill>
                  <a:srgbClr val="FF0000"/>
                </a:solidFill>
              </a:rPr>
              <a:t>Floor Plan</a:t>
            </a:r>
            <a:endParaRPr lang="en-GB" dirty="0">
              <a:solidFill>
                <a:srgbClr val="FF0000"/>
              </a:solidFill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8F94AEDA-548A-AA01-187B-D3B2C2B8F857}"/>
              </a:ext>
            </a:extLst>
          </p:cNvPr>
          <p:cNvCxnSpPr/>
          <p:nvPr/>
        </p:nvCxnSpPr>
        <p:spPr>
          <a:xfrm flipV="1">
            <a:off x="7651637" y="4145429"/>
            <a:ext cx="0" cy="38224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84545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030A81-BE3D-94FB-C588-9659ABD388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18884FF-F4B5-8DDF-ED3E-F9899FF829F0}"/>
              </a:ext>
            </a:extLst>
          </p:cNvPr>
          <p:cNvSpPr txBox="1"/>
          <p:nvPr/>
        </p:nvSpPr>
        <p:spPr>
          <a:xfrm>
            <a:off x="317634" y="168441"/>
            <a:ext cx="81178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WEEK </a:t>
            </a: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9</a:t>
            </a:r>
            <a:r>
              <a:rPr kumimoji="0" lang="en-US" sz="2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–Revit H</a:t>
            </a: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andson</a:t>
            </a:r>
            <a:endParaRPr kumimoji="0" lang="en-US" sz="2800" b="1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F2F590A-8BAF-D0A4-0B27-70D2DFF6201A}"/>
              </a:ext>
            </a:extLst>
          </p:cNvPr>
          <p:cNvSpPr txBox="1"/>
          <p:nvPr/>
        </p:nvSpPr>
        <p:spPr>
          <a:xfrm>
            <a:off x="317634" y="632311"/>
            <a:ext cx="55794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Void Sweep</a:t>
            </a:r>
          </a:p>
        </p:txBody>
      </p:sp>
      <p:pic>
        <p:nvPicPr>
          <p:cNvPr id="2" name="Online Media 1" title="NTU CV1711 REVIT R5">
            <a:hlinkClick r:id="" action="ppaction://media"/>
            <a:extLst>
              <a:ext uri="{FF2B5EF4-FFF2-40B4-BE49-F238E27FC236}">
                <a16:creationId xmlns:a16="http://schemas.microsoft.com/office/drawing/2014/main" id="{0BFD1C8A-A893-1273-9C1C-E615FB109179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4"/>
          <a:stretch>
            <a:fillRect/>
          </a:stretch>
        </p:blipFill>
        <p:spPr>
          <a:xfrm>
            <a:off x="416574" y="1155531"/>
            <a:ext cx="8194192" cy="3665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19849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8BB4C6-CB8B-2294-FBAC-41CD05F77B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1A06FB83-782D-D6FB-8324-2F8C953E78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2275" y="991973"/>
            <a:ext cx="5467298" cy="385032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93408AD-877F-3D22-7F6D-1C47F076ECB3}"/>
              </a:ext>
            </a:extLst>
          </p:cNvPr>
          <p:cNvSpPr txBox="1"/>
          <p:nvPr/>
        </p:nvSpPr>
        <p:spPr>
          <a:xfrm>
            <a:off x="317634" y="168441"/>
            <a:ext cx="81178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WEEK </a:t>
            </a: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9</a:t>
            </a:r>
            <a:r>
              <a:rPr kumimoji="0" lang="en-US" sz="2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–Revit H</a:t>
            </a: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andson</a:t>
            </a:r>
            <a:endParaRPr kumimoji="0" lang="en-US" sz="2800" b="1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A58432E-19A3-35C4-C99E-8509559E4E65}"/>
              </a:ext>
            </a:extLst>
          </p:cNvPr>
          <p:cNvSpPr txBox="1"/>
          <p:nvPr/>
        </p:nvSpPr>
        <p:spPr>
          <a:xfrm>
            <a:off x="317634" y="807571"/>
            <a:ext cx="55794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R6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D8FA1DC-3FA0-BD92-EE95-4F82CECDAFE3}"/>
              </a:ext>
            </a:extLst>
          </p:cNvPr>
          <p:cNvSpPr txBox="1"/>
          <p:nvPr/>
        </p:nvSpPr>
        <p:spPr>
          <a:xfrm>
            <a:off x="6727074" y="1038403"/>
            <a:ext cx="2195946" cy="27847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l" defTabSz="4572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Elevation Front</a:t>
            </a:r>
          </a:p>
          <a:p>
            <a:pPr marL="285750" marR="0" lvl="0" indent="-285750" algn="l" defTabSz="4572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Mirror </a:t>
            </a:r>
          </a:p>
          <a:p>
            <a:pPr marL="266700" marR="0" lvl="0" algn="l" defTabSz="4572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(Symmetric cross-section)</a:t>
            </a:r>
          </a:p>
          <a:p>
            <a:pPr marL="285750" marR="0" lvl="0" indent="-285750" algn="l" defTabSz="4572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</a:t>
            </a: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xtrusion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B88D530-4598-6511-84B9-BF26E7B5B59B}"/>
              </a:ext>
            </a:extLst>
          </p:cNvPr>
          <p:cNvCxnSpPr/>
          <p:nvPr/>
        </p:nvCxnSpPr>
        <p:spPr>
          <a:xfrm>
            <a:off x="2392680" y="807571"/>
            <a:ext cx="53340" cy="4034725"/>
          </a:xfrm>
          <a:prstGeom prst="line">
            <a:avLst/>
          </a:prstGeom>
          <a:ln>
            <a:solidFill>
              <a:srgbClr val="FF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717079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653760-49BB-E8A5-6035-7C6F5D3455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EA68297-8093-4A55-142F-732C21440B13}"/>
              </a:ext>
            </a:extLst>
          </p:cNvPr>
          <p:cNvSpPr txBox="1"/>
          <p:nvPr/>
        </p:nvSpPr>
        <p:spPr>
          <a:xfrm>
            <a:off x="317634" y="168441"/>
            <a:ext cx="81178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WEEK </a:t>
            </a: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9</a:t>
            </a:r>
            <a:r>
              <a:rPr kumimoji="0" lang="en-US" sz="2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–Revit H</a:t>
            </a: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andson</a:t>
            </a:r>
            <a:endParaRPr kumimoji="0" lang="en-US" sz="2800" b="1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1EC94C6-E495-2A86-FA0C-8531B743F549}"/>
              </a:ext>
            </a:extLst>
          </p:cNvPr>
          <p:cNvSpPr txBox="1"/>
          <p:nvPr/>
        </p:nvSpPr>
        <p:spPr>
          <a:xfrm>
            <a:off x="317634" y="668652"/>
            <a:ext cx="55794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Mirror</a:t>
            </a:r>
          </a:p>
        </p:txBody>
      </p:sp>
      <p:pic>
        <p:nvPicPr>
          <p:cNvPr id="2" name="Screen Recording 2026-07-30 201606">
            <a:hlinkClick r:id="" action="ppaction://media"/>
            <a:extLst>
              <a:ext uri="{FF2B5EF4-FFF2-40B4-BE49-F238E27FC236}">
                <a16:creationId xmlns:a16="http://schemas.microsoft.com/office/drawing/2014/main" id="{885C42D8-53FF-FCE5-4204-D0A6AA535149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411480" y="1036320"/>
            <a:ext cx="7528560" cy="3756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3914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7624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A34B31-5FFD-4235-EE00-7AB5ED9B5C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DAC3676-1B9A-8837-AD2E-6A7652F8F63A}"/>
              </a:ext>
            </a:extLst>
          </p:cNvPr>
          <p:cNvSpPr txBox="1"/>
          <p:nvPr/>
        </p:nvSpPr>
        <p:spPr>
          <a:xfrm>
            <a:off x="317634" y="168441"/>
            <a:ext cx="81178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WEEK </a:t>
            </a: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9</a:t>
            </a:r>
            <a:r>
              <a:rPr kumimoji="0" lang="en-US" sz="2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–Revit H</a:t>
            </a: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andson</a:t>
            </a:r>
            <a:endParaRPr kumimoji="0" lang="en-US" sz="2800" b="1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A052B8B-D6F0-5CB6-EF5A-54D2D96D87BB}"/>
              </a:ext>
            </a:extLst>
          </p:cNvPr>
          <p:cNvSpPr txBox="1"/>
          <p:nvPr/>
        </p:nvSpPr>
        <p:spPr>
          <a:xfrm>
            <a:off x="317634" y="807571"/>
            <a:ext cx="55794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R6</a:t>
            </a:r>
          </a:p>
        </p:txBody>
      </p:sp>
      <p:pic>
        <p:nvPicPr>
          <p:cNvPr id="2" name="Online Media 1" title="NTU CV1711 REVIT R6">
            <a:hlinkClick r:id="" action="ppaction://media"/>
            <a:extLst>
              <a:ext uri="{FF2B5EF4-FFF2-40B4-BE49-F238E27FC236}">
                <a16:creationId xmlns:a16="http://schemas.microsoft.com/office/drawing/2014/main" id="{EE2F089F-9357-7FC2-5BD0-64A4690CDB60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9144000" cy="4877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84541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7255B3-3788-B3C1-4408-444383333B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/>
              <a:t>R6 instructions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9D450B7-062A-8870-FA35-52F4A1FD551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57201" y="604497"/>
            <a:ext cx="5451620" cy="373856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774B885-BF5E-6E52-F947-F3177B1216BB}"/>
              </a:ext>
            </a:extLst>
          </p:cNvPr>
          <p:cNvSpPr txBox="1"/>
          <p:nvPr/>
        </p:nvSpPr>
        <p:spPr>
          <a:xfrm>
            <a:off x="6036547" y="655655"/>
            <a:ext cx="2642696" cy="5144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57175" indent="-257175">
              <a:spcBef>
                <a:spcPts val="450"/>
              </a:spcBef>
              <a:spcAft>
                <a:spcPts val="450"/>
              </a:spcAft>
              <a:buFont typeface="+mj-lt"/>
              <a:buAutoNum type="arabicPeriod"/>
            </a:pPr>
            <a:r>
              <a:rPr lang="en-SG" sz="1350">
                <a:latin typeface="Arial" panose="020B0604020202020204" pitchFamily="34" charset="0"/>
                <a:cs typeface="Arial" panose="020B0604020202020204" pitchFamily="34" charset="0"/>
              </a:rPr>
              <a:t>On Elevation Front and Ref Level, use </a:t>
            </a:r>
            <a:r>
              <a:rPr lang="en-SG" sz="1350" b="1">
                <a:latin typeface="Arial" panose="020B0604020202020204" pitchFamily="34" charset="0"/>
                <a:cs typeface="Arial" panose="020B0604020202020204" pitchFamily="34" charset="0"/>
              </a:rPr>
              <a:t>Create similar </a:t>
            </a:r>
            <a:r>
              <a:rPr lang="en-SG" sz="1350">
                <a:latin typeface="Arial" panose="020B0604020202020204" pitchFamily="34" charset="0"/>
                <a:cs typeface="Arial" panose="020B0604020202020204" pitchFamily="34" charset="0"/>
              </a:rPr>
              <a:t>to mark all necessary dimensions (</a:t>
            </a:r>
            <a:r>
              <a:rPr lang="en-SG" sz="135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blue</a:t>
            </a:r>
            <a:r>
              <a:rPr lang="en-SG" sz="1350">
                <a:latin typeface="Arial" panose="020B0604020202020204" pitchFamily="34" charset="0"/>
                <a:cs typeface="Arial" panose="020B0604020202020204" pitchFamily="34" charset="0"/>
              </a:rPr>
              <a:t> dashes) </a:t>
            </a:r>
          </a:p>
          <a:p>
            <a:pPr marL="257175" indent="-257175">
              <a:spcBef>
                <a:spcPts val="450"/>
              </a:spcBef>
              <a:spcAft>
                <a:spcPts val="450"/>
              </a:spcAft>
              <a:buFont typeface="+mj-lt"/>
              <a:buAutoNum type="arabicPeriod"/>
            </a:pPr>
            <a:r>
              <a:rPr lang="en-SG" sz="1350">
                <a:latin typeface="Arial" panose="020B0604020202020204" pitchFamily="34" charset="0"/>
                <a:cs typeface="Arial" panose="020B0604020202020204" pitchFamily="34" charset="0"/>
              </a:rPr>
              <a:t>On Elevation Front, select </a:t>
            </a:r>
            <a:r>
              <a:rPr lang="en-SG" sz="1350" b="1">
                <a:latin typeface="Arial" panose="020B0604020202020204" pitchFamily="34" charset="0"/>
                <a:cs typeface="Arial" panose="020B0604020202020204" pitchFamily="34" charset="0"/>
              </a:rPr>
              <a:t>Extrusion</a:t>
            </a:r>
            <a:r>
              <a:rPr lang="en-SG" sz="1350">
                <a:latin typeface="Arial" panose="020B0604020202020204" pitchFamily="34" charset="0"/>
                <a:cs typeface="Arial" panose="020B0604020202020204" pitchFamily="34" charset="0"/>
              </a:rPr>
              <a:t> and draw the 2D profile (</a:t>
            </a:r>
            <a:r>
              <a:rPr lang="en-SG" sz="135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red</a:t>
            </a:r>
            <a:r>
              <a:rPr lang="en-SG" sz="135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marL="257175" indent="-257175">
              <a:spcBef>
                <a:spcPts val="450"/>
              </a:spcBef>
              <a:spcAft>
                <a:spcPts val="450"/>
              </a:spcAft>
              <a:buFont typeface="+mj-lt"/>
              <a:buAutoNum type="arabicPeriod"/>
            </a:pPr>
            <a:r>
              <a:rPr lang="en-SG" sz="1350">
                <a:latin typeface="Arial" panose="020B0604020202020204" pitchFamily="34" charset="0"/>
                <a:cs typeface="Arial" panose="020B0604020202020204" pitchFamily="34" charset="0"/>
              </a:rPr>
              <a:t>On Ref Level, align to the correct shape (</a:t>
            </a:r>
            <a:r>
              <a:rPr lang="en-SG" sz="135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green</a:t>
            </a:r>
            <a:r>
              <a:rPr lang="en-SG" sz="1350">
                <a:latin typeface="Arial" panose="020B0604020202020204" pitchFamily="34" charset="0"/>
                <a:cs typeface="Arial" panose="020B0604020202020204" pitchFamily="34" charset="0"/>
              </a:rPr>
              <a:t>). Check 3D view</a:t>
            </a:r>
          </a:p>
          <a:p>
            <a:pPr marL="257175" indent="-257175">
              <a:spcBef>
                <a:spcPts val="450"/>
              </a:spcBef>
              <a:spcAft>
                <a:spcPts val="450"/>
              </a:spcAft>
              <a:buFont typeface="+mj-lt"/>
              <a:buAutoNum type="arabicPeriod"/>
            </a:pPr>
            <a:r>
              <a:rPr lang="en-SG" sz="1350">
                <a:latin typeface="Arial" panose="020B0604020202020204" pitchFamily="34" charset="0"/>
                <a:cs typeface="Arial" panose="020B0604020202020204" pitchFamily="34" charset="0"/>
              </a:rPr>
              <a:t>On Elevation Front, select the 2D shape. Under tab Modify, select </a:t>
            </a:r>
            <a:r>
              <a:rPr lang="en-SG" sz="1350" b="1">
                <a:latin typeface="Arial" panose="020B0604020202020204" pitchFamily="34" charset="0"/>
                <a:cs typeface="Arial" panose="020B0604020202020204" pitchFamily="34" charset="0"/>
              </a:rPr>
              <a:t>Mirror</a:t>
            </a:r>
            <a:r>
              <a:rPr lang="en-SG" sz="1350">
                <a:latin typeface="Arial" panose="020B0604020202020204" pitchFamily="34" charset="0"/>
                <a:cs typeface="Arial" panose="020B0604020202020204" pitchFamily="34" charset="0"/>
              </a:rPr>
              <a:t>. Click on the axis (</a:t>
            </a:r>
            <a:r>
              <a:rPr lang="en-SG" sz="135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purple</a:t>
            </a:r>
            <a:r>
              <a:rPr lang="en-SG" sz="135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marL="257175" indent="-257175">
              <a:spcBef>
                <a:spcPts val="450"/>
              </a:spcBef>
              <a:spcAft>
                <a:spcPts val="450"/>
              </a:spcAft>
              <a:buFont typeface="+mj-lt"/>
              <a:buAutoNum type="arabicPeriod"/>
            </a:pPr>
            <a:r>
              <a:rPr lang="en-SG" sz="1350">
                <a:latin typeface="Arial" panose="020B0604020202020204" pitchFamily="34" charset="0"/>
                <a:cs typeface="Arial" panose="020B0604020202020204" pitchFamily="34" charset="0"/>
              </a:rPr>
              <a:t>3D View. Under tab Modify, select </a:t>
            </a:r>
            <a:r>
              <a:rPr lang="en-SG" sz="1350" b="1">
                <a:latin typeface="Arial" panose="020B0604020202020204" pitchFamily="34" charset="0"/>
                <a:cs typeface="Arial" panose="020B0604020202020204" pitchFamily="34" charset="0"/>
              </a:rPr>
              <a:t>Join</a:t>
            </a:r>
            <a:r>
              <a:rPr lang="en-SG" sz="1350">
                <a:latin typeface="Arial" panose="020B0604020202020204" pitchFamily="34" charset="0"/>
                <a:cs typeface="Arial" panose="020B0604020202020204" pitchFamily="34" charset="0"/>
              </a:rPr>
              <a:t>. Click on 2 objects to join</a:t>
            </a:r>
          </a:p>
          <a:p>
            <a:pPr marL="257175" indent="-257175">
              <a:spcBef>
                <a:spcPts val="450"/>
              </a:spcBef>
              <a:spcAft>
                <a:spcPts val="450"/>
              </a:spcAft>
              <a:buFont typeface="+mj-lt"/>
              <a:buAutoNum type="arabicPeriod"/>
            </a:pPr>
            <a:endParaRPr lang="en-SG" sz="135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57175" indent="-257175">
              <a:spcBef>
                <a:spcPts val="450"/>
              </a:spcBef>
              <a:spcAft>
                <a:spcPts val="450"/>
              </a:spcAft>
              <a:buFont typeface="+mj-lt"/>
              <a:buAutoNum type="arabicPeriod"/>
            </a:pPr>
            <a:endParaRPr lang="en-SG" sz="135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ts val="450"/>
              </a:spcBef>
              <a:spcAft>
                <a:spcPts val="450"/>
              </a:spcAft>
            </a:pPr>
            <a:endParaRPr lang="en-SG" sz="135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80095E8-214F-A229-09EA-9D894862F356}"/>
              </a:ext>
            </a:extLst>
          </p:cNvPr>
          <p:cNvCxnSpPr/>
          <p:nvPr/>
        </p:nvCxnSpPr>
        <p:spPr>
          <a:xfrm>
            <a:off x="353962" y="1827187"/>
            <a:ext cx="3060290" cy="0"/>
          </a:xfrm>
          <a:prstGeom prst="line">
            <a:avLst/>
          </a:prstGeom>
          <a:ln w="38100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B0425E3-0290-9D32-E865-C51CD0A34D83}"/>
              </a:ext>
            </a:extLst>
          </p:cNvPr>
          <p:cNvCxnSpPr/>
          <p:nvPr/>
        </p:nvCxnSpPr>
        <p:spPr>
          <a:xfrm>
            <a:off x="457201" y="1177106"/>
            <a:ext cx="3060290" cy="0"/>
          </a:xfrm>
          <a:prstGeom prst="line">
            <a:avLst/>
          </a:prstGeom>
          <a:ln w="38100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4A7BC3D-16B3-5277-E21D-92E20A9B4F6F}"/>
              </a:ext>
            </a:extLst>
          </p:cNvPr>
          <p:cNvCxnSpPr/>
          <p:nvPr/>
        </p:nvCxnSpPr>
        <p:spPr>
          <a:xfrm>
            <a:off x="353962" y="1248543"/>
            <a:ext cx="3060290" cy="0"/>
          </a:xfrm>
          <a:prstGeom prst="line">
            <a:avLst/>
          </a:prstGeom>
          <a:ln w="38100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E4B78C5-8419-4124-9162-9599ED4063CB}"/>
              </a:ext>
            </a:extLst>
          </p:cNvPr>
          <p:cNvCxnSpPr/>
          <p:nvPr/>
        </p:nvCxnSpPr>
        <p:spPr>
          <a:xfrm>
            <a:off x="532555" y="3777431"/>
            <a:ext cx="3060290" cy="0"/>
          </a:xfrm>
          <a:prstGeom prst="line">
            <a:avLst/>
          </a:prstGeom>
          <a:ln w="38100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D116F38-A84E-5AF6-EF08-86599FAFC70C}"/>
              </a:ext>
            </a:extLst>
          </p:cNvPr>
          <p:cNvCxnSpPr/>
          <p:nvPr/>
        </p:nvCxnSpPr>
        <p:spPr>
          <a:xfrm>
            <a:off x="532555" y="3191643"/>
            <a:ext cx="3060290" cy="0"/>
          </a:xfrm>
          <a:prstGeom prst="line">
            <a:avLst/>
          </a:prstGeom>
          <a:ln w="38100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1BAF7E37-E20F-A0CB-2CF0-F1A9A79DB70D}"/>
              </a:ext>
            </a:extLst>
          </p:cNvPr>
          <p:cNvSpPr/>
          <p:nvPr/>
        </p:nvSpPr>
        <p:spPr>
          <a:xfrm>
            <a:off x="3186113" y="1335881"/>
            <a:ext cx="228139" cy="413832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SG" sz="135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2058C46-1314-6DA8-A1A6-2399E9BF6C4D}"/>
              </a:ext>
            </a:extLst>
          </p:cNvPr>
          <p:cNvSpPr/>
          <p:nvPr/>
        </p:nvSpPr>
        <p:spPr>
          <a:xfrm>
            <a:off x="3072043" y="3263682"/>
            <a:ext cx="228139" cy="413832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SG" sz="135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2C9070A-F012-4CE5-08C6-39293A5A570E}"/>
              </a:ext>
            </a:extLst>
          </p:cNvPr>
          <p:cNvSpPr/>
          <p:nvPr/>
        </p:nvSpPr>
        <p:spPr>
          <a:xfrm>
            <a:off x="3227624" y="885825"/>
            <a:ext cx="228139" cy="262802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SG" sz="135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5DCCC5A-26F5-4BD9-634B-383146FF351E}"/>
              </a:ext>
            </a:extLst>
          </p:cNvPr>
          <p:cNvSpPr/>
          <p:nvPr/>
        </p:nvSpPr>
        <p:spPr>
          <a:xfrm>
            <a:off x="1771651" y="750094"/>
            <a:ext cx="650081" cy="185736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SG" sz="1350"/>
              <a:t>       /2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940AF114-3598-AE4D-F74C-1D8BB42A8CEA}"/>
              </a:ext>
            </a:extLst>
          </p:cNvPr>
          <p:cNvCxnSpPr/>
          <p:nvPr/>
        </p:nvCxnSpPr>
        <p:spPr>
          <a:xfrm>
            <a:off x="1885950" y="1049626"/>
            <a:ext cx="0" cy="1400175"/>
          </a:xfrm>
          <a:prstGeom prst="line">
            <a:avLst/>
          </a:prstGeom>
          <a:ln w="38100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D0BD137F-AC12-8E99-1264-AA523A144630}"/>
              </a:ext>
            </a:extLst>
          </p:cNvPr>
          <p:cNvCxnSpPr/>
          <p:nvPr/>
        </p:nvCxnSpPr>
        <p:spPr>
          <a:xfrm>
            <a:off x="671513" y="2770258"/>
            <a:ext cx="0" cy="1400175"/>
          </a:xfrm>
          <a:prstGeom prst="line">
            <a:avLst/>
          </a:prstGeom>
          <a:ln w="38100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2F0146C-7031-BDFF-AB70-FE96722CB79A}"/>
              </a:ext>
            </a:extLst>
          </p:cNvPr>
          <p:cNvCxnSpPr/>
          <p:nvPr/>
        </p:nvCxnSpPr>
        <p:spPr>
          <a:xfrm>
            <a:off x="1885950" y="2691581"/>
            <a:ext cx="0" cy="1400175"/>
          </a:xfrm>
          <a:prstGeom prst="line">
            <a:avLst/>
          </a:prstGeom>
          <a:ln w="38100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310F90C5-145F-AE02-53FE-EF99A6E44EA3}"/>
              </a:ext>
            </a:extLst>
          </p:cNvPr>
          <p:cNvSpPr txBox="1"/>
          <p:nvPr/>
        </p:nvSpPr>
        <p:spPr>
          <a:xfrm>
            <a:off x="317634" y="168441"/>
            <a:ext cx="59628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/>
              <a:t>R6</a:t>
            </a:r>
          </a:p>
        </p:txBody>
      </p:sp>
    </p:spTree>
    <p:extLst>
      <p:ext uri="{BB962C8B-B14F-4D97-AF65-F5344CB8AC3E}">
        <p14:creationId xmlns:p14="http://schemas.microsoft.com/office/powerpoint/2010/main" val="30889105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8AFA15-088D-78B1-1A07-717E318D9A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3D10B7E-AB8E-607D-016A-CD178B30DF86}"/>
              </a:ext>
            </a:extLst>
          </p:cNvPr>
          <p:cNvSpPr txBox="1"/>
          <p:nvPr/>
        </p:nvSpPr>
        <p:spPr>
          <a:xfrm>
            <a:off x="317634" y="168441"/>
            <a:ext cx="81178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WEEK </a:t>
            </a: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9</a:t>
            </a:r>
            <a:r>
              <a:rPr kumimoji="0" lang="en-US" sz="2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–Revit H</a:t>
            </a: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andson</a:t>
            </a:r>
            <a:endParaRPr kumimoji="0" lang="en-US" sz="2800" b="1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384FF65-0D88-BFC1-7CD5-69ABE74C5D30}"/>
              </a:ext>
            </a:extLst>
          </p:cNvPr>
          <p:cNvSpPr txBox="1"/>
          <p:nvPr/>
        </p:nvSpPr>
        <p:spPr>
          <a:xfrm>
            <a:off x="317634" y="807571"/>
            <a:ext cx="55794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R7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D8FCA39-745E-7C47-A1ED-935E4CAFF0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826" y="1038289"/>
            <a:ext cx="5443954" cy="375278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ED22E78-14FA-96CB-EA6C-F24CFDB3E932}"/>
              </a:ext>
            </a:extLst>
          </p:cNvPr>
          <p:cNvSpPr txBox="1"/>
          <p:nvPr/>
        </p:nvSpPr>
        <p:spPr>
          <a:xfrm>
            <a:off x="6712711" y="1038403"/>
            <a:ext cx="2252179" cy="33387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l" defTabSz="4572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Elevation Right</a:t>
            </a:r>
          </a:p>
          <a:p>
            <a:pPr marL="285750" marR="0" lvl="0" indent="-285750" algn="l" defTabSz="4572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Sweep Path</a:t>
            </a:r>
          </a:p>
          <a:p>
            <a:pPr marR="0" lvl="0" algn="l" defTabSz="4572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dirty="0">
                <a:solidFill>
                  <a:prstClr val="black"/>
                </a:solidFill>
                <a:latin typeface="Calibri"/>
              </a:rPr>
              <a:t>Elevation Front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Sweep</a:t>
            </a:r>
          </a:p>
          <a:p>
            <a:pPr marL="285750" marR="0" lvl="0" indent="-285750" algn="l" defTabSz="4572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zh-CN" dirty="0">
                <a:solidFill>
                  <a:prstClr val="black"/>
                </a:solidFill>
                <a:latin typeface="Calibri"/>
              </a:rPr>
              <a:t>Mirror (symmetric cross-section)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F68BD10-D102-E3D2-0538-0E7D2436CF6B}"/>
              </a:ext>
            </a:extLst>
          </p:cNvPr>
          <p:cNvSpPr txBox="1"/>
          <p:nvPr/>
        </p:nvSpPr>
        <p:spPr>
          <a:xfrm>
            <a:off x="4548145" y="3108960"/>
            <a:ext cx="7156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solidFill>
                  <a:srgbClr val="FF0000"/>
                </a:solidFill>
              </a:rPr>
              <a:t>R37.5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E3FF5F8B-EFCA-38C0-0108-31049F4CEFDC}"/>
              </a:ext>
            </a:extLst>
          </p:cNvPr>
          <p:cNvCxnSpPr/>
          <p:nvPr/>
        </p:nvCxnSpPr>
        <p:spPr>
          <a:xfrm flipH="1" flipV="1">
            <a:off x="4357314" y="3029447"/>
            <a:ext cx="190831" cy="15902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37952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8FB3D6-4FD3-27AC-4AED-EEB518E95C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A65EF23-2DBA-AA07-6E23-371FC60DA29B}"/>
              </a:ext>
            </a:extLst>
          </p:cNvPr>
          <p:cNvSpPr txBox="1"/>
          <p:nvPr/>
        </p:nvSpPr>
        <p:spPr>
          <a:xfrm>
            <a:off x="317634" y="168441"/>
            <a:ext cx="59628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/>
              <a:t>WEEK </a:t>
            </a:r>
            <a:r>
              <a:rPr lang="en-US" altLang="zh-CN" sz="2800" b="1"/>
              <a:t>9</a:t>
            </a:r>
            <a:r>
              <a:rPr lang="en-US" sz="2800" b="1"/>
              <a:t> – Revit H</a:t>
            </a:r>
            <a:r>
              <a:rPr lang="en-US" altLang="zh-CN" sz="2800" b="1"/>
              <a:t>andson</a:t>
            </a:r>
            <a:endParaRPr lang="en-US" sz="2800" b="1"/>
          </a:p>
        </p:txBody>
      </p:sp>
      <p:pic>
        <p:nvPicPr>
          <p:cNvPr id="4" name="WhatsApp Video 2025-10-14 at 09.57.39_12c2d6bb">
            <a:hlinkClick r:id="" action="ppaction://media"/>
            <a:extLst>
              <a:ext uri="{FF2B5EF4-FFF2-40B4-BE49-F238E27FC236}">
                <a16:creationId xmlns:a16="http://schemas.microsoft.com/office/drawing/2014/main" id="{52345446-DB88-D33C-C6E0-F23F38A116C5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t="16374" b="15135"/>
          <a:stretch>
            <a:fillRect/>
          </a:stretch>
        </p:blipFill>
        <p:spPr>
          <a:xfrm>
            <a:off x="5070091" y="117308"/>
            <a:ext cx="3794776" cy="462187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4F303A5-8898-588D-F6D1-2D24184A5166}"/>
              </a:ext>
            </a:extLst>
          </p:cNvPr>
          <p:cNvSpPr txBox="1"/>
          <p:nvPr/>
        </p:nvSpPr>
        <p:spPr>
          <a:xfrm>
            <a:off x="545562" y="1079575"/>
            <a:ext cx="3306909" cy="14296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rgbClr val="FF0000"/>
                </a:solidFill>
              </a:rPr>
              <a:t>Hint: 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rgbClr val="FF0000"/>
                </a:solidFill>
              </a:rPr>
              <a:t>Relocate the origin of Sweep Path</a:t>
            </a:r>
          </a:p>
        </p:txBody>
      </p:sp>
    </p:spTree>
    <p:extLst>
      <p:ext uri="{BB962C8B-B14F-4D97-AF65-F5344CB8AC3E}">
        <p14:creationId xmlns:p14="http://schemas.microsoft.com/office/powerpoint/2010/main" val="12520256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329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FED191-3A1F-F778-AFB8-F0B8EFA50F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6CA182F-510C-9AC5-FCBE-DD695DBAB093}"/>
              </a:ext>
            </a:extLst>
          </p:cNvPr>
          <p:cNvSpPr txBox="1"/>
          <p:nvPr/>
        </p:nvSpPr>
        <p:spPr>
          <a:xfrm>
            <a:off x="317634" y="168441"/>
            <a:ext cx="81178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WEEK </a:t>
            </a: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9</a:t>
            </a:r>
            <a:r>
              <a:rPr kumimoji="0" lang="en-US" sz="2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–Revit H</a:t>
            </a: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andson</a:t>
            </a:r>
            <a:endParaRPr kumimoji="0" lang="en-US" sz="2800" b="1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B61B726-2800-2785-A59F-4D3E48968A63}"/>
              </a:ext>
            </a:extLst>
          </p:cNvPr>
          <p:cNvSpPr txBox="1"/>
          <p:nvPr/>
        </p:nvSpPr>
        <p:spPr>
          <a:xfrm>
            <a:off x="317634" y="807571"/>
            <a:ext cx="55794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R7</a:t>
            </a:r>
          </a:p>
        </p:txBody>
      </p:sp>
      <p:pic>
        <p:nvPicPr>
          <p:cNvPr id="2" name="Online Media 1" title="NTU CV1711 REVIT R7">
            <a:hlinkClick r:id="" action="ppaction://media"/>
            <a:extLst>
              <a:ext uri="{FF2B5EF4-FFF2-40B4-BE49-F238E27FC236}">
                <a16:creationId xmlns:a16="http://schemas.microsoft.com/office/drawing/2014/main" id="{7AED5681-FD01-D632-133F-0BE2FE9BDB00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9144000" cy="4890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28513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0E94DB-102E-0F68-3BBE-DEF0675EC7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/>
              <a:t>R7 instructions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F17678A-B48B-64F9-7138-229A4D4D059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65385" y="563665"/>
            <a:ext cx="5550200" cy="373856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852DCAD-F4D8-A2EA-3BD7-04FB7EC5D5E0}"/>
              </a:ext>
            </a:extLst>
          </p:cNvPr>
          <p:cNvSpPr txBox="1"/>
          <p:nvPr/>
        </p:nvSpPr>
        <p:spPr>
          <a:xfrm>
            <a:off x="6045340" y="312755"/>
            <a:ext cx="2642696" cy="5537413"/>
          </a:xfrm>
          <a:prstGeom prst="rect">
            <a:avLst/>
          </a:prstGeom>
          <a:noFill/>
        </p:spPr>
        <p:txBody>
          <a:bodyPr wrap="square" lIns="68580" tIns="34290" rIns="68580" bIns="34290" rtlCol="0" anchor="t">
            <a:spAutoFit/>
          </a:bodyPr>
          <a:lstStyle/>
          <a:p>
            <a:pPr marL="257175" indent="-257175">
              <a:spcBef>
                <a:spcPts val="450"/>
              </a:spcBef>
              <a:spcAft>
                <a:spcPts val="450"/>
              </a:spcAft>
              <a:buFont typeface="+mj-lt"/>
              <a:buAutoNum type="arabicPeriod"/>
            </a:pPr>
            <a:r>
              <a:rPr lang="en-SG" sz="1350">
                <a:latin typeface="Arial"/>
                <a:cs typeface="Arial"/>
              </a:rPr>
              <a:t>On Elevation Right, use </a:t>
            </a:r>
            <a:r>
              <a:rPr lang="en-SG" sz="1350" b="1">
                <a:latin typeface="Arial"/>
                <a:cs typeface="Arial"/>
              </a:rPr>
              <a:t>Create similar </a:t>
            </a:r>
            <a:r>
              <a:rPr lang="en-SG" sz="1350">
                <a:latin typeface="Arial"/>
                <a:cs typeface="Arial"/>
              </a:rPr>
              <a:t>to mark all necessary dimensions (</a:t>
            </a:r>
            <a:r>
              <a:rPr lang="en-SG" sz="1350">
                <a:solidFill>
                  <a:srgbClr val="FF0000"/>
                </a:solidFill>
                <a:latin typeface="Arial"/>
                <a:cs typeface="Arial"/>
              </a:rPr>
              <a:t>red</a:t>
            </a:r>
            <a:r>
              <a:rPr lang="en-SG" sz="1350">
                <a:latin typeface="Arial"/>
                <a:cs typeface="Arial"/>
              </a:rPr>
              <a:t> dashes) </a:t>
            </a:r>
          </a:p>
          <a:p>
            <a:pPr marL="257175" indent="-257175">
              <a:spcBef>
                <a:spcPts val="450"/>
              </a:spcBef>
              <a:spcAft>
                <a:spcPts val="450"/>
              </a:spcAft>
              <a:buFont typeface="+mj-lt"/>
              <a:buAutoNum type="arabicPeriod"/>
            </a:pPr>
            <a:r>
              <a:rPr lang="en-SG" sz="1350">
                <a:latin typeface="Arial" panose="020B0604020202020204" pitchFamily="34" charset="0"/>
                <a:cs typeface="Arial" panose="020B0604020202020204" pitchFamily="34" charset="0"/>
              </a:rPr>
              <a:t>On Elevation Right, select </a:t>
            </a:r>
            <a:r>
              <a:rPr lang="en-SG" sz="1350" b="1">
                <a:latin typeface="Arial" panose="020B0604020202020204" pitchFamily="34" charset="0"/>
                <a:cs typeface="Arial" panose="020B0604020202020204" pitchFamily="34" charset="0"/>
              </a:rPr>
              <a:t>Sweep</a:t>
            </a:r>
            <a:r>
              <a:rPr lang="en-SG" sz="1350">
                <a:latin typeface="Arial" panose="020B0604020202020204" pitchFamily="34" charset="0"/>
                <a:cs typeface="Arial" panose="020B0604020202020204" pitchFamily="34" charset="0"/>
              </a:rPr>
              <a:t> and draw the 2D profile using </a:t>
            </a:r>
            <a:r>
              <a:rPr lang="en-SG" sz="1350" b="1">
                <a:latin typeface="Arial" panose="020B0604020202020204" pitchFamily="34" charset="0"/>
                <a:cs typeface="Arial" panose="020B0604020202020204" pitchFamily="34" charset="0"/>
              </a:rPr>
              <a:t>Start-End-Radius Arc</a:t>
            </a:r>
            <a:r>
              <a:rPr lang="en-SG" sz="135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SG" sz="1350" u="sng">
                <a:latin typeface="Arial" panose="020B0604020202020204" pitchFamily="34" charset="0"/>
                <a:cs typeface="Arial" panose="020B0604020202020204" pitchFamily="34" charset="0"/>
              </a:rPr>
              <a:t>Drag the cross section to the Start of the arc</a:t>
            </a:r>
            <a:r>
              <a:rPr lang="en-SG" sz="1350">
                <a:latin typeface="Arial" panose="020B0604020202020204" pitchFamily="34" charset="0"/>
                <a:cs typeface="Arial" panose="020B0604020202020204" pitchFamily="34" charset="0"/>
              </a:rPr>
              <a:t>. Finish sketching</a:t>
            </a:r>
            <a:endParaRPr lang="en-SG" sz="1350" b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57175" indent="-257175">
              <a:spcBef>
                <a:spcPts val="450"/>
              </a:spcBef>
              <a:spcAft>
                <a:spcPts val="450"/>
              </a:spcAft>
              <a:buFont typeface="+mj-lt"/>
              <a:buAutoNum type="arabicPeriod"/>
            </a:pPr>
            <a:r>
              <a:rPr lang="en-SG" sz="1350">
                <a:latin typeface="Arial" panose="020B0604020202020204" pitchFamily="34" charset="0"/>
                <a:cs typeface="Arial" panose="020B0604020202020204" pitchFamily="34" charset="0"/>
              </a:rPr>
              <a:t>Select Profile &gt; Edit Profile. Go to Elevation Front</a:t>
            </a:r>
          </a:p>
          <a:p>
            <a:pPr marL="257175" indent="-257175">
              <a:spcBef>
                <a:spcPts val="450"/>
              </a:spcBef>
              <a:spcAft>
                <a:spcPts val="450"/>
              </a:spcAft>
              <a:buFont typeface="+mj-lt"/>
              <a:buAutoNum type="arabicPeriod"/>
            </a:pPr>
            <a:r>
              <a:rPr lang="en-SG" sz="1350">
                <a:latin typeface="Arial"/>
                <a:cs typeface="Arial"/>
              </a:rPr>
              <a:t>Draw the C cross section profile (</a:t>
            </a:r>
            <a:r>
              <a:rPr lang="en-SG" sz="1350">
                <a:solidFill>
                  <a:schemeClr val="accent6"/>
                </a:solidFill>
                <a:latin typeface="Arial"/>
                <a:cs typeface="Arial"/>
              </a:rPr>
              <a:t>orange</a:t>
            </a:r>
            <a:r>
              <a:rPr lang="en-SG" sz="1350">
                <a:latin typeface="Arial"/>
                <a:cs typeface="Arial"/>
              </a:rPr>
              <a:t>) (remarks: the fillet radius is not given, so you can use any radius as you want. The screenshot given here is for R=37.5)</a:t>
            </a:r>
            <a:endParaRPr lang="en-SG" sz="135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57175" indent="-257175">
              <a:spcBef>
                <a:spcPts val="450"/>
              </a:spcBef>
              <a:spcAft>
                <a:spcPts val="450"/>
              </a:spcAft>
              <a:buFont typeface="+mj-lt"/>
              <a:buAutoNum type="arabicPeriod"/>
            </a:pPr>
            <a:r>
              <a:rPr lang="en-SG" sz="1350">
                <a:latin typeface="Arial" panose="020B0604020202020204" pitchFamily="34" charset="0"/>
                <a:cs typeface="Arial" panose="020B0604020202020204" pitchFamily="34" charset="0"/>
              </a:rPr>
              <a:t>Finish edit mode</a:t>
            </a:r>
          </a:p>
          <a:p>
            <a:pPr marL="257175" indent="-257175">
              <a:spcBef>
                <a:spcPts val="450"/>
              </a:spcBef>
              <a:spcAft>
                <a:spcPts val="450"/>
              </a:spcAft>
              <a:buFont typeface="+mj-lt"/>
              <a:buAutoNum type="arabicPeriod"/>
            </a:pPr>
            <a:endParaRPr lang="en-SG" sz="135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57175" indent="-257175">
              <a:spcBef>
                <a:spcPts val="450"/>
              </a:spcBef>
              <a:spcAft>
                <a:spcPts val="450"/>
              </a:spcAft>
              <a:buFont typeface="+mj-lt"/>
              <a:buAutoNum type="arabicPeriod"/>
            </a:pPr>
            <a:endParaRPr lang="en-SG" sz="135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ts val="450"/>
              </a:spcBef>
              <a:spcAft>
                <a:spcPts val="450"/>
              </a:spcAft>
            </a:pPr>
            <a:endParaRPr lang="en-SG" sz="135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B15EFC2-CD3E-EE8C-2424-05B3A31CEE97}"/>
              </a:ext>
            </a:extLst>
          </p:cNvPr>
          <p:cNvSpPr/>
          <p:nvPr/>
        </p:nvSpPr>
        <p:spPr>
          <a:xfrm>
            <a:off x="3693319" y="2164556"/>
            <a:ext cx="342900" cy="4572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SG" sz="135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AAC3E53-BE99-6C9C-B6E4-D34265EEB3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2671762"/>
            <a:ext cx="1186940" cy="1414667"/>
          </a:xfrm>
          <a:prstGeom prst="rect">
            <a:avLst/>
          </a:prstGeom>
          <a:ln w="38100">
            <a:solidFill>
              <a:schemeClr val="accent6"/>
            </a:solidFill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C640C10-F83E-7A53-FC70-C9F9A204CD69}"/>
              </a:ext>
            </a:extLst>
          </p:cNvPr>
          <p:cNvSpPr txBox="1"/>
          <p:nvPr/>
        </p:nvSpPr>
        <p:spPr>
          <a:xfrm>
            <a:off x="317634" y="168441"/>
            <a:ext cx="59628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/>
              <a:t>R7</a:t>
            </a:r>
          </a:p>
        </p:txBody>
      </p:sp>
    </p:spTree>
    <p:extLst>
      <p:ext uri="{BB962C8B-B14F-4D97-AF65-F5344CB8AC3E}">
        <p14:creationId xmlns:p14="http://schemas.microsoft.com/office/powerpoint/2010/main" val="23086743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066AF-A921-28C1-8AF9-8942C769A0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EE9430D9-C363-3DAC-53C7-736738E91F4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3207" b="12242"/>
          <a:stretch>
            <a:fillRect/>
          </a:stretch>
        </p:blipFill>
        <p:spPr>
          <a:xfrm>
            <a:off x="4425659" y="691661"/>
            <a:ext cx="2372530" cy="383456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519DC58-D837-9D48-A223-711F461AA8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4524" y="900866"/>
            <a:ext cx="3537210" cy="353721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F7CF7B7-7CE4-AE82-E71E-3279B130976D}"/>
              </a:ext>
            </a:extLst>
          </p:cNvPr>
          <p:cNvSpPr txBox="1"/>
          <p:nvPr/>
        </p:nvSpPr>
        <p:spPr>
          <a:xfrm>
            <a:off x="317634" y="168441"/>
            <a:ext cx="54649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Where to download the slides?</a:t>
            </a:r>
            <a:endParaRPr kumimoji="0" lang="en-US" altLang="zh-CN" sz="2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6CD26AAB-4A93-9ECB-14BE-61E6F44E5164}"/>
              </a:ext>
            </a:extLst>
          </p:cNvPr>
          <p:cNvCxnSpPr>
            <a:cxnSpLocks/>
          </p:cNvCxnSpPr>
          <p:nvPr/>
        </p:nvCxnSpPr>
        <p:spPr>
          <a:xfrm flipV="1">
            <a:off x="3586555" y="2232204"/>
            <a:ext cx="839104" cy="37673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9B088EBD-1777-E072-C48A-7B3EB1AD8169}"/>
              </a:ext>
            </a:extLst>
          </p:cNvPr>
          <p:cNvSpPr/>
          <p:nvPr/>
        </p:nvSpPr>
        <p:spPr>
          <a:xfrm>
            <a:off x="5260065" y="4135176"/>
            <a:ext cx="1259095" cy="18671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F3545CA8-659F-6416-28CF-C6D29B01723D}"/>
              </a:ext>
            </a:extLst>
          </p:cNvPr>
          <p:cNvCxnSpPr>
            <a:cxnSpLocks/>
          </p:cNvCxnSpPr>
          <p:nvPr/>
        </p:nvCxnSpPr>
        <p:spPr>
          <a:xfrm flipH="1">
            <a:off x="6113837" y="3622345"/>
            <a:ext cx="315971" cy="42528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3431695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9A3103-6AB5-C3AD-490C-82D6BA9026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33645BA2-68EE-292F-B3E6-FA8919E256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5853" y="518760"/>
            <a:ext cx="5723256" cy="429463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7BA3256-6BBB-FE2C-5D19-1CA7D812ADD1}"/>
              </a:ext>
            </a:extLst>
          </p:cNvPr>
          <p:cNvSpPr txBox="1"/>
          <p:nvPr/>
        </p:nvSpPr>
        <p:spPr>
          <a:xfrm>
            <a:off x="317634" y="168441"/>
            <a:ext cx="81178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WEEK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10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–Revit H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andson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F8064B3-9C88-32BD-004D-C2878E74CF6D}"/>
              </a:ext>
            </a:extLst>
          </p:cNvPr>
          <p:cNvSpPr txBox="1"/>
          <p:nvPr/>
        </p:nvSpPr>
        <p:spPr>
          <a:xfrm>
            <a:off x="317634" y="807571"/>
            <a:ext cx="55794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R8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BB78AE-A5CD-CE2C-C7A0-7B47A8C2E1DC}"/>
              </a:ext>
            </a:extLst>
          </p:cNvPr>
          <p:cNvSpPr txBox="1"/>
          <p:nvPr/>
        </p:nvSpPr>
        <p:spPr>
          <a:xfrm>
            <a:off x="317634" y="1366409"/>
            <a:ext cx="1876926" cy="9679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/>
              <a:t>F</a:t>
            </a:r>
            <a:r>
              <a:rPr lang="en-US" altLang="zh-CN" sz="2000" b="1" dirty="0"/>
              <a:t>inish and</a:t>
            </a:r>
            <a:r>
              <a:rPr lang="zh-CN" altLang="en-US" sz="2000" b="1" dirty="0"/>
              <a:t> </a:t>
            </a:r>
            <a:r>
              <a:rPr lang="en-US" altLang="zh-CN" sz="2000" b="1" dirty="0">
                <a:solidFill>
                  <a:srgbClr val="FF0000"/>
                </a:solidFill>
              </a:rPr>
              <a:t>Submit R8</a:t>
            </a:r>
            <a:endParaRPr lang="en-US" sz="20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9594375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022986-F480-5AE5-EB2F-7E8DC3A007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grey metal object with a curved end&#10;&#10;AI-generated content may be incorrect.">
            <a:extLst>
              <a:ext uri="{FF2B5EF4-FFF2-40B4-BE49-F238E27FC236}">
                <a16:creationId xmlns:a16="http://schemas.microsoft.com/office/drawing/2014/main" id="{4B60D173-5555-4C1D-A1C4-95CC687026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7684" y="506292"/>
            <a:ext cx="3105577" cy="394554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194C92B-9B0C-2911-2099-98B6972DF7DD}"/>
              </a:ext>
            </a:extLst>
          </p:cNvPr>
          <p:cNvSpPr txBox="1"/>
          <p:nvPr/>
        </p:nvSpPr>
        <p:spPr>
          <a:xfrm>
            <a:off x="317634" y="168441"/>
            <a:ext cx="59628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/>
              <a:t>WEEK 10</a:t>
            </a:r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40387F8A-C205-EE81-38C8-FD51E25F1703}"/>
              </a:ext>
            </a:extLst>
          </p:cNvPr>
          <p:cNvSpPr/>
          <p:nvPr/>
        </p:nvSpPr>
        <p:spPr>
          <a:xfrm>
            <a:off x="4866938" y="3049731"/>
            <a:ext cx="356623" cy="176645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408B5F82-0650-C39E-AA12-7F8D01DA60CF}"/>
              </a:ext>
            </a:extLst>
          </p:cNvPr>
          <p:cNvSpPr/>
          <p:nvPr/>
        </p:nvSpPr>
        <p:spPr>
          <a:xfrm>
            <a:off x="4866937" y="1521504"/>
            <a:ext cx="356623" cy="176645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29A6DFE-A8B6-7299-BBE5-5D2806D3E405}"/>
              </a:ext>
            </a:extLst>
          </p:cNvPr>
          <p:cNvSpPr txBox="1"/>
          <p:nvPr/>
        </p:nvSpPr>
        <p:spPr>
          <a:xfrm>
            <a:off x="5294903" y="2953388"/>
            <a:ext cx="22213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Blend + Void Blend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7B54C72-B71D-42B4-0C38-376AE03FEF11}"/>
              </a:ext>
            </a:extLst>
          </p:cNvPr>
          <p:cNvSpPr txBox="1"/>
          <p:nvPr/>
        </p:nvSpPr>
        <p:spPr>
          <a:xfrm>
            <a:off x="5231868" y="1448184"/>
            <a:ext cx="22213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S</a:t>
            </a:r>
            <a:r>
              <a:rPr lang="en-US" altLang="zh-CN"/>
              <a:t>weep</a:t>
            </a:r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E0E7BFB-6DD8-8DAB-FD41-1E63A6FC0BF3}"/>
              </a:ext>
            </a:extLst>
          </p:cNvPr>
          <p:cNvSpPr txBox="1"/>
          <p:nvPr/>
        </p:nvSpPr>
        <p:spPr>
          <a:xfrm>
            <a:off x="1859787" y="4370270"/>
            <a:ext cx="22213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Smoke Hood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24B01A6-3640-BF85-B33E-3A54229F249C}"/>
              </a:ext>
            </a:extLst>
          </p:cNvPr>
          <p:cNvSpPr/>
          <p:nvPr/>
        </p:nvSpPr>
        <p:spPr>
          <a:xfrm>
            <a:off x="2679589" y="357809"/>
            <a:ext cx="1589165" cy="221394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2049900-4E10-7117-7C2F-AB2B7C83FB2A}"/>
              </a:ext>
            </a:extLst>
          </p:cNvPr>
          <p:cNvSpPr/>
          <p:nvPr/>
        </p:nvSpPr>
        <p:spPr>
          <a:xfrm>
            <a:off x="1566408" y="2572859"/>
            <a:ext cx="2956854" cy="1736747"/>
          </a:xfrm>
          <a:prstGeom prst="rect">
            <a:avLst/>
          </a:prstGeom>
          <a:noFill/>
          <a:ln w="28575">
            <a:solidFill>
              <a:srgbClr val="4F81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5BDDDCA-116B-A8CD-3B26-5A5732CDE4F7}"/>
              </a:ext>
            </a:extLst>
          </p:cNvPr>
          <p:cNvSpPr txBox="1"/>
          <p:nvPr/>
        </p:nvSpPr>
        <p:spPr>
          <a:xfrm>
            <a:off x="317634" y="802430"/>
            <a:ext cx="55794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R8</a:t>
            </a:r>
          </a:p>
        </p:txBody>
      </p:sp>
    </p:spTree>
    <p:extLst>
      <p:ext uri="{BB962C8B-B14F-4D97-AF65-F5344CB8AC3E}">
        <p14:creationId xmlns:p14="http://schemas.microsoft.com/office/powerpoint/2010/main" val="24011576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/>
      <p:bldP spid="10" grpId="0"/>
      <p:bldP spid="4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9EC073-F169-2794-026F-C61D39F90D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nline Media 1" title="NTU CV1711 TRVIT R8">
            <a:hlinkClick r:id="" action="ppaction://media"/>
            <a:extLst>
              <a:ext uri="{FF2B5EF4-FFF2-40B4-BE49-F238E27FC236}">
                <a16:creationId xmlns:a16="http://schemas.microsoft.com/office/drawing/2014/main" id="{F5382680-E42D-6802-BBD1-F686A3582A5D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9144000" cy="4898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88000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066AF-A921-28C1-8AF9-8942C769A0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EE9430D9-C363-3DAC-53C7-736738E91F4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3207" b="12242"/>
          <a:stretch>
            <a:fillRect/>
          </a:stretch>
        </p:blipFill>
        <p:spPr>
          <a:xfrm>
            <a:off x="4425659" y="691661"/>
            <a:ext cx="2372530" cy="383456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519DC58-D837-9D48-A223-711F461AA8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4524" y="900866"/>
            <a:ext cx="3537210" cy="353721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F7CF7B7-7CE4-AE82-E71E-3279B130976D}"/>
              </a:ext>
            </a:extLst>
          </p:cNvPr>
          <p:cNvSpPr txBox="1"/>
          <p:nvPr/>
        </p:nvSpPr>
        <p:spPr>
          <a:xfrm>
            <a:off x="317634" y="168441"/>
            <a:ext cx="54649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Where to download the slides?</a:t>
            </a:r>
            <a:endParaRPr kumimoji="0" lang="en-US" altLang="zh-CN" sz="2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6CD26AAB-4A93-9ECB-14BE-61E6F44E5164}"/>
              </a:ext>
            </a:extLst>
          </p:cNvPr>
          <p:cNvCxnSpPr>
            <a:cxnSpLocks/>
          </p:cNvCxnSpPr>
          <p:nvPr/>
        </p:nvCxnSpPr>
        <p:spPr>
          <a:xfrm flipV="1">
            <a:off x="3586555" y="2232204"/>
            <a:ext cx="839104" cy="37673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9B088EBD-1777-E072-C48A-7B3EB1AD8169}"/>
              </a:ext>
            </a:extLst>
          </p:cNvPr>
          <p:cNvSpPr/>
          <p:nvPr/>
        </p:nvSpPr>
        <p:spPr>
          <a:xfrm>
            <a:off x="5260065" y="4135176"/>
            <a:ext cx="1259095" cy="18671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F3545CA8-659F-6416-28CF-C6D29B01723D}"/>
              </a:ext>
            </a:extLst>
          </p:cNvPr>
          <p:cNvCxnSpPr>
            <a:cxnSpLocks/>
          </p:cNvCxnSpPr>
          <p:nvPr/>
        </p:nvCxnSpPr>
        <p:spPr>
          <a:xfrm flipH="1">
            <a:off x="6113837" y="3622345"/>
            <a:ext cx="315971" cy="42528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0530989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9A3103-6AB5-C3AD-490C-82D6BA9026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3423B50-6F8A-FF42-8010-498B01ABAE6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583"/>
          <a:stretch>
            <a:fillRect/>
          </a:stretch>
        </p:blipFill>
        <p:spPr>
          <a:xfrm>
            <a:off x="2252585" y="572391"/>
            <a:ext cx="5118274" cy="427738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7BA3256-6BBB-FE2C-5D19-1CA7D812ADD1}"/>
              </a:ext>
            </a:extLst>
          </p:cNvPr>
          <p:cNvSpPr txBox="1"/>
          <p:nvPr/>
        </p:nvSpPr>
        <p:spPr>
          <a:xfrm>
            <a:off x="317634" y="168441"/>
            <a:ext cx="81178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WEEK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11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–Revit H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andson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F8064B3-9C88-32BD-004D-C2878E74CF6D}"/>
              </a:ext>
            </a:extLst>
          </p:cNvPr>
          <p:cNvSpPr txBox="1"/>
          <p:nvPr/>
        </p:nvSpPr>
        <p:spPr>
          <a:xfrm>
            <a:off x="317634" y="807571"/>
            <a:ext cx="55794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R9</a:t>
            </a:r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301B2EE7-4456-CB9B-4C50-7570C43D1DC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FA053BF-B1E2-65E3-B17A-BDF0DF17D081}"/>
              </a:ext>
            </a:extLst>
          </p:cNvPr>
          <p:cNvSpPr txBox="1"/>
          <p:nvPr/>
        </p:nvSpPr>
        <p:spPr>
          <a:xfrm>
            <a:off x="317634" y="1219705"/>
            <a:ext cx="1934951" cy="9679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/>
              <a:t>F</a:t>
            </a:r>
            <a:r>
              <a:rPr lang="en-US" altLang="zh-CN" sz="2000" b="1" dirty="0"/>
              <a:t>inish and</a:t>
            </a:r>
            <a:r>
              <a:rPr lang="zh-CN" altLang="en-US" sz="2000" b="1" dirty="0"/>
              <a:t> </a:t>
            </a:r>
            <a:r>
              <a:rPr lang="en-US" altLang="zh-CN" sz="2000" b="1" dirty="0">
                <a:solidFill>
                  <a:srgbClr val="FF0000"/>
                </a:solidFill>
              </a:rPr>
              <a:t>Submit R9</a:t>
            </a:r>
            <a:endParaRPr lang="en-US" sz="20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4162130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0682BF-E65A-B90A-8B90-2612BE76BF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A grey circular object with a hole&#10;&#10;AI-generated content may be incorrect.">
            <a:extLst>
              <a:ext uri="{FF2B5EF4-FFF2-40B4-BE49-F238E27FC236}">
                <a16:creationId xmlns:a16="http://schemas.microsoft.com/office/drawing/2014/main" id="{5E02607A-675F-1B6E-D2D5-872992930A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1826" y="357738"/>
            <a:ext cx="1780539" cy="195760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428CCD4-FFA0-50D4-C123-3AF414A9F27B}"/>
              </a:ext>
            </a:extLst>
          </p:cNvPr>
          <p:cNvSpPr txBox="1"/>
          <p:nvPr/>
        </p:nvSpPr>
        <p:spPr>
          <a:xfrm>
            <a:off x="317634" y="168441"/>
            <a:ext cx="59628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WEEK 11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37BE8BA-3491-8E18-2C5F-63724711B75E}"/>
              </a:ext>
            </a:extLst>
          </p:cNvPr>
          <p:cNvSpPr txBox="1"/>
          <p:nvPr/>
        </p:nvSpPr>
        <p:spPr>
          <a:xfrm>
            <a:off x="7233541" y="4239524"/>
            <a:ext cx="10165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Plan</a:t>
            </a:r>
          </a:p>
        </p:txBody>
      </p:sp>
      <p:pic>
        <p:nvPicPr>
          <p:cNvPr id="4" name="Picture 3" descr="A drawing of a metal object&#10;&#10;AI-generated content may be incorrect.">
            <a:extLst>
              <a:ext uri="{FF2B5EF4-FFF2-40B4-BE49-F238E27FC236}">
                <a16:creationId xmlns:a16="http://schemas.microsoft.com/office/drawing/2014/main" id="{847014FC-C2E2-D34D-49A6-BD07303EE0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634" y="993677"/>
            <a:ext cx="3110101" cy="3344700"/>
          </a:xfrm>
          <a:prstGeom prst="rect">
            <a:avLst/>
          </a:prstGeom>
        </p:spPr>
      </p:pic>
      <p:pic>
        <p:nvPicPr>
          <p:cNvPr id="13" name="Picture 12" descr="A grey pipe with a couple of holes&#10;&#10;AI-generated content may be incorrect.">
            <a:extLst>
              <a:ext uri="{FF2B5EF4-FFF2-40B4-BE49-F238E27FC236}">
                <a16:creationId xmlns:a16="http://schemas.microsoft.com/office/drawing/2014/main" id="{BEFC933C-28E1-06C8-5617-389D9173453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33841" y="318810"/>
            <a:ext cx="2114319" cy="2035464"/>
          </a:xfrm>
          <a:prstGeom prst="rect">
            <a:avLst/>
          </a:prstGeom>
        </p:spPr>
      </p:pic>
      <p:pic>
        <p:nvPicPr>
          <p:cNvPr id="21" name="Picture 20" descr="A grey pipe with a hole&#10;&#10;AI-generated content may be incorrect.">
            <a:extLst>
              <a:ext uri="{FF2B5EF4-FFF2-40B4-BE49-F238E27FC236}">
                <a16:creationId xmlns:a16="http://schemas.microsoft.com/office/drawing/2014/main" id="{2A79AB80-43B4-8BE0-D12D-10F59C345B2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57248" y="2692073"/>
            <a:ext cx="2169118" cy="1658737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8C79EE53-ABC8-831D-2B7C-CB456D10F2C6}"/>
              </a:ext>
            </a:extLst>
          </p:cNvPr>
          <p:cNvSpPr txBox="1"/>
          <p:nvPr/>
        </p:nvSpPr>
        <p:spPr>
          <a:xfrm>
            <a:off x="4782058" y="2202418"/>
            <a:ext cx="12178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Elevation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5AB7E91-C84D-3C84-5F53-29B26B02EDF8}"/>
              </a:ext>
            </a:extLst>
          </p:cNvPr>
          <p:cNvSpPr txBox="1"/>
          <p:nvPr/>
        </p:nvSpPr>
        <p:spPr>
          <a:xfrm>
            <a:off x="7243829" y="2169608"/>
            <a:ext cx="10165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End</a:t>
            </a:r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65921B8E-9F6C-DEA1-2CC1-F7D2B5E0C0FF}"/>
              </a:ext>
            </a:extLst>
          </p:cNvPr>
          <p:cNvSpPr/>
          <p:nvPr/>
        </p:nvSpPr>
        <p:spPr>
          <a:xfrm>
            <a:off x="2282884" y="3842042"/>
            <a:ext cx="356623" cy="176645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017E139-1D45-80AE-7E4D-268FC3411CBA}"/>
              </a:ext>
            </a:extLst>
          </p:cNvPr>
          <p:cNvSpPr txBox="1"/>
          <p:nvPr/>
        </p:nvSpPr>
        <p:spPr>
          <a:xfrm>
            <a:off x="2673930" y="3780491"/>
            <a:ext cx="19308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  <a:r>
              <a:rPr lang="en-US" baseline="30000" dirty="0"/>
              <a:t>st</a:t>
            </a:r>
            <a:r>
              <a:rPr lang="en-US" dirty="0"/>
              <a:t> STEP: Extrusion</a:t>
            </a:r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563FE3AA-B143-8C6F-5059-F1F9898283CB}"/>
              </a:ext>
            </a:extLst>
          </p:cNvPr>
          <p:cNvSpPr/>
          <p:nvPr/>
        </p:nvSpPr>
        <p:spPr>
          <a:xfrm>
            <a:off x="2220572" y="3149539"/>
            <a:ext cx="356623" cy="176645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4A5B291-F3BD-1109-C0DE-C8BDA8BD26AF}"/>
              </a:ext>
            </a:extLst>
          </p:cNvPr>
          <p:cNvSpPr txBox="1"/>
          <p:nvPr/>
        </p:nvSpPr>
        <p:spPr>
          <a:xfrm>
            <a:off x="2710934" y="3085872"/>
            <a:ext cx="22380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</a:t>
            </a:r>
            <a:r>
              <a:rPr lang="en-US" baseline="30000" dirty="0"/>
              <a:t>ND</a:t>
            </a:r>
            <a:r>
              <a:rPr lang="en-US" dirty="0"/>
              <a:t> STEP: Revolve + Void </a:t>
            </a:r>
            <a:r>
              <a:rPr lang="en-US" altLang="zh-CN" dirty="0"/>
              <a:t>Revolve</a:t>
            </a:r>
            <a:endParaRPr lang="en-US" dirty="0"/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C097C716-BF5C-E898-E3A3-809E915CD7AA}"/>
              </a:ext>
            </a:extLst>
          </p:cNvPr>
          <p:cNvSpPr/>
          <p:nvPr/>
        </p:nvSpPr>
        <p:spPr>
          <a:xfrm>
            <a:off x="2527380" y="1280756"/>
            <a:ext cx="356623" cy="176645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3CFA2D7-05DA-995D-9F54-B2B8BA4CD599}"/>
              </a:ext>
            </a:extLst>
          </p:cNvPr>
          <p:cNvSpPr txBox="1"/>
          <p:nvPr/>
        </p:nvSpPr>
        <p:spPr>
          <a:xfrm>
            <a:off x="2919469" y="1184412"/>
            <a:ext cx="20501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</a:t>
            </a:r>
            <a:r>
              <a:rPr lang="en-US" baseline="30000" dirty="0"/>
              <a:t>RD</a:t>
            </a:r>
            <a:r>
              <a:rPr lang="en-US" dirty="0"/>
              <a:t> STEP: Extrusion</a:t>
            </a:r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5D6570E3-4D09-F58D-5173-09D3D4EFCBDB}"/>
              </a:ext>
            </a:extLst>
          </p:cNvPr>
          <p:cNvSpPr/>
          <p:nvPr/>
        </p:nvSpPr>
        <p:spPr>
          <a:xfrm rot="16200000">
            <a:off x="934696" y="1727466"/>
            <a:ext cx="356623" cy="176645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1B7DEB7-76A9-2171-31D1-FC5626DD2170}"/>
              </a:ext>
            </a:extLst>
          </p:cNvPr>
          <p:cNvSpPr txBox="1"/>
          <p:nvPr/>
        </p:nvSpPr>
        <p:spPr>
          <a:xfrm>
            <a:off x="141848" y="1012294"/>
            <a:ext cx="15497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4</a:t>
            </a:r>
            <a:r>
              <a:rPr lang="en-US" baseline="30000" dirty="0"/>
              <a:t>TH</a:t>
            </a:r>
            <a:r>
              <a:rPr lang="en-US" dirty="0"/>
              <a:t> STEP: Extrusion</a:t>
            </a:r>
          </a:p>
        </p:txBody>
      </p:sp>
    </p:spTree>
    <p:extLst>
      <p:ext uri="{BB962C8B-B14F-4D97-AF65-F5344CB8AC3E}">
        <p14:creationId xmlns:p14="http://schemas.microsoft.com/office/powerpoint/2010/main" val="273714056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5439B5-DC5E-24DE-9811-45C96AE7CF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645D5E4-FAC8-886A-BC43-70B58F9957C0}"/>
              </a:ext>
            </a:extLst>
          </p:cNvPr>
          <p:cNvSpPr txBox="1"/>
          <p:nvPr/>
        </p:nvSpPr>
        <p:spPr>
          <a:xfrm>
            <a:off x="924631" y="856080"/>
            <a:ext cx="5701800" cy="23529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FF0000"/>
                </a:solidFill>
              </a:rPr>
              <a:t>NO exercise for Week 12 (home-based learning)</a:t>
            </a:r>
          </a:p>
          <a:p>
            <a:pPr>
              <a:lnSpc>
                <a:spcPct val="150000"/>
              </a:lnSpc>
            </a:pPr>
            <a:endParaRPr lang="en-US" sz="2000" b="1" dirty="0">
              <a:solidFill>
                <a:srgbClr val="FF0000"/>
              </a:solidFill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FF0000"/>
                </a:solidFill>
              </a:rPr>
              <a:t>Prepare for Quiz 2 in Week13</a:t>
            </a:r>
          </a:p>
          <a:p>
            <a:pPr>
              <a:lnSpc>
                <a:spcPct val="150000"/>
              </a:lnSpc>
            </a:pPr>
            <a:endParaRPr lang="en-US" sz="2000" b="1" dirty="0">
              <a:solidFill>
                <a:srgbClr val="FF0000"/>
              </a:solidFill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FF0000"/>
                </a:solidFill>
              </a:rPr>
              <a:t>Can come to the EST Lab for practice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965BC99-8703-D075-A3BF-26540993B1C1}"/>
              </a:ext>
            </a:extLst>
          </p:cNvPr>
          <p:cNvSpPr txBox="1"/>
          <p:nvPr/>
        </p:nvSpPr>
        <p:spPr>
          <a:xfrm>
            <a:off x="317634" y="168441"/>
            <a:ext cx="59628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WEEK 11</a:t>
            </a:r>
          </a:p>
        </p:txBody>
      </p:sp>
    </p:spTree>
    <p:extLst>
      <p:ext uri="{BB962C8B-B14F-4D97-AF65-F5344CB8AC3E}">
        <p14:creationId xmlns:p14="http://schemas.microsoft.com/office/powerpoint/2010/main" val="78363179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066AF-A921-28C1-8AF9-8942C769A0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EE9430D9-C363-3DAC-53C7-736738E91F4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3207" b="12242"/>
          <a:stretch>
            <a:fillRect/>
          </a:stretch>
        </p:blipFill>
        <p:spPr>
          <a:xfrm>
            <a:off x="4425659" y="691661"/>
            <a:ext cx="2372530" cy="383456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519DC58-D837-9D48-A223-711F461AA8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4524" y="900866"/>
            <a:ext cx="3537210" cy="353721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F7CF7B7-7CE4-AE82-E71E-3279B130976D}"/>
              </a:ext>
            </a:extLst>
          </p:cNvPr>
          <p:cNvSpPr txBox="1"/>
          <p:nvPr/>
        </p:nvSpPr>
        <p:spPr>
          <a:xfrm>
            <a:off x="317634" y="168441"/>
            <a:ext cx="54649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Where to download the slides?</a:t>
            </a:r>
            <a:endParaRPr kumimoji="0" lang="en-US" altLang="zh-CN" sz="2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6CD26AAB-4A93-9ECB-14BE-61E6F44E5164}"/>
              </a:ext>
            </a:extLst>
          </p:cNvPr>
          <p:cNvCxnSpPr>
            <a:cxnSpLocks/>
          </p:cNvCxnSpPr>
          <p:nvPr/>
        </p:nvCxnSpPr>
        <p:spPr>
          <a:xfrm flipV="1">
            <a:off x="3586555" y="2232204"/>
            <a:ext cx="839104" cy="37673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9B088EBD-1777-E072-C48A-7B3EB1AD8169}"/>
              </a:ext>
            </a:extLst>
          </p:cNvPr>
          <p:cNvSpPr/>
          <p:nvPr/>
        </p:nvSpPr>
        <p:spPr>
          <a:xfrm>
            <a:off x="5260065" y="4135176"/>
            <a:ext cx="1259095" cy="18671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F3545CA8-659F-6416-28CF-C6D29B01723D}"/>
              </a:ext>
            </a:extLst>
          </p:cNvPr>
          <p:cNvCxnSpPr>
            <a:cxnSpLocks/>
          </p:cNvCxnSpPr>
          <p:nvPr/>
        </p:nvCxnSpPr>
        <p:spPr>
          <a:xfrm flipH="1">
            <a:off x="6113837" y="3622345"/>
            <a:ext cx="315971" cy="42528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3593248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22E4B0-D2D7-4D6E-594F-AB8960B9D5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B2D508F-00E3-9EC3-11DA-13A15FC4C041}"/>
              </a:ext>
            </a:extLst>
          </p:cNvPr>
          <p:cNvSpPr txBox="1"/>
          <p:nvPr/>
        </p:nvSpPr>
        <p:spPr>
          <a:xfrm>
            <a:off x="924631" y="856080"/>
            <a:ext cx="5701800" cy="23529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FF0000"/>
                </a:solidFill>
              </a:rPr>
              <a:t>NO exercise for Week 12 (home-based learning)</a:t>
            </a:r>
          </a:p>
          <a:p>
            <a:pPr>
              <a:lnSpc>
                <a:spcPct val="150000"/>
              </a:lnSpc>
            </a:pPr>
            <a:endParaRPr lang="en-US" sz="2000" b="1" dirty="0">
              <a:solidFill>
                <a:srgbClr val="FF0000"/>
              </a:solidFill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FF0000"/>
                </a:solidFill>
              </a:rPr>
              <a:t>Prepare for Quiz 2 in Week13</a:t>
            </a:r>
          </a:p>
          <a:p>
            <a:pPr>
              <a:lnSpc>
                <a:spcPct val="150000"/>
              </a:lnSpc>
            </a:pPr>
            <a:endParaRPr lang="en-US" sz="2000" b="1" dirty="0">
              <a:solidFill>
                <a:srgbClr val="FF0000"/>
              </a:solidFill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FF0000"/>
                </a:solidFill>
              </a:rPr>
              <a:t>Can come to the EST Lab for practice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F81E9CB-91D0-892F-8073-880DABD1E42D}"/>
              </a:ext>
            </a:extLst>
          </p:cNvPr>
          <p:cNvSpPr txBox="1"/>
          <p:nvPr/>
        </p:nvSpPr>
        <p:spPr>
          <a:xfrm>
            <a:off x="317634" y="168441"/>
            <a:ext cx="59628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WEEK 12</a:t>
            </a:r>
          </a:p>
        </p:txBody>
      </p:sp>
    </p:spTree>
    <p:extLst>
      <p:ext uri="{BB962C8B-B14F-4D97-AF65-F5344CB8AC3E}">
        <p14:creationId xmlns:p14="http://schemas.microsoft.com/office/powerpoint/2010/main" val="262868065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145753D-6AF6-318A-605E-547BC72BD9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691661"/>
            <a:ext cx="8229600" cy="2907092"/>
          </a:xfrm>
        </p:spPr>
        <p:txBody>
          <a:bodyPr>
            <a:normAutofit/>
          </a:bodyPr>
          <a:lstStyle/>
          <a:p>
            <a:r>
              <a:rPr lang="en-SG" sz="2000"/>
              <a:t>Extrusion: Create a 3D solid by extruding a 2D shape (profile) </a:t>
            </a:r>
          </a:p>
          <a:p>
            <a:pPr lvl="1"/>
            <a:r>
              <a:rPr lang="en-SG" sz="1800"/>
              <a:t>Example: Create a cylinder with diameter of 50mm and height of 100mm</a:t>
            </a:r>
          </a:p>
        </p:txBody>
      </p:sp>
      <p:pic>
        <p:nvPicPr>
          <p:cNvPr id="9" name="20251017154552">
            <a:hlinkClick r:id="" action="ppaction://media"/>
            <a:extLst>
              <a:ext uri="{FF2B5EF4-FFF2-40B4-BE49-F238E27FC236}">
                <a16:creationId xmlns:a16="http://schemas.microsoft.com/office/drawing/2014/main" id="{85FD2088-1394-C462-FE4B-17AE8B1764DD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820068" y="1700474"/>
            <a:ext cx="5252245" cy="295438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4EC9C77-DBBF-417E-F282-9AF93CE54A56}"/>
              </a:ext>
            </a:extLst>
          </p:cNvPr>
          <p:cNvSpPr txBox="1"/>
          <p:nvPr/>
        </p:nvSpPr>
        <p:spPr>
          <a:xfrm>
            <a:off x="317634" y="168441"/>
            <a:ext cx="59628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/>
              <a:t>RECAP</a:t>
            </a:r>
          </a:p>
        </p:txBody>
      </p:sp>
    </p:spTree>
    <p:extLst>
      <p:ext uri="{BB962C8B-B14F-4D97-AF65-F5344CB8AC3E}">
        <p14:creationId xmlns:p14="http://schemas.microsoft.com/office/powerpoint/2010/main" val="11999516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3019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video>
              <p:cMediaNode vol="80000">
                <p:cTn id="12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E231C3-8088-C43B-FA26-859EB0EEBF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48184"/>
            <a:ext cx="8229600" cy="3545396"/>
          </a:xfrm>
        </p:spPr>
        <p:txBody>
          <a:bodyPr>
            <a:normAutofit/>
          </a:bodyPr>
          <a:lstStyle/>
          <a:p>
            <a:pPr>
              <a:lnSpc>
                <a:spcPct val="160000"/>
              </a:lnSpc>
            </a:pPr>
            <a:r>
              <a:rPr lang="en-SG" sz="1400"/>
              <a:t>Sweep: create a 3D shape by sweeping a 2D profile along a path</a:t>
            </a:r>
          </a:p>
          <a:p>
            <a:pPr>
              <a:lnSpc>
                <a:spcPct val="160000"/>
              </a:lnSpc>
            </a:pPr>
            <a:r>
              <a:rPr lang="en-SG" sz="1400"/>
              <a:t>Procedure:</a:t>
            </a:r>
          </a:p>
          <a:p>
            <a:pPr marL="385763" indent="-385763">
              <a:lnSpc>
                <a:spcPct val="160000"/>
              </a:lnSpc>
              <a:buAutoNum type="arabicPeriod"/>
            </a:pPr>
            <a:r>
              <a:rPr lang="en-SG" sz="1400"/>
              <a:t>Make sure you are on the </a:t>
            </a:r>
            <a:r>
              <a:rPr lang="en-SG" sz="1400" b="1"/>
              <a:t>correct working plane </a:t>
            </a:r>
            <a:r>
              <a:rPr lang="en-SG" sz="1400"/>
              <a:t>where you want to sketch path (VERY IMPORTANT FOR R5)</a:t>
            </a:r>
          </a:p>
          <a:p>
            <a:pPr marL="385763" indent="-385763">
              <a:lnSpc>
                <a:spcPct val="160000"/>
              </a:lnSpc>
              <a:buAutoNum type="arabicPeriod"/>
            </a:pPr>
            <a:r>
              <a:rPr lang="en-SG" sz="1400"/>
              <a:t>Sketch the path (</a:t>
            </a:r>
            <a:r>
              <a:rPr lang="en-SG" sz="1400">
                <a:solidFill>
                  <a:srgbClr val="FF0000"/>
                </a:solidFill>
              </a:rPr>
              <a:t>Remarks: Sometimes, Pick Path will not work; use Sketch Path instead</a:t>
            </a:r>
            <a:r>
              <a:rPr lang="en-SG" sz="1400"/>
              <a:t>)</a:t>
            </a:r>
          </a:p>
          <a:p>
            <a:pPr marL="385763" indent="-385763">
              <a:lnSpc>
                <a:spcPct val="160000"/>
              </a:lnSpc>
              <a:buAutoNum type="arabicPeriod"/>
            </a:pPr>
            <a:r>
              <a:rPr lang="en-SG" sz="1400" b="1"/>
              <a:t>Before finishing the path, drag the cross section to the desired position</a:t>
            </a:r>
            <a:r>
              <a:rPr lang="en-SG" sz="1400"/>
              <a:t>. Then Finish edit mode</a:t>
            </a:r>
          </a:p>
          <a:p>
            <a:pPr marL="385763" indent="-385763">
              <a:lnSpc>
                <a:spcPct val="160000"/>
              </a:lnSpc>
              <a:buAutoNum type="arabicPeriod"/>
            </a:pPr>
            <a:r>
              <a:rPr lang="en-SG" sz="1400"/>
              <a:t>Select profile &gt; Edit Profile &gt; </a:t>
            </a:r>
            <a:r>
              <a:rPr lang="en-SG" sz="1400" b="1"/>
              <a:t>Draw the 2D profile on the correct plane</a:t>
            </a:r>
          </a:p>
          <a:p>
            <a:pPr marL="385763" indent="-385763">
              <a:lnSpc>
                <a:spcPct val="160000"/>
              </a:lnSpc>
              <a:buAutoNum type="arabicPeriod"/>
            </a:pPr>
            <a:r>
              <a:rPr lang="en-SG" sz="1400"/>
              <a:t>Finish edit mode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EC85F14-F89A-89FB-07C4-E37D834442AF}"/>
              </a:ext>
            </a:extLst>
          </p:cNvPr>
          <p:cNvSpPr txBox="1"/>
          <p:nvPr/>
        </p:nvSpPr>
        <p:spPr>
          <a:xfrm>
            <a:off x="317634" y="168441"/>
            <a:ext cx="59628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/>
              <a:t>RECAP</a:t>
            </a:r>
          </a:p>
        </p:txBody>
      </p:sp>
    </p:spTree>
    <p:extLst>
      <p:ext uri="{BB962C8B-B14F-4D97-AF65-F5344CB8AC3E}">
        <p14:creationId xmlns:p14="http://schemas.microsoft.com/office/powerpoint/2010/main" val="418357368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FBEFC2-9203-9144-756B-BAFD7FFA16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702719"/>
            <a:ext cx="3750469" cy="3738062"/>
          </a:xfrm>
        </p:spPr>
        <p:txBody>
          <a:bodyPr/>
          <a:lstStyle/>
          <a:p>
            <a:r>
              <a:rPr lang="en-SG" sz="1800"/>
              <a:t>Void: </a:t>
            </a:r>
            <a:r>
              <a:rPr lang="en-SG" sz="1800" b="1"/>
              <a:t>Remove material </a:t>
            </a:r>
            <a:r>
              <a:rPr lang="en-SG" sz="1800"/>
              <a:t>from the existing 3D shape</a:t>
            </a:r>
          </a:p>
          <a:p>
            <a:endParaRPr lang="en-SG" sz="1800"/>
          </a:p>
          <a:p>
            <a:endParaRPr lang="en-SG" sz="1800"/>
          </a:p>
          <a:p>
            <a:endParaRPr lang="en-SG" sz="1800"/>
          </a:p>
          <a:p>
            <a:pPr marL="0" indent="0">
              <a:buNone/>
            </a:pPr>
            <a:endParaRPr lang="en-SG" sz="1800"/>
          </a:p>
        </p:txBody>
      </p:sp>
      <p:pic>
        <p:nvPicPr>
          <p:cNvPr id="6" name="20251017160724">
            <a:hlinkClick r:id="" action="ppaction://media"/>
            <a:extLst>
              <a:ext uri="{FF2B5EF4-FFF2-40B4-BE49-F238E27FC236}">
                <a16:creationId xmlns:a16="http://schemas.microsoft.com/office/drawing/2014/main" id="{002FD714-8854-2E86-8F26-A3B210CB3DEF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rcRect l="17708" r="18125"/>
          <a:stretch>
            <a:fillRect/>
          </a:stretch>
        </p:blipFill>
        <p:spPr>
          <a:xfrm>
            <a:off x="5593556" y="1929567"/>
            <a:ext cx="2864644" cy="251121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C4B2295-E316-6ADF-9BAD-DC6D8806C837}"/>
              </a:ext>
            </a:extLst>
          </p:cNvPr>
          <p:cNvSpPr txBox="1"/>
          <p:nvPr/>
        </p:nvSpPr>
        <p:spPr>
          <a:xfrm>
            <a:off x="4572000" y="702718"/>
            <a:ext cx="4572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57168" indent="-257168" defTabSz="342892">
              <a:spcBef>
                <a:spcPct val="20000"/>
              </a:spcBef>
              <a:buFont typeface="Arial"/>
              <a:buChar char="•"/>
              <a:defRPr/>
            </a:pPr>
            <a:r>
              <a:rPr lang="en-SG">
                <a:solidFill>
                  <a:prstClr val="black"/>
                </a:solidFill>
                <a:latin typeface="Arial"/>
              </a:rPr>
              <a:t>Blend: Create a solid 3D shape that changes along its length, blending from a starting shape to an ending shape</a:t>
            </a:r>
          </a:p>
        </p:txBody>
      </p:sp>
      <p:pic>
        <p:nvPicPr>
          <p:cNvPr id="11" name="20251017161114">
            <a:hlinkClick r:id="" action="ppaction://media"/>
            <a:extLst>
              <a:ext uri="{FF2B5EF4-FFF2-40B4-BE49-F238E27FC236}">
                <a16:creationId xmlns:a16="http://schemas.microsoft.com/office/drawing/2014/main" id="{7936B767-6D83-F858-1E82-8ADA18618373}"/>
              </a:ext>
            </a:extLst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8"/>
          <a:srcRect l="17378" r="16563"/>
          <a:stretch>
            <a:fillRect/>
          </a:stretch>
        </p:blipFill>
        <p:spPr>
          <a:xfrm>
            <a:off x="857852" y="1812775"/>
            <a:ext cx="2949164" cy="251121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3068919-C7F7-E203-C665-6774AAFB2B74}"/>
              </a:ext>
            </a:extLst>
          </p:cNvPr>
          <p:cNvSpPr txBox="1"/>
          <p:nvPr/>
        </p:nvSpPr>
        <p:spPr>
          <a:xfrm>
            <a:off x="317634" y="168441"/>
            <a:ext cx="59628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/>
              <a:t>RECAP</a:t>
            </a:r>
          </a:p>
        </p:txBody>
      </p:sp>
    </p:spTree>
    <p:extLst>
      <p:ext uri="{BB962C8B-B14F-4D97-AF65-F5344CB8AC3E}">
        <p14:creationId xmlns:p14="http://schemas.microsoft.com/office/powerpoint/2010/main" val="37099269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168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21745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11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  <p:seq concurrent="1" nextAc="seek">
              <p:cTn id="12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video>
              <p:cMediaNode vol="80000">
                <p:cTn id="17" fill="hold" display="0">
                  <p:stCondLst>
                    <p:cond delay="indefinite"/>
                  </p:stCondLst>
                </p:cTn>
                <p:tgtEl>
                  <p:spTgt spid="11"/>
                </p:tgtEl>
              </p:cMediaNode>
            </p:video>
            <p:seq concurrent="1" nextAc="seek">
              <p:cTn id="18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2" dur="1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603EFD8-2E46-9E34-9A1F-EAB9283131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970" y="503951"/>
            <a:ext cx="3445544" cy="259804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2D30EAA-1126-BDB4-50E5-667352A83248}"/>
              </a:ext>
            </a:extLst>
          </p:cNvPr>
          <p:cNvSpPr txBox="1"/>
          <p:nvPr/>
        </p:nvSpPr>
        <p:spPr>
          <a:xfrm>
            <a:off x="5557225" y="767720"/>
            <a:ext cx="2642696" cy="4290918"/>
          </a:xfrm>
          <a:prstGeom prst="rect">
            <a:avLst/>
          </a:prstGeom>
          <a:noFill/>
        </p:spPr>
        <p:txBody>
          <a:bodyPr wrap="square" lIns="68580" tIns="34290" rIns="68580" bIns="34290" rtlCol="0" anchor="t">
            <a:spAutoFit/>
          </a:bodyPr>
          <a:lstStyle/>
          <a:p>
            <a:pPr>
              <a:spcBef>
                <a:spcPts val="450"/>
              </a:spcBef>
              <a:spcAft>
                <a:spcPts val="450"/>
              </a:spcAft>
            </a:pPr>
            <a:r>
              <a:rPr lang="en-SG" sz="1350" dirty="0">
                <a:latin typeface="Arial" panose="020B0604020202020204" pitchFamily="34" charset="0"/>
                <a:cs typeface="Arial" panose="020B0604020202020204" pitchFamily="34" charset="0"/>
              </a:rPr>
              <a:t>Notes</a:t>
            </a:r>
          </a:p>
          <a:p>
            <a:pPr marL="214313" indent="-214313">
              <a:spcBef>
                <a:spcPts val="450"/>
              </a:spcBef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lang="en-SG" sz="1350" dirty="0">
                <a:latin typeface="Arial" panose="020B0604020202020204" pitchFamily="34" charset="0"/>
                <a:cs typeface="Arial" panose="020B0604020202020204" pitchFamily="34" charset="0"/>
              </a:rPr>
              <a:t>You need to use Blend, Sweep and Void to do this exercise</a:t>
            </a:r>
          </a:p>
          <a:p>
            <a:pPr marL="214313" indent="-214313">
              <a:spcBef>
                <a:spcPts val="450"/>
              </a:spcBef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lang="en-SG" sz="1350" dirty="0">
                <a:latin typeface="Arial" panose="020B0604020202020204" pitchFamily="34" charset="0"/>
                <a:cs typeface="Arial" panose="020B0604020202020204" pitchFamily="34" charset="0"/>
              </a:rPr>
              <a:t>Remember to fillet the corners</a:t>
            </a:r>
          </a:p>
          <a:p>
            <a:pPr marL="214313" indent="-214313">
              <a:spcBef>
                <a:spcPts val="450"/>
              </a:spcBef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lang="en-SG" sz="1350" b="1" dirty="0">
                <a:latin typeface="Arial"/>
                <a:cs typeface="Arial"/>
              </a:rPr>
              <a:t>Sweep</a:t>
            </a:r>
            <a:r>
              <a:rPr lang="en-SG" sz="1350" dirty="0">
                <a:latin typeface="Arial"/>
                <a:cs typeface="Arial"/>
              </a:rPr>
              <a:t>: draw the path in the middle / at the edge like in the video. If the Sweep object is off from the Blend base, you can use </a:t>
            </a:r>
            <a:r>
              <a:rPr lang="en-SG" sz="1350" b="1" dirty="0">
                <a:latin typeface="Arial"/>
                <a:cs typeface="Arial"/>
              </a:rPr>
              <a:t>Move </a:t>
            </a:r>
            <a:r>
              <a:rPr lang="en-SG" sz="1350" dirty="0">
                <a:latin typeface="Arial"/>
                <a:cs typeface="Arial"/>
              </a:rPr>
              <a:t>to align the 2 parts after you finish</a:t>
            </a:r>
            <a:endParaRPr lang="en-SG" sz="135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14313" indent="-214313">
              <a:spcBef>
                <a:spcPts val="450"/>
              </a:spcBef>
              <a:spcAft>
                <a:spcPts val="450"/>
              </a:spcAft>
              <a:buFont typeface="Arial" panose="020B0604020202020204" pitchFamily="34" charset="0"/>
              <a:buChar char="•"/>
            </a:pPr>
            <a:endParaRPr lang="en-SG" sz="135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57175" indent="-257175">
              <a:spcBef>
                <a:spcPts val="450"/>
              </a:spcBef>
              <a:spcAft>
                <a:spcPts val="450"/>
              </a:spcAft>
              <a:buFont typeface="Calibri" panose="020F0502020204030204"/>
              <a:buAutoNum type="arabicPeriod"/>
            </a:pPr>
            <a:endParaRPr lang="en-SG" sz="135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57175" indent="-257175">
              <a:spcBef>
                <a:spcPts val="450"/>
              </a:spcBef>
              <a:spcAft>
                <a:spcPts val="450"/>
              </a:spcAft>
              <a:buFont typeface="Calibri" panose="020F0502020204030204"/>
              <a:buAutoNum type="arabicPeriod"/>
            </a:pPr>
            <a:endParaRPr lang="en-SG" sz="135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ts val="450"/>
              </a:spcBef>
              <a:spcAft>
                <a:spcPts val="450"/>
              </a:spcAft>
            </a:pPr>
            <a:endParaRPr lang="en-SG" sz="13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BDA3741-A087-3A10-2302-433A99C124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55278" y="3093244"/>
            <a:ext cx="2514600" cy="1691420"/>
          </a:xfrm>
          <a:prstGeom prst="rect">
            <a:avLst/>
          </a:prstGeom>
        </p:spPr>
      </p:pic>
      <p:pic>
        <p:nvPicPr>
          <p:cNvPr id="4" name="Picture 3" descr="A drawing of a line&#10;&#10;AI-generated content may be incorrect.">
            <a:extLst>
              <a:ext uri="{FF2B5EF4-FFF2-40B4-BE49-F238E27FC236}">
                <a16:creationId xmlns:a16="http://schemas.microsoft.com/office/drawing/2014/main" id="{47F60539-87D2-C7DC-B03A-33C7D6A1927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2754" y="3159734"/>
            <a:ext cx="1988711" cy="177824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1669FF6-0501-3F87-7129-D57B48680E41}"/>
              </a:ext>
            </a:extLst>
          </p:cNvPr>
          <p:cNvSpPr txBox="1"/>
          <p:nvPr/>
        </p:nvSpPr>
        <p:spPr>
          <a:xfrm>
            <a:off x="477046" y="3448207"/>
            <a:ext cx="997859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350">
                <a:ea typeface="Calibri"/>
                <a:cs typeface="Calibri"/>
              </a:rPr>
              <a:t>Sweep path</a:t>
            </a:r>
            <a:endParaRPr lang="en-US" sz="135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3045410-E8AF-AFF9-05B1-3721DC0FCA40}"/>
              </a:ext>
            </a:extLst>
          </p:cNvPr>
          <p:cNvSpPr txBox="1"/>
          <p:nvPr/>
        </p:nvSpPr>
        <p:spPr>
          <a:xfrm>
            <a:off x="4433584" y="3122891"/>
            <a:ext cx="997859" cy="48474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350">
                <a:ea typeface="Calibri"/>
                <a:cs typeface="Calibri"/>
              </a:rPr>
              <a:t>Move function</a:t>
            </a:r>
            <a:endParaRPr lang="en-US" sz="135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8986FEF-10E6-0D6D-C921-2F1ADECD2943}"/>
              </a:ext>
            </a:extLst>
          </p:cNvPr>
          <p:cNvSpPr txBox="1"/>
          <p:nvPr/>
        </p:nvSpPr>
        <p:spPr>
          <a:xfrm>
            <a:off x="317634" y="168441"/>
            <a:ext cx="59628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/>
              <a:t>R8</a:t>
            </a:r>
          </a:p>
        </p:txBody>
      </p:sp>
    </p:spTree>
    <p:extLst>
      <p:ext uri="{BB962C8B-B14F-4D97-AF65-F5344CB8AC3E}">
        <p14:creationId xmlns:p14="http://schemas.microsoft.com/office/powerpoint/2010/main" val="349218738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AE8757-789A-5D7F-D36F-C5239CB8B1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/>
              <a:t>R9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36753F7-3069-BE5F-0785-1492802260D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49481" y="568873"/>
            <a:ext cx="4122519" cy="352950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B76429E-9FDA-DB09-C682-AE230D8CDAD2}"/>
              </a:ext>
            </a:extLst>
          </p:cNvPr>
          <p:cNvSpPr txBox="1"/>
          <p:nvPr/>
        </p:nvSpPr>
        <p:spPr>
          <a:xfrm>
            <a:off x="5557225" y="767720"/>
            <a:ext cx="2642696" cy="4083169"/>
          </a:xfrm>
          <a:prstGeom prst="rect">
            <a:avLst/>
          </a:prstGeom>
          <a:noFill/>
        </p:spPr>
        <p:txBody>
          <a:bodyPr wrap="square" lIns="68580" tIns="34290" rIns="68580" bIns="34290" rtlCol="0" anchor="t">
            <a:spAutoFit/>
          </a:bodyPr>
          <a:lstStyle/>
          <a:p>
            <a:pPr>
              <a:spcBef>
                <a:spcPts val="450"/>
              </a:spcBef>
              <a:spcAft>
                <a:spcPts val="450"/>
              </a:spcAft>
            </a:pPr>
            <a:r>
              <a:rPr lang="en-SG" sz="1350">
                <a:latin typeface="Arial" panose="020B0604020202020204" pitchFamily="34" charset="0"/>
                <a:cs typeface="Arial" panose="020B0604020202020204" pitchFamily="34" charset="0"/>
              </a:rPr>
              <a:t>Notes</a:t>
            </a:r>
          </a:p>
          <a:p>
            <a:pPr marL="214313" indent="-214313">
              <a:spcBef>
                <a:spcPts val="450"/>
              </a:spcBef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lang="en-SG" sz="1350">
                <a:latin typeface="Arial" panose="020B0604020202020204" pitchFamily="34" charset="0"/>
                <a:cs typeface="Arial" panose="020B0604020202020204" pitchFamily="34" charset="0"/>
              </a:rPr>
              <a:t>There are multiple ways to do this exercise. You can use Extrusion/Sweep/Void</a:t>
            </a:r>
          </a:p>
          <a:p>
            <a:pPr marL="214313" indent="-214313">
              <a:spcBef>
                <a:spcPts val="450"/>
              </a:spcBef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lang="en-SG" sz="1350">
                <a:latin typeface="Arial" panose="020B0604020202020204" pitchFamily="34" charset="0"/>
                <a:cs typeface="Arial" panose="020B0604020202020204" pitchFamily="34" charset="0"/>
              </a:rPr>
              <a:t>Remember select the correct working plane for the small tube!!!</a:t>
            </a:r>
          </a:p>
          <a:p>
            <a:pPr marL="214313" indent="-214313">
              <a:spcBef>
                <a:spcPts val="450"/>
              </a:spcBef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lang="en-SG" sz="1350">
                <a:latin typeface="Arial"/>
                <a:cs typeface="Arial"/>
              </a:rPr>
              <a:t>In the last step in the solution video, they use Void Revolve, but you can also use Void Sweep</a:t>
            </a:r>
            <a:endParaRPr lang="en-SG" sz="135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14313" indent="-214313">
              <a:spcBef>
                <a:spcPts val="450"/>
              </a:spcBef>
              <a:spcAft>
                <a:spcPts val="450"/>
              </a:spcAft>
              <a:buFont typeface="Arial" panose="020B0604020202020204" pitchFamily="34" charset="0"/>
              <a:buChar char="•"/>
            </a:pPr>
            <a:endParaRPr lang="en-SG" sz="135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57175" indent="-257175">
              <a:spcBef>
                <a:spcPts val="450"/>
              </a:spcBef>
              <a:spcAft>
                <a:spcPts val="450"/>
              </a:spcAft>
              <a:buFont typeface="Calibri" panose="020F0502020204030204"/>
              <a:buAutoNum type="arabicPeriod"/>
            </a:pPr>
            <a:endParaRPr lang="en-SG" sz="135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57175" indent="-257175">
              <a:spcBef>
                <a:spcPts val="450"/>
              </a:spcBef>
              <a:spcAft>
                <a:spcPts val="450"/>
              </a:spcAft>
              <a:buFont typeface="Calibri" panose="020F0502020204030204"/>
              <a:buAutoNum type="arabicPeriod"/>
            </a:pPr>
            <a:endParaRPr lang="en-SG" sz="135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ts val="450"/>
              </a:spcBef>
              <a:spcAft>
                <a:spcPts val="450"/>
              </a:spcAft>
            </a:pPr>
            <a:endParaRPr lang="en-SG" sz="135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80AC674-F9AC-DCBD-DCB1-D1CAC654D1B5}"/>
              </a:ext>
            </a:extLst>
          </p:cNvPr>
          <p:cNvSpPr txBox="1"/>
          <p:nvPr/>
        </p:nvSpPr>
        <p:spPr>
          <a:xfrm>
            <a:off x="317634" y="168441"/>
            <a:ext cx="59628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/>
              <a:t>R9</a:t>
            </a:r>
          </a:p>
        </p:txBody>
      </p:sp>
    </p:spTree>
    <p:extLst>
      <p:ext uri="{BB962C8B-B14F-4D97-AF65-F5344CB8AC3E}">
        <p14:creationId xmlns:p14="http://schemas.microsoft.com/office/powerpoint/2010/main" val="30537370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PublishingExpirationDate xmlns="http://schemas.microsoft.com/sharepoint/v3" xsi:nil="true"/>
    <PublishingStartDate xmlns="http://schemas.microsoft.com/sharepoint/v3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28E816AC679FF4C86C22834E825BD05" ma:contentTypeVersion="1" ma:contentTypeDescription="Create a new document." ma:contentTypeScope="" ma:versionID="066e42d507d75a122d0db91dd470f30a">
  <xsd:schema xmlns:xsd="http://www.w3.org/2001/XMLSchema" xmlns:xs="http://www.w3.org/2001/XMLSchema" xmlns:p="http://schemas.microsoft.com/office/2006/metadata/properties" xmlns:ns1="http://schemas.microsoft.com/sharepoint/v3" targetNamespace="http://schemas.microsoft.com/office/2006/metadata/properties" ma:root="true" ma:fieldsID="48c5b5cd9b8d25ff6dd15848836f4270" ns1:_="">
    <xsd:import namespace="http://schemas.microsoft.com/sharepoint/v3"/>
    <xsd:element name="properties">
      <xsd:complexType>
        <xsd:sequence>
          <xsd:element name="documentManagement">
            <xsd:complexType>
              <xsd:all>
                <xsd:element ref="ns1:PublishingStartDate" minOccurs="0"/>
                <xsd:element ref="ns1:PublishingExpirationDat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PublishingStartDate" ma:index="8" nillable="true" ma:displayName="Scheduling Start Date" ma:description="Scheduling Start Date is a site column created by the Publishing feature. It is used to specify the date and time on which this page will first appear to site visitors." ma:hidden="true" ma:internalName="PublishingStartDate">
      <xsd:simpleType>
        <xsd:restriction base="dms:Unknown"/>
      </xsd:simpleType>
    </xsd:element>
    <xsd:element name="PublishingExpirationDate" ma:index="9" nillable="true" ma:displayName="Scheduling End Date" ma:description="Scheduling End Date is a site column created by the Publishing feature. It is used to specify the date and time on which this page will no longer appear to site visitors." ma:hidden="true" ma:internalName="PublishingExpirationDat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64D3FE7-A0C8-4453-A806-BCAD6F53B901}">
  <ds:schemaRefs>
    <ds:schemaRef ds:uri="http://schemas.microsoft.com/office/2006/documentManagement/types"/>
    <ds:schemaRef ds:uri="http://www.w3.org/XML/1998/namespace"/>
    <ds:schemaRef ds:uri="http://purl.org/dc/elements/1.1/"/>
    <ds:schemaRef ds:uri="http://schemas.microsoft.com/office/infopath/2007/PartnerControls"/>
    <ds:schemaRef ds:uri="http://schemas.openxmlformats.org/package/2006/metadata/core-properties"/>
    <ds:schemaRef ds:uri="http://schemas.microsoft.com/sharepoint/v3"/>
    <ds:schemaRef ds:uri="http://schemas.microsoft.com/office/2006/metadata/properties"/>
    <ds:schemaRef ds:uri="http://purl.org/dc/dcmitype/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6CCB8030-6F99-446F-BD3B-E5E3F435F1F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FA540F8-4ACB-4DC8-920F-A3CE5A42B988}">
  <ds:schemaRefs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docMetadata/LabelInfo.xml><?xml version="1.0" encoding="utf-8"?>
<clbl:labelList xmlns:clbl="http://schemas.microsoft.com/office/2020/mipLabelMetadata">
  <clbl:label id="{15ce9348-be2a-462b-8fc0-e1765a9b204a}" enabled="0" method="" siteId="{15ce9348-be2a-462b-8fc0-e1765a9b204a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77</TotalTime>
  <Words>986</Words>
  <Application>Microsoft Office PowerPoint</Application>
  <PresentationFormat>On-screen Show (16:9)</PresentationFormat>
  <Paragraphs>182</Paragraphs>
  <Slides>33</Slides>
  <Notes>32</Notes>
  <HiddenSlides>0</HiddenSlides>
  <MMClips>9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7" baseType="lpstr">
      <vt:lpstr>Aptos</vt:lpstr>
      <vt:lpstr>Arial</vt:lpstr>
      <vt:lpstr>Calibri</vt:lpstr>
      <vt:lpstr>Office Theme</vt:lpstr>
      <vt:lpstr>CV1711 ENGINEERING DRAWING &amp; 3D BUILD  INFO MODEL (LAB)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R6 instructions</vt:lpstr>
      <vt:lpstr>PowerPoint Presentation</vt:lpstr>
      <vt:lpstr>PowerPoint Presentation</vt:lpstr>
      <vt:lpstr>PowerPoint Presentation</vt:lpstr>
      <vt:lpstr>R7 instructions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R9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#HUANG XINYA#</cp:lastModifiedBy>
  <cp:revision>1</cp:revision>
  <dcterms:created xsi:type="dcterms:W3CDTF">2017-05-14T01:29:56Z</dcterms:created>
  <dcterms:modified xsi:type="dcterms:W3CDTF">2026-10-06T04:32:30Z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0x010100E28E816AC679FF4C86C22834E825BD05</vt:lpwstr>
  </property>
</Properties>
</file>