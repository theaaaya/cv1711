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9" r:id="rId5"/>
    <p:sldId id="262" r:id="rId6"/>
    <p:sldId id="270" r:id="rId7"/>
    <p:sldId id="271" r:id="rId8"/>
    <p:sldId id="272" r:id="rId9"/>
    <p:sldId id="275" r:id="rId10"/>
    <p:sldId id="282" r:id="rId11"/>
    <p:sldId id="276" r:id="rId12"/>
    <p:sldId id="287" r:id="rId13"/>
    <p:sldId id="283" r:id="rId14"/>
    <p:sldId id="284" r:id="rId15"/>
    <p:sldId id="285" r:id="rId16"/>
    <p:sldId id="286" r:id="rId17"/>
    <p:sldId id="288" r:id="rId18"/>
    <p:sldId id="266" r:id="rId19"/>
    <p:sldId id="349" r:id="rId20"/>
    <p:sldId id="333" r:id="rId21"/>
    <p:sldId id="347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FFF00"/>
    <a:srgbClr val="DCE6F2"/>
    <a:srgbClr val="AED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F6C3EE-3086-44F3-B248-130BCEF30DCF}" v="5" dt="2026-09-01T05:06:25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092" autoAdjust="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HUANG XINYA#" userId="0394e048-be67-4ff5-b348-88acdc9df0d1" providerId="ADAL" clId="{02486B59-77C2-44D9-86E4-77A6D6D6742A}"/>
    <pc:docChg chg="undo redo custSel addSld delSld modSld sldOrd">
      <pc:chgData name="#HUANG XINYA#" userId="0394e048-be67-4ff5-b348-88acdc9df0d1" providerId="ADAL" clId="{02486B59-77C2-44D9-86E4-77A6D6D6742A}" dt="2026-08-28T01:43:52.737" v="16248" actId="47"/>
      <pc:docMkLst>
        <pc:docMk/>
      </pc:docMkLst>
      <pc:sldChg chg="modNotesTx">
        <pc:chgData name="#HUANG XINYA#" userId="0394e048-be67-4ff5-b348-88acdc9df0d1" providerId="ADAL" clId="{02486B59-77C2-44D9-86E4-77A6D6D6742A}" dt="2026-08-08T05:42:39.171" v="15890" actId="20577"/>
        <pc:sldMkLst>
          <pc:docMk/>
          <pc:sldMk cId="1897986182" sldId="259"/>
        </pc:sldMkLst>
      </pc:sldChg>
      <pc:sldChg chg="modNotesTx">
        <pc:chgData name="#HUANG XINYA#" userId="0394e048-be67-4ff5-b348-88acdc9df0d1" providerId="ADAL" clId="{02486B59-77C2-44D9-86E4-77A6D6D6742A}" dt="2026-08-08T06:16:54.243" v="16141" actId="20577"/>
        <pc:sldMkLst>
          <pc:docMk/>
          <pc:sldMk cId="645861750" sldId="288"/>
        </pc:sldMkLst>
      </pc:sldChg>
      <pc:sldChg chg="delSp modSp add mod">
        <pc:chgData name="#HUANG XINYA#" userId="0394e048-be67-4ff5-b348-88acdc9df0d1" providerId="ADAL" clId="{02486B59-77C2-44D9-86E4-77A6D6D6742A}" dt="2026-08-08T07:03:10.568" v="16238" actId="1076"/>
        <pc:sldMkLst>
          <pc:docMk/>
          <pc:sldMk cId="1235230076" sldId="347"/>
        </pc:sldMkLst>
        <pc:spChg chg="mod">
          <ac:chgData name="#HUANG XINYA#" userId="0394e048-be67-4ff5-b348-88acdc9df0d1" providerId="ADAL" clId="{02486B59-77C2-44D9-86E4-77A6D6D6742A}" dt="2026-08-08T07:03:03.331" v="16235" actId="1076"/>
          <ac:spMkLst>
            <pc:docMk/>
            <pc:sldMk cId="1235230076" sldId="347"/>
            <ac:spMk id="19" creationId="{9B088EBD-1777-E072-C48A-7B3EB1AD8169}"/>
          </ac:spMkLst>
        </pc:spChg>
        <pc:picChg chg="mod">
          <ac:chgData name="#HUANG XINYA#" userId="0394e048-be67-4ff5-b348-88acdc9df0d1" providerId="ADAL" clId="{02486B59-77C2-44D9-86E4-77A6D6D6742A}" dt="2026-08-08T07:03:10.568" v="16238" actId="1076"/>
          <ac:picMkLst>
            <pc:docMk/>
            <pc:sldMk cId="1235230076" sldId="347"/>
            <ac:picMk id="3" creationId="{2519DC58-D837-9D48-A223-711F461AA8B1}"/>
          </ac:picMkLst>
        </pc:picChg>
        <pc:picChg chg="mod">
          <ac:chgData name="#HUANG XINYA#" userId="0394e048-be67-4ff5-b348-88acdc9df0d1" providerId="ADAL" clId="{02486B59-77C2-44D9-86E4-77A6D6D6742A}" dt="2026-08-08T07:03:03.331" v="16235" actId="1076"/>
          <ac:picMkLst>
            <pc:docMk/>
            <pc:sldMk cId="1235230076" sldId="347"/>
            <ac:picMk id="10" creationId="{EE9430D9-C363-3DAC-53C7-736738E91F46}"/>
          </ac:picMkLst>
        </pc:picChg>
        <pc:cxnChg chg="mod">
          <ac:chgData name="#HUANG XINYA#" userId="0394e048-be67-4ff5-b348-88acdc9df0d1" providerId="ADAL" clId="{02486B59-77C2-44D9-86E4-77A6D6D6742A}" dt="2026-08-08T07:03:03.331" v="16235" actId="1076"/>
          <ac:cxnSpMkLst>
            <pc:docMk/>
            <pc:sldMk cId="1235230076" sldId="347"/>
            <ac:cxnSpMk id="17" creationId="{6CD26AAB-4A93-9ECB-14BE-61E6F44E5164}"/>
          </ac:cxnSpMkLst>
        </pc:cxnChg>
        <pc:cxnChg chg="mod">
          <ac:chgData name="#HUANG XINYA#" userId="0394e048-be67-4ff5-b348-88acdc9df0d1" providerId="ADAL" clId="{02486B59-77C2-44D9-86E4-77A6D6D6742A}" dt="2026-08-08T07:03:03.331" v="16235" actId="1076"/>
          <ac:cxnSpMkLst>
            <pc:docMk/>
            <pc:sldMk cId="1235230076" sldId="347"/>
            <ac:cxnSpMk id="21" creationId="{F3545CA8-659F-6416-28CF-C6D29B01723D}"/>
          </ac:cxnSpMkLst>
        </pc:cxnChg>
      </pc:sldChg>
    </pc:docChg>
  </pc:docChgLst>
  <pc:docChgLst>
    <pc:chgData name="#HUANG XINYA#" userId="0394e048-be67-4ff5-b348-88acdc9df0d1" providerId="ADAL" clId="{817F73F0-AC24-4E52-87B6-779E04DFBBB7}"/>
    <pc:docChg chg="undo custSel addSld delSld modSld">
      <pc:chgData name="#HUANG XINYA#" userId="0394e048-be67-4ff5-b348-88acdc9df0d1" providerId="ADAL" clId="{817F73F0-AC24-4E52-87B6-779E04DFBBB7}" dt="2026-09-01T05:06:46.049" v="99" actId="14100"/>
      <pc:docMkLst>
        <pc:docMk/>
      </pc:docMkLst>
      <pc:sldChg chg="modSp mod">
        <pc:chgData name="#HUANG XINYA#" userId="0394e048-be67-4ff5-b348-88acdc9df0d1" providerId="ADAL" clId="{817F73F0-AC24-4E52-87B6-779E04DFBBB7}" dt="2026-09-01T05:01:22.491" v="25" actId="20577"/>
        <pc:sldMkLst>
          <pc:docMk/>
          <pc:sldMk cId="741047462" sldId="266"/>
        </pc:sldMkLst>
        <pc:spChg chg="mod">
          <ac:chgData name="#HUANG XINYA#" userId="0394e048-be67-4ff5-b348-88acdc9df0d1" providerId="ADAL" clId="{817F73F0-AC24-4E52-87B6-779E04DFBBB7}" dt="2026-09-01T05:01:10.559" v="22" actId="13926"/>
          <ac:spMkLst>
            <pc:docMk/>
            <pc:sldMk cId="741047462" sldId="266"/>
            <ac:spMk id="3" creationId="{AA7F19F5-97DC-48D6-2663-3351A391AB66}"/>
          </ac:spMkLst>
        </pc:spChg>
        <pc:spChg chg="mod">
          <ac:chgData name="#HUANG XINYA#" userId="0394e048-be67-4ff5-b348-88acdc9df0d1" providerId="ADAL" clId="{817F73F0-AC24-4E52-87B6-779E04DFBBB7}" dt="2026-09-01T05:01:22.491" v="25" actId="20577"/>
          <ac:spMkLst>
            <pc:docMk/>
            <pc:sldMk cId="741047462" sldId="266"/>
            <ac:spMk id="6" creationId="{0D1F156C-DE0B-70BD-CF35-784E18A2F856}"/>
          </ac:spMkLst>
        </pc:spChg>
      </pc:sldChg>
      <pc:sldChg chg="modSp mod">
        <pc:chgData name="#HUANG XINYA#" userId="0394e048-be67-4ff5-b348-88acdc9df0d1" providerId="ADAL" clId="{817F73F0-AC24-4E52-87B6-779E04DFBBB7}" dt="2026-09-01T04:57:22.733" v="2" actId="13926"/>
        <pc:sldMkLst>
          <pc:docMk/>
          <pc:sldMk cId="1401384901" sldId="276"/>
        </pc:sldMkLst>
        <pc:spChg chg="mod">
          <ac:chgData name="#HUANG XINYA#" userId="0394e048-be67-4ff5-b348-88acdc9df0d1" providerId="ADAL" clId="{817F73F0-AC24-4E52-87B6-779E04DFBBB7}" dt="2026-09-01T04:57:22.733" v="2" actId="13926"/>
          <ac:spMkLst>
            <pc:docMk/>
            <pc:sldMk cId="1401384901" sldId="276"/>
            <ac:spMk id="17" creationId="{7494888C-6C91-8B8C-B5FC-F50268B23A36}"/>
          </ac:spMkLst>
        </pc:spChg>
      </pc:sldChg>
      <pc:sldChg chg="modSp mod">
        <pc:chgData name="#HUANG XINYA#" userId="0394e048-be67-4ff5-b348-88acdc9df0d1" providerId="ADAL" clId="{817F73F0-AC24-4E52-87B6-779E04DFBBB7}" dt="2026-09-01T04:57:27.155" v="3" actId="13926"/>
        <pc:sldMkLst>
          <pc:docMk/>
          <pc:sldMk cId="1606987900" sldId="282"/>
        </pc:sldMkLst>
        <pc:spChg chg="mod">
          <ac:chgData name="#HUANG XINYA#" userId="0394e048-be67-4ff5-b348-88acdc9df0d1" providerId="ADAL" clId="{817F73F0-AC24-4E52-87B6-779E04DFBBB7}" dt="2026-09-01T04:57:27.155" v="3" actId="13926"/>
          <ac:spMkLst>
            <pc:docMk/>
            <pc:sldMk cId="1606987900" sldId="282"/>
            <ac:spMk id="21" creationId="{9EB8C465-8EF5-2FBF-E714-308366C65047}"/>
          </ac:spMkLst>
        </pc:spChg>
      </pc:sldChg>
      <pc:sldChg chg="modSp mod">
        <pc:chgData name="#HUANG XINYA#" userId="0394e048-be67-4ff5-b348-88acdc9df0d1" providerId="ADAL" clId="{817F73F0-AC24-4E52-87B6-779E04DFBBB7}" dt="2026-09-01T04:57:10.989" v="1" actId="13926"/>
        <pc:sldMkLst>
          <pc:docMk/>
          <pc:sldMk cId="3400981342" sldId="284"/>
        </pc:sldMkLst>
        <pc:spChg chg="mod">
          <ac:chgData name="#HUANG XINYA#" userId="0394e048-be67-4ff5-b348-88acdc9df0d1" providerId="ADAL" clId="{817F73F0-AC24-4E52-87B6-779E04DFBBB7}" dt="2026-09-01T04:57:10.989" v="1" actId="13926"/>
          <ac:spMkLst>
            <pc:docMk/>
            <pc:sldMk cId="3400981342" sldId="284"/>
            <ac:spMk id="18" creationId="{C2B2F91B-9FAC-A8B5-7A8A-FFBDECC51B3B}"/>
          </ac:spMkLst>
        </pc:spChg>
      </pc:sldChg>
      <pc:sldChg chg="modSp mod">
        <pc:chgData name="#HUANG XINYA#" userId="0394e048-be67-4ff5-b348-88acdc9df0d1" providerId="ADAL" clId="{817F73F0-AC24-4E52-87B6-779E04DFBBB7}" dt="2026-09-01T05:01:40.014" v="26" actId="13926"/>
        <pc:sldMkLst>
          <pc:docMk/>
          <pc:sldMk cId="1734273537" sldId="285"/>
        </pc:sldMkLst>
        <pc:spChg chg="mod">
          <ac:chgData name="#HUANG XINYA#" userId="0394e048-be67-4ff5-b348-88acdc9df0d1" providerId="ADAL" clId="{817F73F0-AC24-4E52-87B6-779E04DFBBB7}" dt="2026-09-01T05:01:40.014" v="26" actId="13926"/>
          <ac:spMkLst>
            <pc:docMk/>
            <pc:sldMk cId="1734273537" sldId="285"/>
            <ac:spMk id="17" creationId="{2BC545C7-1DAA-BB08-3E7B-B46488D049A7}"/>
          </ac:spMkLst>
        </pc:spChg>
      </pc:sldChg>
      <pc:sldChg chg="modSp mod">
        <pc:chgData name="#HUANG XINYA#" userId="0394e048-be67-4ff5-b348-88acdc9df0d1" providerId="ADAL" clId="{817F73F0-AC24-4E52-87B6-779E04DFBBB7}" dt="2026-09-01T04:57:05.462" v="0" actId="13926"/>
        <pc:sldMkLst>
          <pc:docMk/>
          <pc:sldMk cId="693852826" sldId="286"/>
        </pc:sldMkLst>
        <pc:spChg chg="mod">
          <ac:chgData name="#HUANG XINYA#" userId="0394e048-be67-4ff5-b348-88acdc9df0d1" providerId="ADAL" clId="{817F73F0-AC24-4E52-87B6-779E04DFBBB7}" dt="2026-09-01T04:57:05.462" v="0" actId="13926"/>
          <ac:spMkLst>
            <pc:docMk/>
            <pc:sldMk cId="693852826" sldId="286"/>
            <ac:spMk id="15" creationId="{3EB82910-07D3-2FE8-D9E4-7F7AE2E28DE7}"/>
          </ac:spMkLst>
        </pc:spChg>
      </pc:sldChg>
      <pc:sldChg chg="addSp delSp modSp del mod">
        <pc:chgData name="#HUANG XINYA#" userId="0394e048-be67-4ff5-b348-88acdc9df0d1" providerId="ADAL" clId="{817F73F0-AC24-4E52-87B6-779E04DFBBB7}" dt="2026-09-01T05:06:22.209" v="91" actId="2696"/>
        <pc:sldMkLst>
          <pc:docMk/>
          <pc:sldMk cId="1517604735" sldId="335"/>
        </pc:sldMkLst>
        <pc:spChg chg="mod">
          <ac:chgData name="#HUANG XINYA#" userId="0394e048-be67-4ff5-b348-88acdc9df0d1" providerId="ADAL" clId="{817F73F0-AC24-4E52-87B6-779E04DFBBB7}" dt="2026-09-01T05:06:13.027" v="90" actId="1038"/>
          <ac:spMkLst>
            <pc:docMk/>
            <pc:sldMk cId="1517604735" sldId="335"/>
            <ac:spMk id="6" creationId="{4505F518-7751-0B72-C802-692B22A0A0C9}"/>
          </ac:spMkLst>
        </pc:spChg>
        <pc:picChg chg="mod">
          <ac:chgData name="#HUANG XINYA#" userId="0394e048-be67-4ff5-b348-88acdc9df0d1" providerId="ADAL" clId="{817F73F0-AC24-4E52-87B6-779E04DFBBB7}" dt="2026-09-01T05:06:13.027" v="90" actId="1038"/>
          <ac:picMkLst>
            <pc:docMk/>
            <pc:sldMk cId="1517604735" sldId="335"/>
            <ac:picMk id="2" creationId="{3D1D25D4-3C2D-7870-4909-14D4771A4D36}"/>
          </ac:picMkLst>
        </pc:picChg>
        <pc:picChg chg="add del mod">
          <ac:chgData name="#HUANG XINYA#" userId="0394e048-be67-4ff5-b348-88acdc9df0d1" providerId="ADAL" clId="{817F73F0-AC24-4E52-87B6-779E04DFBBB7}" dt="2026-09-01T05:04:33.107" v="38" actId="14100"/>
          <ac:picMkLst>
            <pc:docMk/>
            <pc:sldMk cId="1517604735" sldId="335"/>
            <ac:picMk id="3" creationId="{91EAF429-0AA7-BD1F-C3BA-09F279B8D4E3}"/>
          </ac:picMkLst>
        </pc:picChg>
      </pc:sldChg>
      <pc:sldChg chg="new del">
        <pc:chgData name="#HUANG XINYA#" userId="0394e048-be67-4ff5-b348-88acdc9df0d1" providerId="ADAL" clId="{817F73F0-AC24-4E52-87B6-779E04DFBBB7}" dt="2026-09-01T05:05:17.534" v="44" actId="2696"/>
        <pc:sldMkLst>
          <pc:docMk/>
          <pc:sldMk cId="2795860326" sldId="348"/>
        </pc:sldMkLst>
      </pc:sldChg>
      <pc:sldChg chg="addSp delSp modSp add mod">
        <pc:chgData name="#HUANG XINYA#" userId="0394e048-be67-4ff5-b348-88acdc9df0d1" providerId="ADAL" clId="{817F73F0-AC24-4E52-87B6-779E04DFBBB7}" dt="2026-09-01T05:06:46.049" v="99" actId="14100"/>
        <pc:sldMkLst>
          <pc:docMk/>
          <pc:sldMk cId="976539562" sldId="349"/>
        </pc:sldMkLst>
        <pc:spChg chg="mod">
          <ac:chgData name="#HUANG XINYA#" userId="0394e048-be67-4ff5-b348-88acdc9df0d1" providerId="ADAL" clId="{817F73F0-AC24-4E52-87B6-779E04DFBBB7}" dt="2026-09-01T05:06:46.049" v="99" actId="14100"/>
          <ac:spMkLst>
            <pc:docMk/>
            <pc:sldMk cId="976539562" sldId="349"/>
            <ac:spMk id="6" creationId="{47D27F09-4CF8-B044-80B9-042781DBF88C}"/>
          </ac:spMkLst>
        </pc:spChg>
        <pc:spChg chg="add mod">
          <ac:chgData name="#HUANG XINYA#" userId="0394e048-be67-4ff5-b348-88acdc9df0d1" providerId="ADAL" clId="{817F73F0-AC24-4E52-87B6-779E04DFBBB7}" dt="2026-09-01T05:06:33.950" v="95" actId="1076"/>
          <ac:spMkLst>
            <pc:docMk/>
            <pc:sldMk cId="976539562" sldId="349"/>
            <ac:spMk id="7" creationId="{93C9BB33-5F1B-70BC-B7EC-AA4D290840A7}"/>
          </ac:spMkLst>
        </pc:spChg>
        <pc:picChg chg="del">
          <ac:chgData name="#HUANG XINYA#" userId="0394e048-be67-4ff5-b348-88acdc9df0d1" providerId="ADAL" clId="{817F73F0-AC24-4E52-87B6-779E04DFBBB7}" dt="2026-09-01T05:05:20.420" v="45" actId="478"/>
          <ac:picMkLst>
            <pc:docMk/>
            <pc:sldMk cId="976539562" sldId="349"/>
            <ac:picMk id="2" creationId="{5CED0C5C-1EB3-714B-3441-BF75322C814C}"/>
          </ac:picMkLst>
        </pc:picChg>
        <pc:picChg chg="add mod ord">
          <ac:chgData name="#HUANG XINYA#" userId="0394e048-be67-4ff5-b348-88acdc9df0d1" providerId="ADAL" clId="{817F73F0-AC24-4E52-87B6-779E04DFBBB7}" dt="2026-09-01T05:06:38.956" v="96" actId="14100"/>
          <ac:picMkLst>
            <pc:docMk/>
            <pc:sldMk cId="976539562" sldId="349"/>
            <ac:picMk id="3" creationId="{4EBF387C-6006-1675-2A9B-7A79AFC918BC}"/>
          </ac:picMkLst>
        </pc:picChg>
        <pc:picChg chg="add mod">
          <ac:chgData name="#HUANG XINYA#" userId="0394e048-be67-4ff5-b348-88acdc9df0d1" providerId="ADAL" clId="{817F73F0-AC24-4E52-87B6-779E04DFBBB7}" dt="2026-09-01T05:05:56.322" v="54" actId="1076"/>
          <ac:picMkLst>
            <pc:docMk/>
            <pc:sldMk cId="976539562" sldId="349"/>
            <ac:picMk id="4" creationId="{EDED7CF5-5E37-D394-24E7-7BF6D65D662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9/1/2026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D6C49-6F48-4F46-A0C4-F823054334BD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B86D8-D67E-429E-B575-006BC027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82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774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026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072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362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2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042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850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117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108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910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395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718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148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566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415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52F8C-D214-3451-AA0B-2C811258C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3413C-4A55-5EC1-B123-D5A6FD790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B414E-161C-B885-E3E0-CAF3FCF9C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B7BA0-D709-B46B-D1CB-977D43433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9505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6427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5B86D8-D67E-429E-B575-006BC027FE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356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heIobpUVZqc?si=No0iEweG8M1roWw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eIobpUVZqc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>
                <a:solidFill>
                  <a:schemeClr val="bg1"/>
                </a:solidFill>
                <a:cs typeface="Arial"/>
              </a:rPr>
              <a:t>CV1711 ENGINEERING DRAWING &amp; 3D BUILD </a:t>
            </a:r>
            <a:br>
              <a:rPr lang="en-US" sz="3000" b="1">
                <a:solidFill>
                  <a:schemeClr val="bg1"/>
                </a:solidFill>
                <a:cs typeface="Arial"/>
              </a:rPr>
            </a:br>
            <a:r>
              <a:rPr lang="en-US" sz="3000" b="1">
                <a:solidFill>
                  <a:schemeClr val="bg1"/>
                </a:solidFill>
                <a:cs typeface="Arial"/>
              </a:rPr>
              <a:t>INFO MODEL (LAB)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B13B2-538A-6B80-CADF-F2026C051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6A56A0-AA38-0D8F-2F83-934098201162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4 – Orthographic P</a:t>
            </a:r>
            <a:r>
              <a:rPr lang="en-US" altLang="zh-CN" sz="2800" b="1"/>
              <a:t>rojection</a:t>
            </a:r>
            <a:endParaRPr lang="en-US" sz="28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EF19E1-5915-1188-9F04-CFCA45CD808D}"/>
              </a:ext>
            </a:extLst>
          </p:cNvPr>
          <p:cNvSpPr txBox="1"/>
          <p:nvPr/>
        </p:nvSpPr>
        <p:spPr>
          <a:xfrm>
            <a:off x="2140084" y="845735"/>
            <a:ext cx="6319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Let’s watch this </a:t>
            </a:r>
            <a:r>
              <a:rPr lang="en-GB" err="1"/>
              <a:t>youtube</a:t>
            </a:r>
            <a:r>
              <a:rPr lang="en-GB"/>
              <a:t> video for basic understandings.</a:t>
            </a:r>
          </a:p>
          <a:p>
            <a:r>
              <a:rPr lang="en-GB" i="1">
                <a:hlinkClick r:id="rId3"/>
              </a:rPr>
              <a:t>https://youtu.be/heIobpUVZqc?si=No0iEweG8M1roWwM</a:t>
            </a:r>
            <a:endParaRPr lang="en-GB" i="1"/>
          </a:p>
        </p:txBody>
      </p:sp>
      <p:pic>
        <p:nvPicPr>
          <p:cNvPr id="6" name="Picture 5" descr="A qr code with a dinosaur&#10;&#10;AI-generated content may be incorrect.">
            <a:extLst>
              <a:ext uri="{FF2B5EF4-FFF2-40B4-BE49-F238E27FC236}">
                <a16:creationId xmlns:a16="http://schemas.microsoft.com/office/drawing/2014/main" id="{EDAEDEB3-52E7-8445-7314-6F7664604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134" y="1492066"/>
            <a:ext cx="318135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53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D6088-9DA4-8CE0-888A-3634F134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quadrilateral&#10;&#10;AI-generated content may be incorrect.">
            <a:extLst>
              <a:ext uri="{FF2B5EF4-FFF2-40B4-BE49-F238E27FC236}">
                <a16:creationId xmlns:a16="http://schemas.microsoft.com/office/drawing/2014/main" id="{C1833A7F-08EE-9B60-9AD8-4C6963456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43" y="438950"/>
            <a:ext cx="4413757" cy="41660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08F618-5C15-3063-8B08-3752CB470EB0}"/>
              </a:ext>
            </a:extLst>
          </p:cNvPr>
          <p:cNvSpPr txBox="1"/>
          <p:nvPr/>
        </p:nvSpPr>
        <p:spPr>
          <a:xfrm>
            <a:off x="112601" y="85077"/>
            <a:ext cx="5014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b="1"/>
              <a:t>Quadrant System and Orthographic Projection</a:t>
            </a:r>
            <a:endParaRPr lang="en-SG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3B6F96B-0AEE-4E98-205A-9CCED465C19A}"/>
              </a:ext>
            </a:extLst>
          </p:cNvPr>
          <p:cNvGrpSpPr/>
          <p:nvPr/>
        </p:nvGrpSpPr>
        <p:grpSpPr>
          <a:xfrm>
            <a:off x="4668476" y="177518"/>
            <a:ext cx="4012232" cy="4633559"/>
            <a:chOff x="1762866" y="-646885"/>
            <a:chExt cx="5574078" cy="643727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83018F8-01B6-A9E4-F256-08D90DD23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837651" y="3026502"/>
              <a:ext cx="2108697" cy="2312320"/>
            </a:xfrm>
            <a:prstGeom prst="rect">
              <a:avLst/>
            </a:prstGeom>
          </p:spPr>
        </p:pic>
        <p:sp>
          <p:nvSpPr>
            <p:cNvPr id="8" name="Speech Bubble: Rectangle 52">
              <a:extLst>
                <a:ext uri="{FF2B5EF4-FFF2-40B4-BE49-F238E27FC236}">
                  <a16:creationId xmlns:a16="http://schemas.microsoft.com/office/drawing/2014/main" id="{FD5F00E6-BE1B-DACD-2AAB-C0FDF819123B}"/>
                </a:ext>
              </a:extLst>
            </p:cNvPr>
            <p:cNvSpPr/>
            <p:nvPr/>
          </p:nvSpPr>
          <p:spPr>
            <a:xfrm>
              <a:off x="1762866" y="3748926"/>
              <a:ext cx="1274770" cy="602638"/>
            </a:xfrm>
            <a:prstGeom prst="wedgeRectCallout">
              <a:avLst>
                <a:gd name="adj1" fmla="val 63753"/>
                <a:gd name="adj2" fmla="val -39015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solidFill>
                    <a:srgbClr val="FF0000"/>
                  </a:solidFill>
                </a:rPr>
                <a:t>Third Angle Projection</a:t>
              </a: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1C117D1A-0FB7-2038-0E46-685DE82D4135}"/>
                </a:ext>
              </a:extLst>
            </p:cNvPr>
            <p:cNvSpPr/>
            <p:nvPr/>
          </p:nvSpPr>
          <p:spPr>
            <a:xfrm rot="16200000">
              <a:off x="2700133" y="702011"/>
              <a:ext cx="5985707" cy="3287915"/>
            </a:xfrm>
            <a:prstGeom prst="parallelogram">
              <a:avLst>
                <a:gd name="adj" fmla="val 50708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29D0D964-0A3A-7C26-5711-574036CF0A9F}"/>
                </a:ext>
              </a:extLst>
            </p:cNvPr>
            <p:cNvSpPr/>
            <p:nvPr/>
          </p:nvSpPr>
          <p:spPr>
            <a:xfrm rot="16200000" flipV="1">
              <a:off x="2788887" y="2907242"/>
              <a:ext cx="3480279" cy="2286007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4DA8FD4B-A407-8AFE-5A01-5B96F2F9D66C}"/>
                </a:ext>
              </a:extLst>
            </p:cNvPr>
            <p:cNvSpPr/>
            <p:nvPr/>
          </p:nvSpPr>
          <p:spPr>
            <a:xfrm rot="9000000" flipV="1">
              <a:off x="2349326" y="1372596"/>
              <a:ext cx="4486946" cy="3248970"/>
            </a:xfrm>
            <a:prstGeom prst="parallelogram">
              <a:avLst>
                <a:gd name="adj" fmla="val 58457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1711F1E5-9059-7D43-4BD2-C9EE6740D09A}"/>
                </a:ext>
              </a:extLst>
            </p:cNvPr>
            <p:cNvSpPr/>
            <p:nvPr/>
          </p:nvSpPr>
          <p:spPr>
            <a:xfrm rot="16200000" flipV="1">
              <a:off x="2827948" y="757290"/>
              <a:ext cx="3411685" cy="2276476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Speech Bubble: Rectangle 51">
              <a:extLst>
                <a:ext uri="{FF2B5EF4-FFF2-40B4-BE49-F238E27FC236}">
                  <a16:creationId xmlns:a16="http://schemas.microsoft.com/office/drawing/2014/main" id="{D370904E-CC53-B526-6FA3-BCFBF788DB9A}"/>
                </a:ext>
              </a:extLst>
            </p:cNvPr>
            <p:cNvSpPr/>
            <p:nvPr/>
          </p:nvSpPr>
          <p:spPr>
            <a:xfrm>
              <a:off x="5955162" y="1594209"/>
              <a:ext cx="1274770" cy="602638"/>
            </a:xfrm>
            <a:prstGeom prst="wedgeRectCallout">
              <a:avLst>
                <a:gd name="adj1" fmla="val -38878"/>
                <a:gd name="adj2" fmla="val 71591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solidFill>
                    <a:srgbClr val="FF0000"/>
                  </a:solidFill>
                </a:rPr>
                <a:t>First Angle Projection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6806C06-2B66-4647-2542-895CA71E6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4238408" y="1452876"/>
              <a:ext cx="2108697" cy="2312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743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A8F1C-07B2-13D3-38A6-06FAD6CB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7C8B8E-8A0A-15A3-EABF-9DBB2C766F9F}"/>
              </a:ext>
            </a:extLst>
          </p:cNvPr>
          <p:cNvSpPr txBox="1"/>
          <p:nvPr/>
        </p:nvSpPr>
        <p:spPr>
          <a:xfrm>
            <a:off x="112601" y="85077"/>
            <a:ext cx="5014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b="1"/>
              <a:t>Quadrant System and Orthographic Projection</a:t>
            </a:r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862D4-1A84-370F-9D5A-D3B9BC9B88B0}"/>
              </a:ext>
            </a:extLst>
          </p:cNvPr>
          <p:cNvSpPr txBox="1"/>
          <p:nvPr/>
        </p:nvSpPr>
        <p:spPr>
          <a:xfrm>
            <a:off x="206341" y="617664"/>
            <a:ext cx="280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First Angle Projection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EBC32E-77C3-73B4-68F2-1BCE0823BFD1}"/>
              </a:ext>
            </a:extLst>
          </p:cNvPr>
          <p:cNvSpPr txBox="1"/>
          <p:nvPr/>
        </p:nvSpPr>
        <p:spPr>
          <a:xfrm>
            <a:off x="4271878" y="617664"/>
            <a:ext cx="280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Third Angle Projection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A76B8286-C8F6-27CC-7EDE-1152192A64F5}"/>
              </a:ext>
            </a:extLst>
          </p:cNvPr>
          <p:cNvSpPr/>
          <p:nvPr/>
        </p:nvSpPr>
        <p:spPr>
          <a:xfrm rot="16200000" flipV="1">
            <a:off x="250546" y="1605818"/>
            <a:ext cx="1866783" cy="955648"/>
          </a:xfrm>
          <a:prstGeom prst="parallelogram">
            <a:avLst>
              <a:gd name="adj" fmla="val 57036"/>
            </a:avLst>
          </a:prstGeom>
          <a:solidFill>
            <a:srgbClr val="4EA72E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EF6BF598-30AD-8585-6BCE-0E3E1CAAACDD}"/>
              </a:ext>
            </a:extLst>
          </p:cNvPr>
          <p:cNvSpPr/>
          <p:nvPr/>
        </p:nvSpPr>
        <p:spPr>
          <a:xfrm rot="16200000" flipV="1">
            <a:off x="700733" y="1835576"/>
            <a:ext cx="969152" cy="496131"/>
          </a:xfrm>
          <a:prstGeom prst="parallelogram">
            <a:avLst>
              <a:gd name="adj" fmla="val 57036"/>
            </a:avLst>
          </a:prstGeom>
          <a:solidFill>
            <a:srgbClr val="AED5A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BA933BF1-67A5-BC3B-7145-67D5157BAD02}"/>
              </a:ext>
            </a:extLst>
          </p:cNvPr>
          <p:cNvSpPr/>
          <p:nvPr/>
        </p:nvSpPr>
        <p:spPr>
          <a:xfrm rot="16200000" flipV="1">
            <a:off x="943021" y="2077864"/>
            <a:ext cx="484576" cy="496131"/>
          </a:xfrm>
          <a:prstGeom prst="parallelogram">
            <a:avLst>
              <a:gd name="adj" fmla="val 57036"/>
            </a:avLst>
          </a:prstGeom>
          <a:solidFill>
            <a:srgbClr val="AED5A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Skydiver Male">
                <a:extLst>
                  <a:ext uri="{FF2B5EF4-FFF2-40B4-BE49-F238E27FC236}">
                    <a16:creationId xmlns:a16="http://schemas.microsoft.com/office/drawing/2014/main" id="{312BE9A5-6BF3-3357-3A4A-981D186EE62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99564068"/>
                  </p:ext>
                </p:extLst>
              </p:nvPr>
            </p:nvGraphicFramePr>
            <p:xfrm>
              <a:off x="3462791" y="2762100"/>
              <a:ext cx="545703" cy="162470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45703" cy="1624707"/>
                    </a:xfrm>
                    <a:prstGeom prst="rect">
                      <a:avLst/>
                    </a:prstGeom>
                  </am3d:spPr>
                  <am3d:camera>
                    <am3d:pos x="0" y="0" z="5126748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3714" d="1000000"/>
                    <am3d:preTrans dx="-27279" dy="-17985891" dz="263367"/>
                    <am3d:scale>
                      <am3d:sx n="1000000" d="1000000"/>
                      <am3d:sy n="1000000" d="1000000"/>
                      <am3d:sz n="1000000" d="1000000"/>
                    </am3d:scale>
                    <am3d:rot ax="9154366" ay="-2446007" az="-9676807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95957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Skydiver Male">
                <a:extLst>
                  <a:ext uri="{FF2B5EF4-FFF2-40B4-BE49-F238E27FC236}">
                    <a16:creationId xmlns:a16="http://schemas.microsoft.com/office/drawing/2014/main" id="{312BE9A5-6BF3-3357-3A4A-981D186EE62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2791" y="2762100"/>
                <a:ext cx="545703" cy="1624707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632A427-820F-8F1C-C506-52022A7B760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402111" y="2083641"/>
            <a:ext cx="1237429" cy="13569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5927DD-A17A-C4EB-E1D6-9697D49A1BF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4439001" y="1055413"/>
            <a:ext cx="1237429" cy="135691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D7353CE-EBA4-C6B0-C1E1-F7476092A50C}"/>
              </a:ext>
            </a:extLst>
          </p:cNvPr>
          <p:cNvGrpSpPr/>
          <p:nvPr/>
        </p:nvGrpSpPr>
        <p:grpSpPr>
          <a:xfrm>
            <a:off x="5377883" y="1241267"/>
            <a:ext cx="955648" cy="1866783"/>
            <a:chOff x="4750824" y="986995"/>
            <a:chExt cx="955648" cy="1866783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F274CD2B-E2F3-F78D-7032-273F933A4DFD}"/>
                </a:ext>
              </a:extLst>
            </p:cNvPr>
            <p:cNvSpPr/>
            <p:nvPr/>
          </p:nvSpPr>
          <p:spPr>
            <a:xfrm rot="16200000" flipV="1">
              <a:off x="4295256" y="1442563"/>
              <a:ext cx="1866783" cy="955648"/>
            </a:xfrm>
            <a:prstGeom prst="parallelogram">
              <a:avLst>
                <a:gd name="adj" fmla="val 57036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F1C9074-B2CA-D73F-8F48-FAA0A1E01B3C}"/>
                </a:ext>
              </a:extLst>
            </p:cNvPr>
            <p:cNvSpPr/>
            <p:nvPr/>
          </p:nvSpPr>
          <p:spPr>
            <a:xfrm rot="16200000" flipV="1">
              <a:off x="4745443" y="1672321"/>
              <a:ext cx="969152" cy="496131"/>
            </a:xfrm>
            <a:prstGeom prst="parallelogram">
              <a:avLst>
                <a:gd name="adj" fmla="val 57036"/>
              </a:avLst>
            </a:prstGeom>
            <a:solidFill>
              <a:srgbClr val="AED5A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CB296FE7-7BBB-133F-C290-0EC71ED1FD8B}"/>
                </a:ext>
              </a:extLst>
            </p:cNvPr>
            <p:cNvSpPr/>
            <p:nvPr/>
          </p:nvSpPr>
          <p:spPr>
            <a:xfrm rot="16200000" flipV="1">
              <a:off x="4987731" y="1914609"/>
              <a:ext cx="484576" cy="496131"/>
            </a:xfrm>
            <a:prstGeom prst="parallelogram">
              <a:avLst>
                <a:gd name="adj" fmla="val 57036"/>
              </a:avLst>
            </a:prstGeom>
            <a:solidFill>
              <a:srgbClr val="AED5A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B561DC-7705-D0F5-8D15-A42404F52F74}"/>
              </a:ext>
            </a:extLst>
          </p:cNvPr>
          <p:cNvCxnSpPr>
            <a:cxnSpLocks/>
          </p:cNvCxnSpPr>
          <p:nvPr/>
        </p:nvCxnSpPr>
        <p:spPr>
          <a:xfrm flipH="1" flipV="1">
            <a:off x="2693581" y="2621532"/>
            <a:ext cx="599539" cy="363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3D Model 19" descr="Skydiver Male">
                <a:extLst>
                  <a:ext uri="{FF2B5EF4-FFF2-40B4-BE49-F238E27FC236}">
                    <a16:creationId xmlns:a16="http://schemas.microsoft.com/office/drawing/2014/main" id="{FB28BB7F-3EA4-C892-C48A-4329419001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43030681"/>
                  </p:ext>
                </p:extLst>
              </p:nvPr>
            </p:nvGraphicFramePr>
            <p:xfrm>
              <a:off x="7196186" y="2762100"/>
              <a:ext cx="545703" cy="162470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45703" cy="1624707"/>
                    </a:xfrm>
                    <a:prstGeom prst="rect">
                      <a:avLst/>
                    </a:prstGeom>
                  </am3d:spPr>
                  <am3d:camera>
                    <am3d:pos x="0" y="0" z="5126748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3714" d="1000000"/>
                    <am3d:preTrans dx="-27279" dy="-17985891" dz="263367"/>
                    <am3d:scale>
                      <am3d:sx n="1000000" d="1000000"/>
                      <am3d:sy n="1000000" d="1000000"/>
                      <am3d:sz n="1000000" d="1000000"/>
                    </am3d:scale>
                    <am3d:rot ax="9154366" ay="-2446007" az="-9676807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95957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3D Model 19" descr="Skydiver Male">
                <a:extLst>
                  <a:ext uri="{FF2B5EF4-FFF2-40B4-BE49-F238E27FC236}">
                    <a16:creationId xmlns:a16="http://schemas.microsoft.com/office/drawing/2014/main" id="{FB28BB7F-3EA4-C892-C48A-4329419001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96186" y="2762100"/>
                <a:ext cx="545703" cy="1624707"/>
              </a:xfrm>
              <a:prstGeom prst="rect">
                <a:avLst/>
              </a:prstGeom>
            </p:spPr>
          </p:pic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C080BF-4B6C-E60F-5EC4-ABD34DF7A8B8}"/>
              </a:ext>
            </a:extLst>
          </p:cNvPr>
          <p:cNvCxnSpPr>
            <a:cxnSpLocks/>
          </p:cNvCxnSpPr>
          <p:nvPr/>
        </p:nvCxnSpPr>
        <p:spPr>
          <a:xfrm flipH="1" flipV="1">
            <a:off x="6426976" y="2621532"/>
            <a:ext cx="599539" cy="363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284C412-38BA-3C2B-2CA3-D0BF5D5E78E1}"/>
              </a:ext>
            </a:extLst>
          </p:cNvPr>
          <p:cNvSpPr txBox="1"/>
          <p:nvPr/>
        </p:nvSpPr>
        <p:spPr>
          <a:xfrm>
            <a:off x="184247" y="4434940"/>
            <a:ext cx="425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Projection is </a:t>
            </a:r>
            <a:r>
              <a:rPr lang="en-US">
                <a:solidFill>
                  <a:srgbClr val="FF0000"/>
                </a:solidFill>
              </a:rPr>
              <a:t>behind</a:t>
            </a:r>
            <a:r>
              <a:rPr lang="en-US"/>
              <a:t> the object.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DC0598-37A5-4AFB-BEED-49398A88D8FC}"/>
              </a:ext>
            </a:extLst>
          </p:cNvPr>
          <p:cNvSpPr txBox="1"/>
          <p:nvPr/>
        </p:nvSpPr>
        <p:spPr>
          <a:xfrm>
            <a:off x="4439001" y="4409699"/>
            <a:ext cx="425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Projection is </a:t>
            </a:r>
            <a:r>
              <a:rPr lang="en-US">
                <a:solidFill>
                  <a:srgbClr val="FF0000"/>
                </a:solidFill>
              </a:rPr>
              <a:t>in front of</a:t>
            </a:r>
            <a:r>
              <a:rPr lang="en-US"/>
              <a:t> the object.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413081-1282-3114-06DC-CD4A7278B26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7493"/>
          <a:stretch>
            <a:fillRect/>
          </a:stretch>
        </p:blipFill>
        <p:spPr>
          <a:xfrm>
            <a:off x="2364423" y="1012237"/>
            <a:ext cx="1530429" cy="1079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1582CE-E3F1-F719-C87D-ED27CDFB2F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1260"/>
          <a:stretch>
            <a:fillRect/>
          </a:stretch>
        </p:blipFill>
        <p:spPr>
          <a:xfrm>
            <a:off x="6710676" y="1107903"/>
            <a:ext cx="1530429" cy="98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55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71561-16A4-D469-A42F-DF7E57C0D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97F0137B-E5CB-E40F-D7FB-11E3EE93018E}"/>
              </a:ext>
            </a:extLst>
          </p:cNvPr>
          <p:cNvSpPr/>
          <p:nvPr/>
        </p:nvSpPr>
        <p:spPr>
          <a:xfrm rot="16200000">
            <a:off x="1498475" y="1755625"/>
            <a:ext cx="2043968" cy="1139458"/>
          </a:xfrm>
          <a:prstGeom prst="parallelogram">
            <a:avLst>
              <a:gd name="adj" fmla="val 56363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4675DA24-F5B0-79F2-B8A6-F8DC5D9FE38C}"/>
              </a:ext>
            </a:extLst>
          </p:cNvPr>
          <p:cNvSpPr/>
          <p:nvPr/>
        </p:nvSpPr>
        <p:spPr>
          <a:xfrm rot="9000000" flipV="1">
            <a:off x="568035" y="2893440"/>
            <a:ext cx="2397677" cy="1140356"/>
          </a:xfrm>
          <a:prstGeom prst="parallelogram">
            <a:avLst>
              <a:gd name="adj" fmla="val 58457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280C8326-3FDB-D5F4-2715-8940347CC39D}"/>
              </a:ext>
            </a:extLst>
          </p:cNvPr>
          <p:cNvSpPr/>
          <p:nvPr/>
        </p:nvSpPr>
        <p:spPr>
          <a:xfrm rot="16200000" flipV="1">
            <a:off x="63147" y="1683781"/>
            <a:ext cx="2267991" cy="1507169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9A9433-749C-F3CE-964E-D07EF6064A42}"/>
              </a:ext>
            </a:extLst>
          </p:cNvPr>
          <p:cNvSpPr txBox="1"/>
          <p:nvPr/>
        </p:nvSpPr>
        <p:spPr>
          <a:xfrm>
            <a:off x="130719" y="95070"/>
            <a:ext cx="422446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/>
              <a:t>First-angle projection</a:t>
            </a:r>
            <a:r>
              <a:rPr lang="en-SG" sz="1400" u="sng"/>
              <a:t>:</a:t>
            </a:r>
          </a:p>
          <a:p>
            <a:endParaRPr lang="en-SG" sz="1400" u="sng"/>
          </a:p>
          <a:p>
            <a:r>
              <a:rPr lang="en-SG" sz="1400"/>
              <a:t>T = elevation / front</a:t>
            </a:r>
          </a:p>
          <a:p>
            <a:r>
              <a:rPr lang="en-SG" sz="1400"/>
              <a:t>S = end / side</a:t>
            </a:r>
          </a:p>
          <a:p>
            <a:r>
              <a:rPr lang="en-SG" sz="1400"/>
              <a:t>P = plan / top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85975F-16D5-5708-330F-87A0EE42C724}"/>
              </a:ext>
            </a:extLst>
          </p:cNvPr>
          <p:cNvSpPr txBox="1"/>
          <p:nvPr/>
        </p:nvSpPr>
        <p:spPr>
          <a:xfrm>
            <a:off x="2591140" y="3883891"/>
            <a:ext cx="292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>
                <a:solidFill>
                  <a:srgbClr val="FF0000"/>
                </a:solidFill>
              </a:rPr>
              <a:t>T</a:t>
            </a:r>
            <a:endParaRPr lang="en-GB" b="1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50D1840-44CD-C81B-87F9-665D878D467F}"/>
              </a:ext>
            </a:extLst>
          </p:cNvPr>
          <p:cNvCxnSpPr>
            <a:cxnSpLocks/>
          </p:cNvCxnSpPr>
          <p:nvPr/>
        </p:nvCxnSpPr>
        <p:spPr>
          <a:xfrm flipH="1" flipV="1">
            <a:off x="2205833" y="3540232"/>
            <a:ext cx="412121" cy="3635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96F9598-56A1-4091-9A84-90F8EA802FD6}"/>
              </a:ext>
            </a:extLst>
          </p:cNvPr>
          <p:cNvSpPr txBox="1"/>
          <p:nvPr/>
        </p:nvSpPr>
        <p:spPr>
          <a:xfrm>
            <a:off x="326101" y="3935946"/>
            <a:ext cx="520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>
                <a:solidFill>
                  <a:srgbClr val="FF0000"/>
                </a:solidFill>
              </a:rPr>
              <a:t>S1</a:t>
            </a:r>
            <a:endParaRPr lang="en-GB" b="1">
              <a:solidFill>
                <a:srgbClr val="FF0000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8300785-60E3-68F4-1394-CA3EA5360AA2}"/>
              </a:ext>
            </a:extLst>
          </p:cNvPr>
          <p:cNvCxnSpPr>
            <a:cxnSpLocks/>
          </p:cNvCxnSpPr>
          <p:nvPr/>
        </p:nvCxnSpPr>
        <p:spPr>
          <a:xfrm>
            <a:off x="1618230" y="1715098"/>
            <a:ext cx="0" cy="5465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14FC971-9E2D-132E-C1E7-1272F91B06B3}"/>
              </a:ext>
            </a:extLst>
          </p:cNvPr>
          <p:cNvSpPr txBox="1"/>
          <p:nvPr/>
        </p:nvSpPr>
        <p:spPr>
          <a:xfrm>
            <a:off x="1522717" y="1388574"/>
            <a:ext cx="292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>
                <a:solidFill>
                  <a:srgbClr val="FF0000"/>
                </a:solidFill>
              </a:rPr>
              <a:t>P</a:t>
            </a:r>
            <a:endParaRPr lang="en-GB" b="1">
              <a:solidFill>
                <a:srgbClr val="FF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335CD38-ED46-3AB1-15CB-062559F81F08}"/>
              </a:ext>
            </a:extLst>
          </p:cNvPr>
          <p:cNvCxnSpPr>
            <a:cxnSpLocks/>
          </p:cNvCxnSpPr>
          <p:nvPr/>
        </p:nvCxnSpPr>
        <p:spPr>
          <a:xfrm>
            <a:off x="3487910" y="2683211"/>
            <a:ext cx="45994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AB5CF0-407E-BF64-5B93-9D9525F79112}"/>
              </a:ext>
            </a:extLst>
          </p:cNvPr>
          <p:cNvCxnSpPr>
            <a:cxnSpLocks/>
          </p:cNvCxnSpPr>
          <p:nvPr/>
        </p:nvCxnSpPr>
        <p:spPr>
          <a:xfrm flipV="1">
            <a:off x="6706211" y="1122840"/>
            <a:ext cx="0" cy="29153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1E1C909-C40F-004D-12A6-073FDE4540E2}"/>
              </a:ext>
            </a:extLst>
          </p:cNvPr>
          <p:cNvSpPr txBox="1"/>
          <p:nvPr/>
        </p:nvSpPr>
        <p:spPr>
          <a:xfrm>
            <a:off x="2251601" y="2008966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Base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75A5CE-3EDC-A9C4-0B07-7B7D3AF6699F}"/>
              </a:ext>
            </a:extLst>
          </p:cNvPr>
          <p:cNvSpPr txBox="1"/>
          <p:nvPr/>
        </p:nvSpPr>
        <p:spPr>
          <a:xfrm>
            <a:off x="3683655" y="210293"/>
            <a:ext cx="51449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Unfold such that elevation view is adjacent to  / </a:t>
            </a:r>
            <a:r>
              <a:rPr lang="en-SG" sz="1400" err="1"/>
              <a:t>center</a:t>
            </a:r>
            <a:r>
              <a:rPr lang="en-SG" sz="1400"/>
              <a:t> of other 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First-angle projections are </a:t>
            </a:r>
            <a:r>
              <a:rPr lang="en-SG" sz="1400">
                <a:highlight>
                  <a:srgbClr val="FFFF00"/>
                </a:highlight>
              </a:rPr>
              <a:t>behind</a:t>
            </a:r>
            <a:r>
              <a:rPr lang="en-SG" sz="1400"/>
              <a:t> the object.</a:t>
            </a:r>
          </a:p>
        </p:txBody>
      </p:sp>
      <p:sp>
        <p:nvSpPr>
          <p:cNvPr id="33" name="Arrow: Curved Right 60">
            <a:extLst>
              <a:ext uri="{FF2B5EF4-FFF2-40B4-BE49-F238E27FC236}">
                <a16:creationId xmlns:a16="http://schemas.microsoft.com/office/drawing/2014/main" id="{DD31AE4B-10DD-E73D-2F8B-ED5F531D82A6}"/>
              </a:ext>
            </a:extLst>
          </p:cNvPr>
          <p:cNvSpPr/>
          <p:nvPr/>
        </p:nvSpPr>
        <p:spPr>
          <a:xfrm rot="16970471">
            <a:off x="1867471" y="1786741"/>
            <a:ext cx="155357" cy="345075"/>
          </a:xfrm>
          <a:prstGeom prst="curved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34" name="Arrow: Curved Right 61">
            <a:extLst>
              <a:ext uri="{FF2B5EF4-FFF2-40B4-BE49-F238E27FC236}">
                <a16:creationId xmlns:a16="http://schemas.microsoft.com/office/drawing/2014/main" id="{72013712-BF5A-5D92-34A5-84D8FBB71A3C}"/>
              </a:ext>
            </a:extLst>
          </p:cNvPr>
          <p:cNvSpPr/>
          <p:nvPr/>
        </p:nvSpPr>
        <p:spPr>
          <a:xfrm rot="12042724" flipV="1">
            <a:off x="1327710" y="2912592"/>
            <a:ext cx="194679" cy="347097"/>
          </a:xfrm>
          <a:prstGeom prst="curved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ADD899-7A08-E734-5193-EF3B55F6D7E4}"/>
              </a:ext>
            </a:extLst>
          </p:cNvPr>
          <p:cNvSpPr txBox="1"/>
          <p:nvPr/>
        </p:nvSpPr>
        <p:spPr>
          <a:xfrm>
            <a:off x="5083719" y="2403149"/>
            <a:ext cx="162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Vertical partition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A002D7-F057-EFB1-2779-18AE1A74ECEF}"/>
              </a:ext>
            </a:extLst>
          </p:cNvPr>
          <p:cNvSpPr txBox="1"/>
          <p:nvPr/>
        </p:nvSpPr>
        <p:spPr>
          <a:xfrm>
            <a:off x="5202521" y="1759895"/>
            <a:ext cx="1178169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Elevation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D3A978-4696-8D27-CE71-B2D4C151EF4D}"/>
              </a:ext>
            </a:extLst>
          </p:cNvPr>
          <p:cNvSpPr txBox="1"/>
          <p:nvPr/>
        </p:nvSpPr>
        <p:spPr>
          <a:xfrm>
            <a:off x="5460587" y="3267520"/>
            <a:ext cx="61073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Plan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1192E0-38BC-E849-7A44-0048B3844659}"/>
              </a:ext>
            </a:extLst>
          </p:cNvPr>
          <p:cNvSpPr txBox="1"/>
          <p:nvPr/>
        </p:nvSpPr>
        <p:spPr>
          <a:xfrm>
            <a:off x="1681870" y="3059632"/>
            <a:ext cx="953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Horizontal partition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A35CAC-6CDC-B919-6E61-7E03492B2CDD}"/>
              </a:ext>
            </a:extLst>
          </p:cNvPr>
          <p:cNvSpPr txBox="1"/>
          <p:nvPr/>
        </p:nvSpPr>
        <p:spPr>
          <a:xfrm>
            <a:off x="1157959" y="2236859"/>
            <a:ext cx="953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Vertical partition </a:t>
            </a:r>
          </a:p>
        </p:txBody>
      </p:sp>
      <p:sp>
        <p:nvSpPr>
          <p:cNvPr id="40" name="Parallelogram 39">
            <a:extLst>
              <a:ext uri="{FF2B5EF4-FFF2-40B4-BE49-F238E27FC236}">
                <a16:creationId xmlns:a16="http://schemas.microsoft.com/office/drawing/2014/main" id="{21E590B8-3EC6-0FB6-684E-7465AD8C634D}"/>
              </a:ext>
            </a:extLst>
          </p:cNvPr>
          <p:cNvSpPr/>
          <p:nvPr/>
        </p:nvSpPr>
        <p:spPr>
          <a:xfrm rot="16200000">
            <a:off x="-16092" y="2617228"/>
            <a:ext cx="2043968" cy="1139458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4AE26B-5B80-808C-9E32-991727892F6D}"/>
              </a:ext>
            </a:extLst>
          </p:cNvPr>
          <p:cNvSpPr txBox="1"/>
          <p:nvPr/>
        </p:nvSpPr>
        <p:spPr>
          <a:xfrm>
            <a:off x="1024541" y="3482022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Lid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EF21803-504A-EE77-B23C-83B9E15E2AB5}"/>
              </a:ext>
            </a:extLst>
          </p:cNvPr>
          <p:cNvCxnSpPr>
            <a:cxnSpLocks/>
          </p:cNvCxnSpPr>
          <p:nvPr/>
        </p:nvCxnSpPr>
        <p:spPr>
          <a:xfrm flipV="1">
            <a:off x="432351" y="3571361"/>
            <a:ext cx="520227" cy="3804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B7392C6-1621-E650-7377-ADC34FA98A11}"/>
              </a:ext>
            </a:extLst>
          </p:cNvPr>
          <p:cNvCxnSpPr>
            <a:cxnSpLocks/>
          </p:cNvCxnSpPr>
          <p:nvPr/>
        </p:nvCxnSpPr>
        <p:spPr>
          <a:xfrm flipH="1">
            <a:off x="2432594" y="2276662"/>
            <a:ext cx="407040" cy="34207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A79D4DC-EA33-15BC-7A15-C155D505E838}"/>
              </a:ext>
            </a:extLst>
          </p:cNvPr>
          <p:cNvSpPr txBox="1"/>
          <p:nvPr/>
        </p:nvSpPr>
        <p:spPr>
          <a:xfrm>
            <a:off x="2849431" y="2034655"/>
            <a:ext cx="44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>
                <a:solidFill>
                  <a:srgbClr val="FF0000"/>
                </a:solidFill>
              </a:rPr>
              <a:t>S2</a:t>
            </a:r>
            <a:endParaRPr lang="en-GB" b="1">
              <a:solidFill>
                <a:srgbClr val="FF0000"/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62B2B58-C78A-5F05-455A-F1A7982386A4}"/>
              </a:ext>
            </a:extLst>
          </p:cNvPr>
          <p:cNvCxnSpPr>
            <a:cxnSpLocks/>
          </p:cNvCxnSpPr>
          <p:nvPr/>
        </p:nvCxnSpPr>
        <p:spPr>
          <a:xfrm flipV="1">
            <a:off x="4834168" y="1199208"/>
            <a:ext cx="0" cy="28389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0606708-83AB-0AFA-C75C-4D968CF67C9B}"/>
              </a:ext>
            </a:extLst>
          </p:cNvPr>
          <p:cNvSpPr txBox="1"/>
          <p:nvPr/>
        </p:nvSpPr>
        <p:spPr>
          <a:xfrm>
            <a:off x="3831516" y="1759895"/>
            <a:ext cx="670455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/>
              <a:t>End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E693A2-9D74-AA9C-6B5B-AD1F64C6BF5C}"/>
              </a:ext>
            </a:extLst>
          </p:cNvPr>
          <p:cNvSpPr txBox="1"/>
          <p:nvPr/>
        </p:nvSpPr>
        <p:spPr>
          <a:xfrm>
            <a:off x="7281646" y="1759895"/>
            <a:ext cx="67927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/>
              <a:t>End 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417888-3516-3E7D-B0BC-CCE220FA98C1}"/>
              </a:ext>
            </a:extLst>
          </p:cNvPr>
          <p:cNvSpPr txBox="1"/>
          <p:nvPr/>
        </p:nvSpPr>
        <p:spPr>
          <a:xfrm>
            <a:off x="7341103" y="2386971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Base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B20E02-7E1A-9914-D3DB-96870691E1D8}"/>
              </a:ext>
            </a:extLst>
          </p:cNvPr>
          <p:cNvSpPr txBox="1"/>
          <p:nvPr/>
        </p:nvSpPr>
        <p:spPr>
          <a:xfrm>
            <a:off x="3880900" y="2427592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Lid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F877C5-6054-982F-AF0F-5AF23B893D66}"/>
              </a:ext>
            </a:extLst>
          </p:cNvPr>
          <p:cNvSpPr txBox="1"/>
          <p:nvPr/>
        </p:nvSpPr>
        <p:spPr>
          <a:xfrm>
            <a:off x="4986165" y="2760346"/>
            <a:ext cx="1628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Horizontal partition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F4F7FE-DD5C-4CD7-5B8C-F9F8679DBB1B}"/>
              </a:ext>
            </a:extLst>
          </p:cNvPr>
          <p:cNvSpPr txBox="1"/>
          <p:nvPr/>
        </p:nvSpPr>
        <p:spPr>
          <a:xfrm>
            <a:off x="3683655" y="4196113"/>
            <a:ext cx="514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Elevation is always on the vertical partition of the 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Plan is always on the horizontal partition of the box.</a:t>
            </a:r>
          </a:p>
        </p:txBody>
      </p:sp>
      <p:sp>
        <p:nvSpPr>
          <p:cNvPr id="52" name="Arrow: Curved Right 100">
            <a:extLst>
              <a:ext uri="{FF2B5EF4-FFF2-40B4-BE49-F238E27FC236}">
                <a16:creationId xmlns:a16="http://schemas.microsoft.com/office/drawing/2014/main" id="{BB0488B3-F950-B118-403C-9FABD8CF4F3C}"/>
              </a:ext>
            </a:extLst>
          </p:cNvPr>
          <p:cNvSpPr/>
          <p:nvPr/>
        </p:nvSpPr>
        <p:spPr>
          <a:xfrm rot="13634337" flipV="1">
            <a:off x="384214" y="2783169"/>
            <a:ext cx="155357" cy="292970"/>
          </a:xfrm>
          <a:prstGeom prst="curved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883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D911C-6327-5178-57FE-856A3D95F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046842-1B7A-78FE-80C0-F9E8F790D44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547918" y="462779"/>
            <a:ext cx="1504077" cy="16493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A3D0B9-AC12-163E-CA33-F6DB1CF2F681}"/>
              </a:ext>
            </a:extLst>
          </p:cNvPr>
          <p:cNvSpPr txBox="1"/>
          <p:nvPr/>
        </p:nvSpPr>
        <p:spPr>
          <a:xfrm>
            <a:off x="235397" y="2047720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EBD3731-E4C5-172B-CC88-6407FFDD0E67}"/>
              </a:ext>
            </a:extLst>
          </p:cNvPr>
          <p:cNvCxnSpPr>
            <a:cxnSpLocks/>
          </p:cNvCxnSpPr>
          <p:nvPr/>
        </p:nvCxnSpPr>
        <p:spPr>
          <a:xfrm flipV="1">
            <a:off x="547918" y="1846634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A4797E0-3899-696D-DD46-97BE4076514A}"/>
              </a:ext>
            </a:extLst>
          </p:cNvPr>
          <p:cNvCxnSpPr>
            <a:cxnSpLocks/>
          </p:cNvCxnSpPr>
          <p:nvPr/>
        </p:nvCxnSpPr>
        <p:spPr>
          <a:xfrm flipH="1" flipV="1">
            <a:off x="1711569" y="1913201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477879A-3CF8-663B-59AF-C30946F82E05}"/>
              </a:ext>
            </a:extLst>
          </p:cNvPr>
          <p:cNvSpPr txBox="1"/>
          <p:nvPr/>
        </p:nvSpPr>
        <p:spPr>
          <a:xfrm>
            <a:off x="1998273" y="202206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ADE5A-D635-AB0D-6184-E41E39D27AE7}"/>
              </a:ext>
            </a:extLst>
          </p:cNvPr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F2DC5CAE-D54B-DD48-1C0D-B70BCDD34778}"/>
              </a:ext>
            </a:extLst>
          </p:cNvPr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2582D133-DA89-559B-A70D-CEB165B034C8}"/>
              </a:ext>
            </a:extLst>
          </p:cNvPr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0F7D039-A11C-C5C1-22BE-316598F6F434}"/>
              </a:ext>
            </a:extLst>
          </p:cNvPr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BB1013-E506-7ADE-D628-3F7D301B066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661088" y="2709561"/>
            <a:ext cx="1504077" cy="1649315"/>
          </a:xfrm>
          <a:prstGeom prst="rect">
            <a:avLst/>
          </a:prstGeom>
        </p:spPr>
      </p:pic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0A063EE-9FA7-DF39-1CA2-2241EF9BC4FE}"/>
              </a:ext>
            </a:extLst>
          </p:cNvPr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F6129B-4B40-1B05-B968-9FEB915EA055}"/>
              </a:ext>
            </a:extLst>
          </p:cNvPr>
          <p:cNvCxnSpPr>
            <a:cxnSpLocks/>
          </p:cNvCxnSpPr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9DE3AD-10A3-7005-BE17-DF80B8F5CB9F}"/>
              </a:ext>
            </a:extLst>
          </p:cNvPr>
          <p:cNvCxnSpPr>
            <a:cxnSpLocks/>
          </p:cNvCxnSpPr>
          <p:nvPr/>
        </p:nvCxnSpPr>
        <p:spPr>
          <a:xfrm flipV="1">
            <a:off x="661088" y="3908540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924C751-A1CF-F9CC-202D-25CB58F28EDD}"/>
              </a:ext>
            </a:extLst>
          </p:cNvPr>
          <p:cNvSpPr txBox="1"/>
          <p:nvPr/>
        </p:nvSpPr>
        <p:spPr>
          <a:xfrm>
            <a:off x="192307" y="4283101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872A02-B20C-7C4D-8D63-40EDA625A29F}"/>
              </a:ext>
            </a:extLst>
          </p:cNvPr>
          <p:cNvSpPr txBox="1"/>
          <p:nvPr/>
        </p:nvSpPr>
        <p:spPr>
          <a:xfrm>
            <a:off x="2718743" y="36502"/>
            <a:ext cx="6614727" cy="893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SG" sz="1400" u="sng"/>
              <a:t>Comment: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1400"/>
              <a:t>Notice that P may not be given, because plan view is always from above.</a:t>
            </a:r>
            <a:endParaRPr lang="en-GB" sz="1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DC71E1-D9FA-5252-3287-DADE3B5ACD0D}"/>
              </a:ext>
            </a:extLst>
          </p:cNvPr>
          <p:cNvCxnSpPr>
            <a:cxnSpLocks/>
          </p:cNvCxnSpPr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4BB5F0-B641-9613-1D86-A62A85459A1D}"/>
              </a:ext>
            </a:extLst>
          </p:cNvPr>
          <p:cNvCxnSpPr>
            <a:cxnSpLocks/>
          </p:cNvCxnSpPr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3C2205B-16AA-37DA-CBD8-8D980214B752}"/>
              </a:ext>
            </a:extLst>
          </p:cNvPr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9F6D56-FC75-D0EA-AB12-2C25C30B0113}"/>
              </a:ext>
            </a:extLst>
          </p:cNvPr>
          <p:cNvCxnSpPr>
            <a:cxnSpLocks/>
          </p:cNvCxnSpPr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DA25082-0D11-17D8-5379-B7DDC1FFA259}"/>
              </a:ext>
            </a:extLst>
          </p:cNvPr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987E20-3BB1-1C39-B661-7545B5FD16FE}"/>
              </a:ext>
            </a:extLst>
          </p:cNvPr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CCEA6E-005A-66BD-B627-FF10129DF544}"/>
              </a:ext>
            </a:extLst>
          </p:cNvPr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CD3A4E-9A3C-2EC6-87E2-7EF24C19DFC5}"/>
              </a:ext>
            </a:extLst>
          </p:cNvPr>
          <p:cNvGrpSpPr/>
          <p:nvPr/>
        </p:nvGrpSpPr>
        <p:grpSpPr>
          <a:xfrm>
            <a:off x="7132866" y="1706322"/>
            <a:ext cx="1048377" cy="989875"/>
            <a:chOff x="9637776" y="1965960"/>
            <a:chExt cx="1469811" cy="1387792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F820497-F463-DC42-E4DB-44DBD7ABF8DA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4182D19-3EFE-1FE0-092C-34D90CC2DC24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047AD1-797C-4765-9FE1-ECCD7C3A3771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2A8297F-97B3-9FDD-F134-357EFCE67ED4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B3831A8-C559-9162-A8C0-9DFDB1CB8C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96DAB8E-A740-8E86-4748-AD9298E92CD2}"/>
              </a:ext>
            </a:extLst>
          </p:cNvPr>
          <p:cNvGrpSpPr/>
          <p:nvPr/>
        </p:nvGrpSpPr>
        <p:grpSpPr>
          <a:xfrm rot="5400000">
            <a:off x="5379380" y="3647157"/>
            <a:ext cx="1007618" cy="941377"/>
            <a:chOff x="9690394" y="4430333"/>
            <a:chExt cx="1412668" cy="131979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740E271-6F46-B4D5-6EF2-027AB3F2DFD4}"/>
                </a:ext>
              </a:extLst>
            </p:cNvPr>
            <p:cNvSpPr/>
            <p:nvPr/>
          </p:nvSpPr>
          <p:spPr>
            <a:xfrm>
              <a:off x="9690394" y="4430333"/>
              <a:ext cx="1412665" cy="13197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EDE947C-34D6-78EC-79B2-E96D7B5ED1CF}"/>
                </a:ext>
              </a:extLst>
            </p:cNvPr>
            <p:cNvSpPr/>
            <p:nvPr/>
          </p:nvSpPr>
          <p:spPr>
            <a:xfrm>
              <a:off x="10638652" y="4430337"/>
              <a:ext cx="464410" cy="13197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FD34E77-B175-1FD0-F60F-E4EDCC9A649D}"/>
              </a:ext>
            </a:extLst>
          </p:cNvPr>
          <p:cNvGrpSpPr/>
          <p:nvPr/>
        </p:nvGrpSpPr>
        <p:grpSpPr>
          <a:xfrm>
            <a:off x="5411484" y="1676315"/>
            <a:ext cx="942396" cy="975606"/>
            <a:chOff x="6943810" y="1965960"/>
            <a:chExt cx="1321228" cy="136778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210D25D-1426-FF15-3792-218E4C268030}"/>
                </a:ext>
              </a:extLst>
            </p:cNvPr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7DE3065-EF96-933A-9526-2D27C07C5BBF}"/>
                </a:ext>
              </a:extLst>
            </p:cNvPr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955723B-61AF-2E54-8516-2ECA6BA82047}"/>
              </a:ext>
            </a:extLst>
          </p:cNvPr>
          <p:cNvSpPr txBox="1"/>
          <p:nvPr/>
        </p:nvSpPr>
        <p:spPr>
          <a:xfrm>
            <a:off x="3475350" y="2246215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43948A-1A3F-58FC-2417-CE05F388EB42}"/>
              </a:ext>
            </a:extLst>
          </p:cNvPr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/>
              <a:t>First-angle projection</a:t>
            </a:r>
            <a:r>
              <a:rPr lang="en-SG" sz="1400" u="sng"/>
              <a:t>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C1CA48-10DC-8A30-0871-C848C5CEAE72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/>
              <a:t>Variation 1</a:t>
            </a:r>
          </a:p>
        </p:txBody>
      </p:sp>
    </p:spTree>
    <p:extLst>
      <p:ext uri="{BB962C8B-B14F-4D97-AF65-F5344CB8AC3E}">
        <p14:creationId xmlns:p14="http://schemas.microsoft.com/office/powerpoint/2010/main" val="2856787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DD1B8-4CA5-1AA8-32DC-D9A56F0E8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0DF65D-631F-5361-F6CC-D912F2384462}"/>
              </a:ext>
            </a:extLst>
          </p:cNvPr>
          <p:cNvSpPr txBox="1"/>
          <p:nvPr/>
        </p:nvSpPr>
        <p:spPr>
          <a:xfrm>
            <a:off x="235397" y="2047720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FECDDD-DE04-6990-FA83-AA72DBD7ED4E}"/>
              </a:ext>
            </a:extLst>
          </p:cNvPr>
          <p:cNvCxnSpPr>
            <a:cxnSpLocks/>
          </p:cNvCxnSpPr>
          <p:nvPr/>
        </p:nvCxnSpPr>
        <p:spPr>
          <a:xfrm flipV="1">
            <a:off x="547918" y="1846634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289B6B-96DF-A1EB-8BED-F078E37586EB}"/>
              </a:ext>
            </a:extLst>
          </p:cNvPr>
          <p:cNvCxnSpPr>
            <a:cxnSpLocks/>
          </p:cNvCxnSpPr>
          <p:nvPr/>
        </p:nvCxnSpPr>
        <p:spPr>
          <a:xfrm flipH="1" flipV="1">
            <a:off x="1711569" y="1913201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B7A6F07-4896-65CE-2459-7B7D8DA269F2}"/>
              </a:ext>
            </a:extLst>
          </p:cNvPr>
          <p:cNvSpPr txBox="1"/>
          <p:nvPr/>
        </p:nvSpPr>
        <p:spPr>
          <a:xfrm>
            <a:off x="1998273" y="202206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2A90C1-B5F6-1676-83ED-2CBCBBB80698}"/>
              </a:ext>
            </a:extLst>
          </p:cNvPr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25D2AFDA-67CD-E0E2-D7DF-4E27DABBCECA}"/>
              </a:ext>
            </a:extLst>
          </p:cNvPr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09A1D52F-D399-02EF-5A9B-ED1C15BE5E5B}"/>
              </a:ext>
            </a:extLst>
          </p:cNvPr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497E59D9-3C6D-2247-6C6C-F5E93AA7FB57}"/>
              </a:ext>
            </a:extLst>
          </p:cNvPr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301401-D7E8-8294-B0FB-BBCD2077CFA3}"/>
              </a:ext>
            </a:extLst>
          </p:cNvPr>
          <p:cNvCxnSpPr>
            <a:cxnSpLocks/>
          </p:cNvCxnSpPr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E7E6C9-0852-90FF-BEB4-5D8FC732A281}"/>
              </a:ext>
            </a:extLst>
          </p:cNvPr>
          <p:cNvCxnSpPr>
            <a:cxnSpLocks/>
          </p:cNvCxnSpPr>
          <p:nvPr/>
        </p:nvCxnSpPr>
        <p:spPr>
          <a:xfrm flipV="1">
            <a:off x="661088" y="3908540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E396EDE-C7E8-6F52-8901-EAA6DF6AD79A}"/>
              </a:ext>
            </a:extLst>
          </p:cNvPr>
          <p:cNvSpPr txBox="1"/>
          <p:nvPr/>
        </p:nvSpPr>
        <p:spPr>
          <a:xfrm>
            <a:off x="192307" y="4283101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7B71A62-79E6-87C1-16AE-CC4EAD115C2F}"/>
              </a:ext>
            </a:extLst>
          </p:cNvPr>
          <p:cNvCxnSpPr>
            <a:cxnSpLocks/>
          </p:cNvCxnSpPr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661758-4E4C-7D0E-CEF5-FB5835D17946}"/>
              </a:ext>
            </a:extLst>
          </p:cNvPr>
          <p:cNvCxnSpPr>
            <a:cxnSpLocks/>
          </p:cNvCxnSpPr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5626BF3-A833-F676-3C32-69F1AF9F4EBB}"/>
              </a:ext>
            </a:extLst>
          </p:cNvPr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49DAC-3513-65EE-71E9-9BA86597D3C2}"/>
              </a:ext>
            </a:extLst>
          </p:cNvPr>
          <p:cNvCxnSpPr>
            <a:cxnSpLocks/>
          </p:cNvCxnSpPr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EB8C465-8EF5-2FBF-E714-308366C65047}"/>
              </a:ext>
            </a:extLst>
          </p:cNvPr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highlight>
                  <a:srgbClr val="FFFF00"/>
                </a:highlight>
              </a:rPr>
              <a:t>Base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AEC2D2-3089-6512-27CE-E3DAB409212F}"/>
              </a:ext>
            </a:extLst>
          </p:cNvPr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2AFF34-4E9E-F923-2ED9-07985EEF5A08}"/>
              </a:ext>
            </a:extLst>
          </p:cNvPr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C34CFD-B623-0D23-7B72-1839CA27DE72}"/>
              </a:ext>
            </a:extLst>
          </p:cNvPr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/>
              <a:t>First-angle projection</a:t>
            </a:r>
            <a:r>
              <a:rPr lang="en-SG" sz="1400" u="sng"/>
              <a:t>:</a:t>
            </a:r>
          </a:p>
        </p:txBody>
      </p:sp>
      <p:sp>
        <p:nvSpPr>
          <p:cNvPr id="37" name="TextBox 57">
            <a:extLst>
              <a:ext uri="{FF2B5EF4-FFF2-40B4-BE49-F238E27FC236}">
                <a16:creationId xmlns:a16="http://schemas.microsoft.com/office/drawing/2014/main" id="{85A8F7AC-CDDF-40C6-A133-2803074BEE36}"/>
              </a:ext>
            </a:extLst>
          </p:cNvPr>
          <p:cNvSpPr txBox="1"/>
          <p:nvPr/>
        </p:nvSpPr>
        <p:spPr>
          <a:xfrm>
            <a:off x="2347591" y="425776"/>
            <a:ext cx="2604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The object is rotated.</a:t>
            </a:r>
            <a:endParaRPr lang="en-GB" sz="14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8B57059-01E3-0216-9DFC-054231948C65}"/>
              </a:ext>
            </a:extLst>
          </p:cNvPr>
          <p:cNvGrpSpPr/>
          <p:nvPr/>
        </p:nvGrpSpPr>
        <p:grpSpPr>
          <a:xfrm rot="10800000">
            <a:off x="5274568" y="3616561"/>
            <a:ext cx="1060563" cy="975652"/>
            <a:chOff x="9616234" y="4382344"/>
            <a:chExt cx="1486826" cy="136778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B1DAC51-495A-FE20-09C5-7BBC32723563}"/>
                </a:ext>
              </a:extLst>
            </p:cNvPr>
            <p:cNvSpPr/>
            <p:nvPr/>
          </p:nvSpPr>
          <p:spPr>
            <a:xfrm>
              <a:off x="9616234" y="4382344"/>
              <a:ext cx="148682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ADF811D-36AB-E4AC-35EF-F3F2F4298E47}"/>
                </a:ext>
              </a:extLst>
            </p:cNvPr>
            <p:cNvSpPr/>
            <p:nvPr/>
          </p:nvSpPr>
          <p:spPr>
            <a:xfrm>
              <a:off x="10430211" y="4382344"/>
              <a:ext cx="67284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53DE6E7-7D25-9A40-5A58-4E05E739D095}"/>
              </a:ext>
            </a:extLst>
          </p:cNvPr>
          <p:cNvGrpSpPr/>
          <p:nvPr/>
        </p:nvGrpSpPr>
        <p:grpSpPr>
          <a:xfrm>
            <a:off x="7090910" y="1635485"/>
            <a:ext cx="942441" cy="975652"/>
            <a:chOff x="6943810" y="1965960"/>
            <a:chExt cx="1321228" cy="136778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ED2A274-7470-DE54-130F-554CBD67A38A}"/>
                </a:ext>
              </a:extLst>
            </p:cNvPr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AB9C432-10AB-F6BE-66F4-DCC6FB3214D3}"/>
                </a:ext>
              </a:extLst>
            </p:cNvPr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sp>
        <p:nvSpPr>
          <p:cNvPr id="45" name="TextBox 99">
            <a:extLst>
              <a:ext uri="{FF2B5EF4-FFF2-40B4-BE49-F238E27FC236}">
                <a16:creationId xmlns:a16="http://schemas.microsoft.com/office/drawing/2014/main" id="{E5EECED7-4E5C-B3D8-D116-5D8177F51963}"/>
              </a:ext>
            </a:extLst>
          </p:cNvPr>
          <p:cNvSpPr txBox="1"/>
          <p:nvPr/>
        </p:nvSpPr>
        <p:spPr>
          <a:xfrm>
            <a:off x="3563470" y="1846312"/>
            <a:ext cx="1017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/>
              <a:t>Not required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7EECC4B-FCB9-B92F-9105-AC298C37953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7945" y="407180"/>
            <a:ext cx="1505026" cy="164939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66F12EC-C014-EE5E-43B0-F6531F8D5B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0288" y="2609062"/>
            <a:ext cx="1505026" cy="1649393"/>
          </a:xfrm>
          <a:prstGeom prst="rect">
            <a:avLst/>
          </a:prstGeom>
        </p:spPr>
      </p:pic>
      <p:sp>
        <p:nvSpPr>
          <p:cNvPr id="48" name="TextBox 4">
            <a:extLst>
              <a:ext uri="{FF2B5EF4-FFF2-40B4-BE49-F238E27FC236}">
                <a16:creationId xmlns:a16="http://schemas.microsoft.com/office/drawing/2014/main" id="{09A723DB-D52B-4298-79D4-0738C6371749}"/>
              </a:ext>
            </a:extLst>
          </p:cNvPr>
          <p:cNvSpPr txBox="1"/>
          <p:nvPr/>
        </p:nvSpPr>
        <p:spPr>
          <a:xfrm>
            <a:off x="4952144" y="362816"/>
            <a:ext cx="37799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The layout stays the same because the object is simply rotated.</a:t>
            </a:r>
            <a:endParaRPr lang="en-GB" sz="140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A1F8DC1-37C3-7939-986D-5FED68E07E7B}"/>
              </a:ext>
            </a:extLst>
          </p:cNvPr>
          <p:cNvGrpSpPr/>
          <p:nvPr/>
        </p:nvGrpSpPr>
        <p:grpSpPr>
          <a:xfrm flipH="1">
            <a:off x="5274569" y="1618811"/>
            <a:ext cx="1060577" cy="989921"/>
            <a:chOff x="9637776" y="1965960"/>
            <a:chExt cx="1469811" cy="1387792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8814318-6DE8-80A3-7F92-6062CA383F8D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E7A3BA6-FD84-F557-A090-0314B7D64F05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7684199-BC40-6585-93A8-BC3B8BCDD739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32C0532-9185-19B3-17CA-7CF524283FD4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716D2F5-1CE1-E26B-A54D-30BB13250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0D490811-4912-66EB-91BB-41501CD35C50}"/>
              </a:ext>
            </a:extLst>
          </p:cNvPr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977A01-E95D-1E9B-54FC-3556F3BA2338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/>
              <a:t>Variation 2</a:t>
            </a:r>
          </a:p>
        </p:txBody>
      </p:sp>
    </p:spTree>
    <p:extLst>
      <p:ext uri="{BB962C8B-B14F-4D97-AF65-F5344CB8AC3E}">
        <p14:creationId xmlns:p14="http://schemas.microsoft.com/office/powerpoint/2010/main" val="1606987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1DAF8-AD8F-A5F4-33D9-7EC69582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arallelogram 42">
            <a:extLst>
              <a:ext uri="{FF2B5EF4-FFF2-40B4-BE49-F238E27FC236}">
                <a16:creationId xmlns:a16="http://schemas.microsoft.com/office/drawing/2014/main" id="{FB23E752-C269-82A6-DBC9-20B0A786F4BC}"/>
              </a:ext>
            </a:extLst>
          </p:cNvPr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E57AB6-6A31-C6D2-F000-50328D19C418}"/>
              </a:ext>
            </a:extLst>
          </p:cNvPr>
          <p:cNvSpPr txBox="1"/>
          <p:nvPr/>
        </p:nvSpPr>
        <p:spPr>
          <a:xfrm>
            <a:off x="2389439" y="1019524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DB9A9A4-9B1D-766B-C85D-54094C0CAA3C}"/>
              </a:ext>
            </a:extLst>
          </p:cNvPr>
          <p:cNvCxnSpPr>
            <a:cxnSpLocks/>
          </p:cNvCxnSpPr>
          <p:nvPr/>
        </p:nvCxnSpPr>
        <p:spPr>
          <a:xfrm flipH="1">
            <a:off x="2086690" y="969894"/>
            <a:ext cx="312521" cy="2529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8FA978-6BD1-C1DE-C03B-99605B526071}"/>
              </a:ext>
            </a:extLst>
          </p:cNvPr>
          <p:cNvCxnSpPr>
            <a:cxnSpLocks/>
          </p:cNvCxnSpPr>
          <p:nvPr/>
        </p:nvCxnSpPr>
        <p:spPr>
          <a:xfrm flipH="1" flipV="1">
            <a:off x="1711569" y="1913201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7219B36-888E-EC5B-896D-8D175AD1D899}"/>
              </a:ext>
            </a:extLst>
          </p:cNvPr>
          <p:cNvSpPr txBox="1"/>
          <p:nvPr/>
        </p:nvSpPr>
        <p:spPr>
          <a:xfrm>
            <a:off x="1998273" y="202206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B2903-BF44-DBD0-C684-503B3875F6B3}"/>
              </a:ext>
            </a:extLst>
          </p:cNvPr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2B8689FF-7E8C-8232-95F8-F82EFA8CD20C}"/>
              </a:ext>
            </a:extLst>
          </p:cNvPr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34E3AF57-4441-1CA1-4278-2DE4F18C27A4}"/>
              </a:ext>
            </a:extLst>
          </p:cNvPr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810924-09B3-8106-2E06-EAE262061A0A}"/>
              </a:ext>
            </a:extLst>
          </p:cNvPr>
          <p:cNvCxnSpPr>
            <a:cxnSpLocks/>
          </p:cNvCxnSpPr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D1AC0F-5C88-2F6B-2995-08DD7370ECCD}"/>
              </a:ext>
            </a:extLst>
          </p:cNvPr>
          <p:cNvCxnSpPr>
            <a:cxnSpLocks/>
          </p:cNvCxnSpPr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86BE2C-5049-96F1-0E91-035680CDAE0E}"/>
              </a:ext>
            </a:extLst>
          </p:cNvPr>
          <p:cNvCxnSpPr>
            <a:cxnSpLocks/>
          </p:cNvCxnSpPr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DEE0A2-B065-45B4-B7C9-8FF0F253C07D}"/>
              </a:ext>
            </a:extLst>
          </p:cNvPr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5CE1BD-1E32-6067-65EC-A8DD641881B7}"/>
              </a:ext>
            </a:extLst>
          </p:cNvPr>
          <p:cNvCxnSpPr>
            <a:cxnSpLocks/>
          </p:cNvCxnSpPr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3F57B9E-F717-072C-5412-4079F5F6D196}"/>
              </a:ext>
            </a:extLst>
          </p:cNvPr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94888C-6C91-8B8C-B5FC-F50268B23A36}"/>
              </a:ext>
            </a:extLst>
          </p:cNvPr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highlight>
                  <a:srgbClr val="FFFF00"/>
                </a:highlight>
              </a:rPr>
              <a:t>Lid</a:t>
            </a:r>
            <a:r>
              <a:rPr lang="en-SG" sz="1200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D32E76-D205-30F6-69D6-2946415FEAD2}"/>
              </a:ext>
            </a:extLst>
          </p:cNvPr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AEDB50-FE6E-2D29-CB8F-E9C829CB57C6}"/>
              </a:ext>
            </a:extLst>
          </p:cNvPr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/>
              <a:t>First-angle projection</a:t>
            </a:r>
            <a:r>
              <a:rPr lang="en-SG" sz="1400" u="sng"/>
              <a:t>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FCDAF4-3663-2367-6116-7E10286A132D}"/>
              </a:ext>
            </a:extLst>
          </p:cNvPr>
          <p:cNvGrpSpPr/>
          <p:nvPr/>
        </p:nvGrpSpPr>
        <p:grpSpPr>
          <a:xfrm rot="10800000">
            <a:off x="5274568" y="3616561"/>
            <a:ext cx="1060563" cy="975652"/>
            <a:chOff x="9616234" y="4382344"/>
            <a:chExt cx="1486826" cy="136778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0496FBF-132E-6FDC-7D90-D24D0AB8CACC}"/>
                </a:ext>
              </a:extLst>
            </p:cNvPr>
            <p:cNvSpPr/>
            <p:nvPr/>
          </p:nvSpPr>
          <p:spPr>
            <a:xfrm>
              <a:off x="9616234" y="4382344"/>
              <a:ext cx="148682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AEC1FCC-4AC4-35B7-40CE-C097CAC92E4C}"/>
                </a:ext>
              </a:extLst>
            </p:cNvPr>
            <p:cNvSpPr/>
            <p:nvPr/>
          </p:nvSpPr>
          <p:spPr>
            <a:xfrm>
              <a:off x="10430211" y="4382344"/>
              <a:ext cx="67284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6A6C717-6188-E547-0415-EE77DD207611}"/>
              </a:ext>
            </a:extLst>
          </p:cNvPr>
          <p:cNvGrpSpPr/>
          <p:nvPr/>
        </p:nvGrpSpPr>
        <p:grpSpPr>
          <a:xfrm>
            <a:off x="3533304" y="1635485"/>
            <a:ext cx="942441" cy="975652"/>
            <a:chOff x="6943810" y="1965960"/>
            <a:chExt cx="1321228" cy="136778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D318EF0-8C3B-5F6C-A24C-B9026AB498D3}"/>
                </a:ext>
              </a:extLst>
            </p:cNvPr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1B31314-6793-2CD9-8319-2E90B61DAA80}"/>
                </a:ext>
              </a:extLst>
            </p:cNvPr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sp>
        <p:nvSpPr>
          <p:cNvPr id="27" name="TextBox 99">
            <a:extLst>
              <a:ext uri="{FF2B5EF4-FFF2-40B4-BE49-F238E27FC236}">
                <a16:creationId xmlns:a16="http://schemas.microsoft.com/office/drawing/2014/main" id="{0D4D638E-334D-4FA0-05C2-2DD94BCAFA95}"/>
              </a:ext>
            </a:extLst>
          </p:cNvPr>
          <p:cNvSpPr txBox="1"/>
          <p:nvPr/>
        </p:nvSpPr>
        <p:spPr>
          <a:xfrm>
            <a:off x="7077621" y="1957705"/>
            <a:ext cx="1017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/>
              <a:t>Not required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82FBCBE-0B96-D476-EB9D-B340FD0226B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7945" y="407180"/>
            <a:ext cx="1505026" cy="164939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B6F1B8D-E851-D5A3-F3D1-D201C0560D7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0288" y="2609062"/>
            <a:ext cx="1505026" cy="1649393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B6673E1-5BEB-275D-85EC-2EEC392BE5C2}"/>
              </a:ext>
            </a:extLst>
          </p:cNvPr>
          <p:cNvGrpSpPr/>
          <p:nvPr/>
        </p:nvGrpSpPr>
        <p:grpSpPr>
          <a:xfrm flipH="1">
            <a:off x="5274569" y="1618811"/>
            <a:ext cx="1060577" cy="989921"/>
            <a:chOff x="9637776" y="1965960"/>
            <a:chExt cx="1469811" cy="1387792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AFACE09-603D-CD78-149D-62A73D1AAD26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3EA3977-3FB9-E35E-552B-EC8663BCED59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22863C2-B972-54BA-59B5-406A5170AD3E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DFBE9FF-6141-4C99-769A-EE7EAB99BEE2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068ACA-706D-5149-670E-4BD14D2710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Parallelogram 36">
            <a:extLst>
              <a:ext uri="{FF2B5EF4-FFF2-40B4-BE49-F238E27FC236}">
                <a16:creationId xmlns:a16="http://schemas.microsoft.com/office/drawing/2014/main" id="{22B11A3D-03C0-1BD4-B542-DB40DFC31792}"/>
              </a:ext>
            </a:extLst>
          </p:cNvPr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4F28BD-BD87-0DF5-DEE1-B878364CA4FB}"/>
              </a:ext>
            </a:extLst>
          </p:cNvPr>
          <p:cNvSpPr txBox="1"/>
          <p:nvPr/>
        </p:nvSpPr>
        <p:spPr>
          <a:xfrm>
            <a:off x="2510860" y="3031804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87DA2AE-0842-1307-A5BC-59310DEC547B}"/>
              </a:ext>
            </a:extLst>
          </p:cNvPr>
          <p:cNvCxnSpPr>
            <a:cxnSpLocks/>
          </p:cNvCxnSpPr>
          <p:nvPr/>
        </p:nvCxnSpPr>
        <p:spPr>
          <a:xfrm flipH="1">
            <a:off x="2208111" y="2982174"/>
            <a:ext cx="312521" cy="2529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0706A7F-C1C6-0B75-1C82-33FD1B2EBA09}"/>
              </a:ext>
            </a:extLst>
          </p:cNvPr>
          <p:cNvSpPr txBox="1"/>
          <p:nvPr/>
        </p:nvSpPr>
        <p:spPr>
          <a:xfrm>
            <a:off x="2529493" y="118731"/>
            <a:ext cx="2334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The other end view is requested.</a:t>
            </a:r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E553D5-192A-4FC9-5ECA-D49F27E44EC7}"/>
              </a:ext>
            </a:extLst>
          </p:cNvPr>
          <p:cNvSpPr txBox="1"/>
          <p:nvPr/>
        </p:nvSpPr>
        <p:spPr>
          <a:xfrm>
            <a:off x="5141968" y="176477"/>
            <a:ext cx="38713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Take note that the layout is different now. Because first-angle projections are behind the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Take note of the hidden line.</a:t>
            </a:r>
            <a:endParaRPr lang="en-GB" sz="14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C49897-741F-5766-6539-E509914757F0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/>
              <a:t>Variation 3</a:t>
            </a:r>
          </a:p>
        </p:txBody>
      </p:sp>
    </p:spTree>
    <p:extLst>
      <p:ext uri="{BB962C8B-B14F-4D97-AF65-F5344CB8AC3E}">
        <p14:creationId xmlns:p14="http://schemas.microsoft.com/office/powerpoint/2010/main" val="1401384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F50D3-2B64-74C0-2FEA-5D1D5999F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47EECC4B-FCB9-B92F-9105-AC298C37953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7586" y="432864"/>
            <a:ext cx="1505026" cy="164939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250119-F62E-68CE-C14B-66B330234206}"/>
              </a:ext>
            </a:extLst>
          </p:cNvPr>
          <p:cNvCxnSpPr>
            <a:cxnSpLocks/>
          </p:cNvCxnSpPr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40A67C-F333-1612-243B-FA18EFB4B5C2}"/>
              </a:ext>
            </a:extLst>
          </p:cNvPr>
          <p:cNvCxnSpPr>
            <a:cxnSpLocks/>
          </p:cNvCxnSpPr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978BC04-66C3-04E2-8C6B-7FBEAFCA2B79}"/>
              </a:ext>
            </a:extLst>
          </p:cNvPr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6EC2A4-71E8-4B09-180F-010240A49463}"/>
              </a:ext>
            </a:extLst>
          </p:cNvPr>
          <p:cNvCxnSpPr>
            <a:cxnSpLocks/>
          </p:cNvCxnSpPr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0E5361E-E894-DD39-317E-0237F0DC01A2}"/>
              </a:ext>
            </a:extLst>
          </p:cNvPr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37945E-1CA3-924B-D031-7CB4261014BE}"/>
              </a:ext>
            </a:extLst>
          </p:cNvPr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278FAA-D68C-6FF6-04BE-7721BAD43948}"/>
              </a:ext>
            </a:extLst>
          </p:cNvPr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FD0E44-8A70-06D8-1D4B-58152AD84F99}"/>
              </a:ext>
            </a:extLst>
          </p:cNvPr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/>
              <a:t>First-angle projection</a:t>
            </a:r>
            <a:r>
              <a:rPr lang="en-SG" sz="1400" u="sng"/>
              <a:t>:</a:t>
            </a:r>
          </a:p>
        </p:txBody>
      </p:sp>
      <p:sp>
        <p:nvSpPr>
          <p:cNvPr id="27" name="TextBox 99">
            <a:extLst>
              <a:ext uri="{FF2B5EF4-FFF2-40B4-BE49-F238E27FC236}">
                <a16:creationId xmlns:a16="http://schemas.microsoft.com/office/drawing/2014/main" id="{F020BDC5-0EE8-CD82-405F-6F4D4CEDB2FB}"/>
              </a:ext>
            </a:extLst>
          </p:cNvPr>
          <p:cNvSpPr txBox="1"/>
          <p:nvPr/>
        </p:nvSpPr>
        <p:spPr>
          <a:xfrm>
            <a:off x="3589047" y="1968727"/>
            <a:ext cx="1017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/>
              <a:t>Not required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79EC04-4776-C9D1-9E91-5F67467A028D}"/>
              </a:ext>
            </a:extLst>
          </p:cNvPr>
          <p:cNvSpPr txBox="1"/>
          <p:nvPr/>
        </p:nvSpPr>
        <p:spPr>
          <a:xfrm>
            <a:off x="2529493" y="118731"/>
            <a:ext cx="2334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The other end view is requested.</a:t>
            </a:r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20E0B8-F5FD-5F21-AD75-3A9544A6B0BB}"/>
              </a:ext>
            </a:extLst>
          </p:cNvPr>
          <p:cNvSpPr txBox="1"/>
          <p:nvPr/>
        </p:nvSpPr>
        <p:spPr>
          <a:xfrm>
            <a:off x="4863958" y="160056"/>
            <a:ext cx="38713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Take note that the layout is different now. Because first-angle projections are behind the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Take note of the hidden line.</a:t>
            </a:r>
            <a:endParaRPr lang="en-GB" sz="14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82B50A-C72A-81B3-444F-7CAE0D20E070}"/>
              </a:ext>
            </a:extLst>
          </p:cNvPr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50" name="Parallelogram 49">
            <a:extLst>
              <a:ext uri="{FF2B5EF4-FFF2-40B4-BE49-F238E27FC236}">
                <a16:creationId xmlns:a16="http://schemas.microsoft.com/office/drawing/2014/main" id="{ECEF2463-D5BF-241B-D6A0-2099DF4266C0}"/>
              </a:ext>
            </a:extLst>
          </p:cNvPr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1" name="Parallelogram 50">
            <a:extLst>
              <a:ext uri="{FF2B5EF4-FFF2-40B4-BE49-F238E27FC236}">
                <a16:creationId xmlns:a16="http://schemas.microsoft.com/office/drawing/2014/main" id="{492EA37E-D897-1837-C969-AACEAA9FA954}"/>
              </a:ext>
            </a:extLst>
          </p:cNvPr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2" name="Parallelogram 51">
            <a:extLst>
              <a:ext uri="{FF2B5EF4-FFF2-40B4-BE49-F238E27FC236}">
                <a16:creationId xmlns:a16="http://schemas.microsoft.com/office/drawing/2014/main" id="{F6BC4D06-3ED8-B3FE-0B96-C3AD0C3BEB6A}"/>
              </a:ext>
            </a:extLst>
          </p:cNvPr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6612680-854A-CCE1-CB2C-80D618CA68F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661088" y="2709561"/>
            <a:ext cx="1504077" cy="1649315"/>
          </a:xfrm>
          <a:prstGeom prst="rect">
            <a:avLst/>
          </a:prstGeom>
        </p:spPr>
      </p:pic>
      <p:sp>
        <p:nvSpPr>
          <p:cNvPr id="54" name="Parallelogram 53">
            <a:extLst>
              <a:ext uri="{FF2B5EF4-FFF2-40B4-BE49-F238E27FC236}">
                <a16:creationId xmlns:a16="http://schemas.microsoft.com/office/drawing/2014/main" id="{11FDED0F-642A-B3C6-3230-4BD0C2F0983F}"/>
              </a:ext>
            </a:extLst>
          </p:cNvPr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9062B84-3171-595B-ADC8-FF1FB62D768F}"/>
              </a:ext>
            </a:extLst>
          </p:cNvPr>
          <p:cNvCxnSpPr>
            <a:cxnSpLocks/>
          </p:cNvCxnSpPr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E14D8BE-5868-8420-D461-B086CC22694F}"/>
              </a:ext>
            </a:extLst>
          </p:cNvPr>
          <p:cNvCxnSpPr>
            <a:cxnSpLocks/>
          </p:cNvCxnSpPr>
          <p:nvPr/>
        </p:nvCxnSpPr>
        <p:spPr>
          <a:xfrm flipV="1">
            <a:off x="608626" y="4006324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FFF87D8-DD8F-F2FC-1A36-82913C9B8859}"/>
              </a:ext>
            </a:extLst>
          </p:cNvPr>
          <p:cNvSpPr txBox="1"/>
          <p:nvPr/>
        </p:nvSpPr>
        <p:spPr>
          <a:xfrm>
            <a:off x="192307" y="4283101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58" name="TextBox 2">
            <a:extLst>
              <a:ext uri="{FF2B5EF4-FFF2-40B4-BE49-F238E27FC236}">
                <a16:creationId xmlns:a16="http://schemas.microsoft.com/office/drawing/2014/main" id="{240DF65D-631F-5361-F6CC-D912F2384462}"/>
              </a:ext>
            </a:extLst>
          </p:cNvPr>
          <p:cNvSpPr txBox="1"/>
          <p:nvPr/>
        </p:nvSpPr>
        <p:spPr>
          <a:xfrm>
            <a:off x="183316" y="76537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3FECDDD-DE04-6990-FA83-AA72DBD7ED4E}"/>
              </a:ext>
            </a:extLst>
          </p:cNvPr>
          <p:cNvCxnSpPr>
            <a:cxnSpLocks/>
          </p:cNvCxnSpPr>
          <p:nvPr/>
        </p:nvCxnSpPr>
        <p:spPr>
          <a:xfrm flipV="1">
            <a:off x="560112" y="1849633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1289B6B-96DF-A1EB-8BED-F078E37586EB}"/>
              </a:ext>
            </a:extLst>
          </p:cNvPr>
          <p:cNvCxnSpPr>
            <a:cxnSpLocks/>
          </p:cNvCxnSpPr>
          <p:nvPr/>
        </p:nvCxnSpPr>
        <p:spPr>
          <a:xfrm>
            <a:off x="533471" y="993515"/>
            <a:ext cx="285799" cy="26150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5">
            <a:extLst>
              <a:ext uri="{FF2B5EF4-FFF2-40B4-BE49-F238E27FC236}">
                <a16:creationId xmlns:a16="http://schemas.microsoft.com/office/drawing/2014/main" id="{8B7A6F07-4896-65CE-2459-7B7D8DA269F2}"/>
              </a:ext>
            </a:extLst>
          </p:cNvPr>
          <p:cNvSpPr txBox="1"/>
          <p:nvPr/>
        </p:nvSpPr>
        <p:spPr>
          <a:xfrm>
            <a:off x="174237" y="1937949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0E1964B-D3A3-B56A-E6CD-646A0D86AE11}"/>
              </a:ext>
            </a:extLst>
          </p:cNvPr>
          <p:cNvGrpSpPr/>
          <p:nvPr/>
        </p:nvGrpSpPr>
        <p:grpSpPr>
          <a:xfrm>
            <a:off x="7132866" y="1706322"/>
            <a:ext cx="1048377" cy="989875"/>
            <a:chOff x="9637776" y="1965960"/>
            <a:chExt cx="1469811" cy="1387792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41B87C8-78A8-5A3B-D73C-BF92B4D00B8B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EA2A7CD-46F7-6A22-5024-F178CAA2FEB6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91BF10A-9173-3039-981D-28C89F0EAFA4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3E22ECD-35AE-2FE2-73D9-BD58BADFDA26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74FCED8-4B1D-A567-8662-F38FD7BEB7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53876F3-EC65-6712-84D2-957E2BF0583C}"/>
              </a:ext>
            </a:extLst>
          </p:cNvPr>
          <p:cNvGrpSpPr/>
          <p:nvPr/>
        </p:nvGrpSpPr>
        <p:grpSpPr>
          <a:xfrm rot="5400000">
            <a:off x="5379380" y="3647157"/>
            <a:ext cx="1007618" cy="941377"/>
            <a:chOff x="9690394" y="4430333"/>
            <a:chExt cx="1412668" cy="1319799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F0029C5-9430-D004-5EC0-D2F41D5EC627}"/>
                </a:ext>
              </a:extLst>
            </p:cNvPr>
            <p:cNvSpPr/>
            <p:nvPr/>
          </p:nvSpPr>
          <p:spPr>
            <a:xfrm>
              <a:off x="9690394" y="4430333"/>
              <a:ext cx="1412665" cy="13197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4672E36-9398-4427-61D4-4B09ECB8CA02}"/>
                </a:ext>
              </a:extLst>
            </p:cNvPr>
            <p:cNvSpPr/>
            <p:nvPr/>
          </p:nvSpPr>
          <p:spPr>
            <a:xfrm>
              <a:off x="10638652" y="4430337"/>
              <a:ext cx="464410" cy="13197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40D46FE-A53B-0C97-91C7-FE67A0384568}"/>
              </a:ext>
            </a:extLst>
          </p:cNvPr>
          <p:cNvGrpSpPr/>
          <p:nvPr/>
        </p:nvGrpSpPr>
        <p:grpSpPr>
          <a:xfrm>
            <a:off x="5411484" y="1676315"/>
            <a:ext cx="942396" cy="975606"/>
            <a:chOff x="6943810" y="1965960"/>
            <a:chExt cx="1321228" cy="136778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199982D-2D03-7D43-7AA5-47EF8F5D81C3}"/>
                </a:ext>
              </a:extLst>
            </p:cNvPr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D7D5EF4-3E15-AC69-E393-63ACFDBC8E2C}"/>
                </a:ext>
              </a:extLst>
            </p:cNvPr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27ADADA5-2D34-66FF-66B8-6BBD12221C32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/>
              <a:t>Variation 4</a:t>
            </a:r>
          </a:p>
        </p:txBody>
      </p:sp>
    </p:spTree>
    <p:extLst>
      <p:ext uri="{BB962C8B-B14F-4D97-AF65-F5344CB8AC3E}">
        <p14:creationId xmlns:p14="http://schemas.microsoft.com/office/powerpoint/2010/main" val="1021957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E32BB-8341-9A1A-A954-75135148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728C692A-05D9-BFB3-8EA6-9F28C7A60D7A}"/>
              </a:ext>
            </a:extLst>
          </p:cNvPr>
          <p:cNvSpPr/>
          <p:nvPr/>
        </p:nvSpPr>
        <p:spPr>
          <a:xfrm rot="16200000" flipV="1">
            <a:off x="1044313" y="2363057"/>
            <a:ext cx="2433876" cy="1617406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47469B5E-2392-D565-5BAA-EAB977D1BDB4}"/>
              </a:ext>
            </a:extLst>
          </p:cNvPr>
          <p:cNvSpPr/>
          <p:nvPr/>
        </p:nvSpPr>
        <p:spPr>
          <a:xfrm rot="16200000">
            <a:off x="-250537" y="2676409"/>
            <a:ext cx="2193467" cy="1222800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036A4A31-94E0-4815-E6AA-CD0D01424EFB}"/>
              </a:ext>
            </a:extLst>
          </p:cNvPr>
          <p:cNvSpPr/>
          <p:nvPr/>
        </p:nvSpPr>
        <p:spPr>
          <a:xfrm rot="9000000" flipV="1">
            <a:off x="369480" y="1461241"/>
            <a:ext cx="2573047" cy="1223764"/>
          </a:xfrm>
          <a:prstGeom prst="parallelogram">
            <a:avLst>
              <a:gd name="adj" fmla="val 58457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A96C8F1B-D890-494B-3A80-DEF5884867EF}"/>
              </a:ext>
            </a:extLst>
          </p:cNvPr>
          <p:cNvSpPr/>
          <p:nvPr/>
        </p:nvSpPr>
        <p:spPr>
          <a:xfrm rot="16200000">
            <a:off x="1367974" y="1758621"/>
            <a:ext cx="2193467" cy="1222800"/>
          </a:xfrm>
          <a:prstGeom prst="parallelogram">
            <a:avLst>
              <a:gd name="adj" fmla="val 56363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A2CDD-154E-A465-0C5C-BED12EF51B15}"/>
              </a:ext>
            </a:extLst>
          </p:cNvPr>
          <p:cNvSpPr txBox="1"/>
          <p:nvPr/>
        </p:nvSpPr>
        <p:spPr>
          <a:xfrm>
            <a:off x="148385" y="89790"/>
            <a:ext cx="45334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/>
              <a:t>Third-angle projection</a:t>
            </a:r>
            <a:r>
              <a:rPr lang="en-SG" sz="1200" u="sng"/>
              <a:t>:</a:t>
            </a:r>
          </a:p>
          <a:p>
            <a:endParaRPr lang="en-SG" sz="1200" u="sng"/>
          </a:p>
          <a:p>
            <a:r>
              <a:rPr lang="en-SG" sz="1200"/>
              <a:t>T = elevation / front</a:t>
            </a:r>
          </a:p>
          <a:p>
            <a:r>
              <a:rPr lang="en-SG" sz="1200"/>
              <a:t>S = end / side</a:t>
            </a:r>
          </a:p>
          <a:p>
            <a:r>
              <a:rPr lang="en-SG" sz="1200"/>
              <a:t>P = plan / top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9D9F5-2715-64BD-C989-AC2AFB0DA4E5}"/>
              </a:ext>
            </a:extLst>
          </p:cNvPr>
          <p:cNvSpPr txBox="1"/>
          <p:nvPr/>
        </p:nvSpPr>
        <p:spPr>
          <a:xfrm>
            <a:off x="2540560" y="4042552"/>
            <a:ext cx="314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6DE664-79D8-60B1-9F77-69F3AB9628C1}"/>
              </a:ext>
            </a:extLst>
          </p:cNvPr>
          <p:cNvCxnSpPr>
            <a:cxnSpLocks/>
          </p:cNvCxnSpPr>
          <p:nvPr/>
        </p:nvCxnSpPr>
        <p:spPr>
          <a:xfrm flipH="1" flipV="1">
            <a:off x="2127070" y="3673757"/>
            <a:ext cx="442264" cy="39013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22FC59-68EE-C242-C798-257E141565FC}"/>
              </a:ext>
            </a:extLst>
          </p:cNvPr>
          <p:cNvSpPr txBox="1"/>
          <p:nvPr/>
        </p:nvSpPr>
        <p:spPr>
          <a:xfrm>
            <a:off x="109852" y="4098413"/>
            <a:ext cx="558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S1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B66C57-6A23-93FB-9098-AC68AFE10473}"/>
              </a:ext>
            </a:extLst>
          </p:cNvPr>
          <p:cNvCxnSpPr>
            <a:cxnSpLocks/>
          </p:cNvCxnSpPr>
          <p:nvPr/>
        </p:nvCxnSpPr>
        <p:spPr>
          <a:xfrm>
            <a:off x="1453300" y="1471539"/>
            <a:ext cx="0" cy="58652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64A8A6D-A66D-DD8A-CAFA-42D0FBE949DC}"/>
              </a:ext>
            </a:extLst>
          </p:cNvPr>
          <p:cNvSpPr txBox="1"/>
          <p:nvPr/>
        </p:nvSpPr>
        <p:spPr>
          <a:xfrm>
            <a:off x="1340510" y="1099208"/>
            <a:ext cx="314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P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D887EB-643F-8F92-010F-27D0BEBB2004}"/>
              </a:ext>
            </a:extLst>
          </p:cNvPr>
          <p:cNvCxnSpPr>
            <a:cxnSpLocks/>
          </p:cNvCxnSpPr>
          <p:nvPr/>
        </p:nvCxnSpPr>
        <p:spPr>
          <a:xfrm>
            <a:off x="3502921" y="2754051"/>
            <a:ext cx="49358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E8986F-B54C-648B-70A2-7C6DA481818D}"/>
              </a:ext>
            </a:extLst>
          </p:cNvPr>
          <p:cNvCxnSpPr>
            <a:cxnSpLocks/>
          </p:cNvCxnSpPr>
          <p:nvPr/>
        </p:nvCxnSpPr>
        <p:spPr>
          <a:xfrm flipV="1">
            <a:off x="6956614" y="1079552"/>
            <a:ext cx="0" cy="312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EC01F69-8327-C258-CD54-9E35692508BC}"/>
              </a:ext>
            </a:extLst>
          </p:cNvPr>
          <p:cNvSpPr txBox="1"/>
          <p:nvPr/>
        </p:nvSpPr>
        <p:spPr>
          <a:xfrm>
            <a:off x="2176185" y="2030492"/>
            <a:ext cx="1022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32A782-BB8C-23F3-C266-3B219973F19B}"/>
              </a:ext>
            </a:extLst>
          </p:cNvPr>
          <p:cNvSpPr txBox="1"/>
          <p:nvPr/>
        </p:nvSpPr>
        <p:spPr>
          <a:xfrm>
            <a:off x="2697724" y="359126"/>
            <a:ext cx="60132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Unfold such that elevation view is adjacent to  / center of other 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Third-angle projections are </a:t>
            </a:r>
            <a:r>
              <a:rPr lang="en-SG" sz="1400">
                <a:highlight>
                  <a:srgbClr val="FFFF00"/>
                </a:highlight>
              </a:rPr>
              <a:t>in between </a:t>
            </a:r>
            <a:r>
              <a:rPr lang="en-SG" sz="1400"/>
              <a:t>the object and the viewer / </a:t>
            </a:r>
            <a:r>
              <a:rPr lang="en-SG" sz="1400">
                <a:highlight>
                  <a:srgbClr val="FFFF00"/>
                </a:highlight>
              </a:rPr>
              <a:t>in front </a:t>
            </a:r>
            <a:r>
              <a:rPr lang="en-SG" sz="1400"/>
              <a:t>of the object.</a:t>
            </a:r>
          </a:p>
        </p:txBody>
      </p:sp>
      <p:sp>
        <p:nvSpPr>
          <p:cNvPr id="16" name="Arrow: Curved Right 60">
            <a:extLst>
              <a:ext uri="{FF2B5EF4-FFF2-40B4-BE49-F238E27FC236}">
                <a16:creationId xmlns:a16="http://schemas.microsoft.com/office/drawing/2014/main" id="{A682A399-00D7-F70B-D029-7B028957842C}"/>
              </a:ext>
            </a:extLst>
          </p:cNvPr>
          <p:cNvSpPr/>
          <p:nvPr/>
        </p:nvSpPr>
        <p:spPr>
          <a:xfrm rot="16970471">
            <a:off x="1763959" y="1792013"/>
            <a:ext cx="166720" cy="370315"/>
          </a:xfrm>
          <a:prstGeom prst="curved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17" name="Arrow: Curved Right 61">
            <a:extLst>
              <a:ext uri="{FF2B5EF4-FFF2-40B4-BE49-F238E27FC236}">
                <a16:creationId xmlns:a16="http://schemas.microsoft.com/office/drawing/2014/main" id="{034D51FE-0DEE-1207-5F18-18AF5D68EAA1}"/>
              </a:ext>
            </a:extLst>
          </p:cNvPr>
          <p:cNvSpPr/>
          <p:nvPr/>
        </p:nvSpPr>
        <p:spPr>
          <a:xfrm rot="12042724" flipV="1">
            <a:off x="1184719" y="3000210"/>
            <a:ext cx="208918" cy="372484"/>
          </a:xfrm>
          <a:prstGeom prst="curved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9A3085-19F8-4C35-0B7D-2FE853B98A53}"/>
              </a:ext>
            </a:extLst>
          </p:cNvPr>
          <p:cNvSpPr txBox="1"/>
          <p:nvPr/>
        </p:nvSpPr>
        <p:spPr>
          <a:xfrm>
            <a:off x="899747" y="2051767"/>
            <a:ext cx="1022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CE556C-9271-C98D-784F-9E88BB29C975}"/>
              </a:ext>
            </a:extLst>
          </p:cNvPr>
          <p:cNvSpPr txBox="1"/>
          <p:nvPr/>
        </p:nvSpPr>
        <p:spPr>
          <a:xfrm>
            <a:off x="1664822" y="3034297"/>
            <a:ext cx="1022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F18EE2-2EA4-28DD-E400-031B1C600927}"/>
              </a:ext>
            </a:extLst>
          </p:cNvPr>
          <p:cNvSpPr txBox="1"/>
          <p:nvPr/>
        </p:nvSpPr>
        <p:spPr>
          <a:xfrm>
            <a:off x="859376" y="3611289"/>
            <a:ext cx="1022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341300-8A24-3C60-B077-8A9E8E8C23AB}"/>
              </a:ext>
            </a:extLst>
          </p:cNvPr>
          <p:cNvCxnSpPr>
            <a:cxnSpLocks/>
          </p:cNvCxnSpPr>
          <p:nvPr/>
        </p:nvCxnSpPr>
        <p:spPr>
          <a:xfrm flipV="1">
            <a:off x="223872" y="3707163"/>
            <a:ext cx="558277" cy="40827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268C632-0F4B-48F6-482C-5A3A2630B239}"/>
              </a:ext>
            </a:extLst>
          </p:cNvPr>
          <p:cNvCxnSpPr>
            <a:cxnSpLocks/>
          </p:cNvCxnSpPr>
          <p:nvPr/>
        </p:nvCxnSpPr>
        <p:spPr>
          <a:xfrm flipH="1">
            <a:off x="2370417" y="2317767"/>
            <a:ext cx="436811" cy="36709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02CC6F1-1A5C-77BC-A15D-5F16ED969325}"/>
              </a:ext>
            </a:extLst>
          </p:cNvPr>
          <p:cNvSpPr txBox="1"/>
          <p:nvPr/>
        </p:nvSpPr>
        <p:spPr>
          <a:xfrm>
            <a:off x="2699522" y="2372028"/>
            <a:ext cx="478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S2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912CC0-3DC5-FE30-5E61-06C27D433C16}"/>
              </a:ext>
            </a:extLst>
          </p:cNvPr>
          <p:cNvCxnSpPr>
            <a:cxnSpLocks/>
          </p:cNvCxnSpPr>
          <p:nvPr/>
        </p:nvCxnSpPr>
        <p:spPr>
          <a:xfrm flipV="1">
            <a:off x="4947646" y="1161506"/>
            <a:ext cx="0" cy="30466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F3235EC-DC74-96DE-F258-64A65AEEC554}"/>
              </a:ext>
            </a:extLst>
          </p:cNvPr>
          <p:cNvSpPr txBox="1"/>
          <p:nvPr/>
        </p:nvSpPr>
        <p:spPr>
          <a:xfrm>
            <a:off x="3310697" y="4138043"/>
            <a:ext cx="55212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Elevation is always on the vertical partition of the 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Plan is always on the horizontal partition of the 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Same as first-angle, even the locations of End 1 and End 2.</a:t>
            </a:r>
          </a:p>
        </p:txBody>
      </p:sp>
      <p:sp>
        <p:nvSpPr>
          <p:cNvPr id="34" name="Arrow: Curved Right 100">
            <a:extLst>
              <a:ext uri="{FF2B5EF4-FFF2-40B4-BE49-F238E27FC236}">
                <a16:creationId xmlns:a16="http://schemas.microsoft.com/office/drawing/2014/main" id="{8EDBBD16-5023-AF31-FC76-03AC8A66B3C2}"/>
              </a:ext>
            </a:extLst>
          </p:cNvPr>
          <p:cNvSpPr/>
          <p:nvPr/>
        </p:nvSpPr>
        <p:spPr>
          <a:xfrm rot="13634337" flipV="1">
            <a:off x="172215" y="2861320"/>
            <a:ext cx="166720" cy="314399"/>
          </a:xfrm>
          <a:prstGeom prst="curved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F54736-8E8C-9C95-04D7-D5C0CE351A3E}"/>
              </a:ext>
            </a:extLst>
          </p:cNvPr>
          <p:cNvSpPr txBox="1"/>
          <p:nvPr/>
        </p:nvSpPr>
        <p:spPr>
          <a:xfrm>
            <a:off x="5115052" y="2823545"/>
            <a:ext cx="162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Vertical partition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9330A7-3B4F-619B-4F72-340614185D70}"/>
              </a:ext>
            </a:extLst>
          </p:cNvPr>
          <p:cNvSpPr txBox="1"/>
          <p:nvPr/>
        </p:nvSpPr>
        <p:spPr>
          <a:xfrm>
            <a:off x="5332769" y="3281653"/>
            <a:ext cx="1178169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Elevation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52827B-458B-25CE-D4D5-8F95A30B9206}"/>
              </a:ext>
            </a:extLst>
          </p:cNvPr>
          <p:cNvSpPr txBox="1"/>
          <p:nvPr/>
        </p:nvSpPr>
        <p:spPr>
          <a:xfrm>
            <a:off x="5619515" y="1711694"/>
            <a:ext cx="61073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Plan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DCD730-96B2-6828-F774-EEE888F2E665}"/>
              </a:ext>
            </a:extLst>
          </p:cNvPr>
          <p:cNvSpPr txBox="1"/>
          <p:nvPr/>
        </p:nvSpPr>
        <p:spPr>
          <a:xfrm>
            <a:off x="3831516" y="3271672"/>
            <a:ext cx="670455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/>
              <a:t>End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1BB8C4-3D7A-31DB-06B7-64036F61726F}"/>
              </a:ext>
            </a:extLst>
          </p:cNvPr>
          <p:cNvSpPr txBox="1"/>
          <p:nvPr/>
        </p:nvSpPr>
        <p:spPr>
          <a:xfrm>
            <a:off x="7281646" y="3271672"/>
            <a:ext cx="67927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/>
              <a:t>End 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619BDF-B632-C9D5-063B-03FDCD94EC74}"/>
              </a:ext>
            </a:extLst>
          </p:cNvPr>
          <p:cNvSpPr txBox="1"/>
          <p:nvPr/>
        </p:nvSpPr>
        <p:spPr>
          <a:xfrm>
            <a:off x="7341103" y="2755132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Base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9913D1-DF54-ACD1-12A4-3C7090A9E712}"/>
              </a:ext>
            </a:extLst>
          </p:cNvPr>
          <p:cNvSpPr txBox="1"/>
          <p:nvPr/>
        </p:nvSpPr>
        <p:spPr>
          <a:xfrm>
            <a:off x="3880900" y="2755132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Lid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37CEA7-0197-3565-64B9-12F0430EFEBB}"/>
              </a:ext>
            </a:extLst>
          </p:cNvPr>
          <p:cNvSpPr txBox="1"/>
          <p:nvPr/>
        </p:nvSpPr>
        <p:spPr>
          <a:xfrm>
            <a:off x="5115057" y="2400126"/>
            <a:ext cx="1628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Horizontal partition </a:t>
            </a:r>
          </a:p>
        </p:txBody>
      </p:sp>
    </p:spTree>
    <p:extLst>
      <p:ext uri="{BB962C8B-B14F-4D97-AF65-F5344CB8AC3E}">
        <p14:creationId xmlns:p14="http://schemas.microsoft.com/office/powerpoint/2010/main" val="4266317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8DC3-43C3-6C22-7B07-C2DC77882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86D877-1128-619C-C870-36B9BDF0C1F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653190" y="389145"/>
            <a:ext cx="1462740" cy="16039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8714E4-4311-DDA1-76B7-D26B9CAF3BFF}"/>
              </a:ext>
            </a:extLst>
          </p:cNvPr>
          <p:cNvSpPr txBox="1"/>
          <p:nvPr/>
        </p:nvSpPr>
        <p:spPr>
          <a:xfrm>
            <a:off x="534077" y="2082176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5730D-1529-BE92-1055-F760826A3354}"/>
              </a:ext>
            </a:extLst>
          </p:cNvPr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324DBE-36C6-C375-927D-9293A6C5655B}"/>
              </a:ext>
            </a:extLst>
          </p:cNvPr>
          <p:cNvCxnSpPr>
            <a:cxnSpLocks/>
          </p:cNvCxnSpPr>
          <p:nvPr/>
        </p:nvCxnSpPr>
        <p:spPr>
          <a:xfrm flipV="1">
            <a:off x="838009" y="1886617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70793E-6E35-1831-4E83-6FF00456557C}"/>
              </a:ext>
            </a:extLst>
          </p:cNvPr>
          <p:cNvSpPr txBox="1"/>
          <p:nvPr/>
        </p:nvSpPr>
        <p:spPr>
          <a:xfrm>
            <a:off x="2282067" y="125770"/>
            <a:ext cx="28318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Notice that P may not be given, because plan view is always from above.</a:t>
            </a:r>
            <a:endParaRPr lang="en-GB" sz="1400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8BCA6470-7599-91C6-0FC0-69A428D88401}"/>
              </a:ext>
            </a:extLst>
          </p:cNvPr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BD6755-FC88-D2A7-493E-A540B7B5897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73772" y="2819127"/>
            <a:ext cx="1462740" cy="1603987"/>
          </a:xfrm>
          <a:prstGeom prst="rect">
            <a:avLst/>
          </a:prstGeom>
        </p:spPr>
      </p:pic>
      <p:sp>
        <p:nvSpPr>
          <p:cNvPr id="10" name="Parallelogram 9">
            <a:extLst>
              <a:ext uri="{FF2B5EF4-FFF2-40B4-BE49-F238E27FC236}">
                <a16:creationId xmlns:a16="http://schemas.microsoft.com/office/drawing/2014/main" id="{FB5BADAD-768A-98CA-74B3-1FDAE13B8C29}"/>
              </a:ext>
            </a:extLst>
          </p:cNvPr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C60924E-0094-1BAC-1AB2-A38B0C130478}"/>
              </a:ext>
            </a:extLst>
          </p:cNvPr>
          <p:cNvCxnSpPr>
            <a:cxnSpLocks/>
          </p:cNvCxnSpPr>
          <p:nvPr/>
        </p:nvCxnSpPr>
        <p:spPr>
          <a:xfrm flipV="1">
            <a:off x="773772" y="3985154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B1A83CF-30FB-52CF-E458-0E4C2E873427}"/>
              </a:ext>
            </a:extLst>
          </p:cNvPr>
          <p:cNvSpPr txBox="1"/>
          <p:nvPr/>
        </p:nvSpPr>
        <p:spPr>
          <a:xfrm>
            <a:off x="317875" y="4349421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9F07A7-4B45-98D7-BE7B-8E84AC5159D3}"/>
              </a:ext>
            </a:extLst>
          </p:cNvPr>
          <p:cNvCxnSpPr>
            <a:cxnSpLocks/>
          </p:cNvCxnSpPr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EDBA25-7DA5-F619-13AC-9EDFB4584F04}"/>
              </a:ext>
            </a:extLst>
          </p:cNvPr>
          <p:cNvCxnSpPr>
            <a:cxnSpLocks/>
          </p:cNvCxnSpPr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4735004-8886-8388-E706-9DFE0160EB3A}"/>
              </a:ext>
            </a:extLst>
          </p:cNvPr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C45E92-EA9C-6E3F-C860-87BAE26D96C9}"/>
              </a:ext>
            </a:extLst>
          </p:cNvPr>
          <p:cNvCxnSpPr>
            <a:cxnSpLocks/>
          </p:cNvCxnSpPr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2C90FA2-A601-A5C9-5540-0822EBCF9EE1}"/>
              </a:ext>
            </a:extLst>
          </p:cNvPr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B2F91B-9FAC-A8B5-7A8A-FFBDECC51B3B}"/>
              </a:ext>
            </a:extLst>
          </p:cNvPr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highlight>
                  <a:srgbClr val="FFFF00"/>
                </a:highlight>
              </a:rPr>
              <a:t>Lid</a:t>
            </a:r>
            <a:r>
              <a:rPr lang="en-SG" sz="1200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B5FE27-4D6F-22CC-7241-7FF557CC6CD6}"/>
              </a:ext>
            </a:extLst>
          </p:cNvPr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C8A0EB-5F6D-0C11-1D6A-881E0D8B355D}"/>
              </a:ext>
            </a:extLst>
          </p:cNvPr>
          <p:cNvGrpSpPr/>
          <p:nvPr/>
        </p:nvGrpSpPr>
        <p:grpSpPr>
          <a:xfrm>
            <a:off x="3735458" y="3271326"/>
            <a:ext cx="1019564" cy="962670"/>
            <a:chOff x="9637776" y="1965960"/>
            <a:chExt cx="1469811" cy="1387792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CFF08B-57D5-D5A5-B248-302858B874C1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6103DB3-117F-8B67-3154-ED2369EB66B0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5D3BF98-CFAC-652A-7FCF-3DBE4C3773BF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7A13352-2406-E7A2-DC96-9F5931FAE3FB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DB18F23-18AD-6C3F-A7D5-8DC91905EC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F9958A7-CF77-7AE0-059C-5782C3C94BB2}"/>
              </a:ext>
            </a:extLst>
          </p:cNvPr>
          <p:cNvGrpSpPr/>
          <p:nvPr/>
        </p:nvGrpSpPr>
        <p:grpSpPr>
          <a:xfrm>
            <a:off x="5506122" y="3301742"/>
            <a:ext cx="948141" cy="948793"/>
            <a:chOff x="6898191" y="1965960"/>
            <a:chExt cx="1366847" cy="136778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F416088-0849-98F3-2FEC-741113BB79F1}"/>
                </a:ext>
              </a:extLst>
            </p:cNvPr>
            <p:cNvSpPr/>
            <p:nvPr/>
          </p:nvSpPr>
          <p:spPr>
            <a:xfrm>
              <a:off x="6898195" y="1965960"/>
              <a:ext cx="1366843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5E0C2A1-EB08-61D2-CFB2-E4D9BD1D6F23}"/>
                </a:ext>
              </a:extLst>
            </p:cNvPr>
            <p:cNvSpPr/>
            <p:nvPr/>
          </p:nvSpPr>
          <p:spPr>
            <a:xfrm>
              <a:off x="6898191" y="3088262"/>
              <a:ext cx="1366847" cy="2454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1E419E3-A1C4-5994-495D-B7A5187F05E0}"/>
              </a:ext>
            </a:extLst>
          </p:cNvPr>
          <p:cNvSpPr txBox="1"/>
          <p:nvPr/>
        </p:nvSpPr>
        <p:spPr>
          <a:xfrm>
            <a:off x="7227042" y="3598284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A86DC3-C13C-5ABF-9AFB-1C4DA02F7790}"/>
              </a:ext>
            </a:extLst>
          </p:cNvPr>
          <p:cNvCxnSpPr>
            <a:cxnSpLocks/>
          </p:cNvCxnSpPr>
          <p:nvPr/>
        </p:nvCxnSpPr>
        <p:spPr>
          <a:xfrm flipH="1" flipV="1">
            <a:off x="1784860" y="179970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623FF03-C883-E8F4-B5D2-9C026DB87791}"/>
              </a:ext>
            </a:extLst>
          </p:cNvPr>
          <p:cNvSpPr txBox="1"/>
          <p:nvPr/>
        </p:nvSpPr>
        <p:spPr>
          <a:xfrm>
            <a:off x="2063685" y="190557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B3C452B2-80ED-A7BF-81E8-2B37BBE7B4EA}"/>
              </a:ext>
            </a:extLst>
          </p:cNvPr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DBD83987-C859-AB88-DF99-3438F545A279}"/>
              </a:ext>
            </a:extLst>
          </p:cNvPr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E43A81-7303-C48B-767F-F3EDD5C57170}"/>
              </a:ext>
            </a:extLst>
          </p:cNvPr>
          <p:cNvSpPr txBox="1"/>
          <p:nvPr/>
        </p:nvSpPr>
        <p:spPr>
          <a:xfrm>
            <a:off x="5457558" y="86899"/>
            <a:ext cx="2831829" cy="512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Remember, projections are in front of the object for the third angle.</a:t>
            </a:r>
            <a:endParaRPr lang="en-GB" sz="140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9B52FD7-E60A-5D69-FCE4-14615781FFF7}"/>
              </a:ext>
            </a:extLst>
          </p:cNvPr>
          <p:cNvCxnSpPr>
            <a:cxnSpLocks/>
          </p:cNvCxnSpPr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84977E7-9E5F-85C4-53B2-866B43E9C0B2}"/>
              </a:ext>
            </a:extLst>
          </p:cNvPr>
          <p:cNvGrpSpPr/>
          <p:nvPr/>
        </p:nvGrpSpPr>
        <p:grpSpPr>
          <a:xfrm rot="5400000">
            <a:off x="5439245" y="1403878"/>
            <a:ext cx="1082547" cy="948793"/>
            <a:chOff x="9690394" y="4382344"/>
            <a:chExt cx="1412666" cy="136778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021E90B-97F4-2CF6-12F0-672376CBDFC1}"/>
                </a:ext>
              </a:extLst>
            </p:cNvPr>
            <p:cNvSpPr/>
            <p:nvPr/>
          </p:nvSpPr>
          <p:spPr>
            <a:xfrm>
              <a:off x="9690394" y="4382344"/>
              <a:ext cx="1412665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A14A96B-AFFE-B1B9-A07D-8321683E6C8C}"/>
                </a:ext>
              </a:extLst>
            </p:cNvPr>
            <p:cNvSpPr/>
            <p:nvPr/>
          </p:nvSpPr>
          <p:spPr>
            <a:xfrm>
              <a:off x="10539114" y="4382344"/>
              <a:ext cx="56394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84360201-FD13-5EA0-D204-7649D0658B26}"/>
              </a:ext>
            </a:extLst>
          </p:cNvPr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/>
              <a:t>Third-angle projection</a:t>
            </a:r>
            <a:r>
              <a:rPr lang="en-SG" sz="1200" u="sng"/>
              <a:t>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D7A075-4FD6-9026-5E79-762E822F2089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/>
              <a:t>Variation 1</a:t>
            </a:r>
          </a:p>
        </p:txBody>
      </p:sp>
    </p:spTree>
    <p:extLst>
      <p:ext uri="{BB962C8B-B14F-4D97-AF65-F5344CB8AC3E}">
        <p14:creationId xmlns:p14="http://schemas.microsoft.com/office/powerpoint/2010/main" val="3400981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E609A-7CAD-F5DB-FC77-D5642A09E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01850694-2990-DECF-FF21-D12D1AF704A1}"/>
              </a:ext>
            </a:extLst>
          </p:cNvPr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A87F6686-E6EE-2DE1-5F58-03601E94F68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7363" y="2587036"/>
            <a:ext cx="1492523" cy="1635691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8DD92FC-3E01-9E3A-0DC5-2070BF1BF84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042" y="446485"/>
            <a:ext cx="1492523" cy="1635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8E6F0B-CFBA-018F-4653-D3F5A7BE9CE4}"/>
              </a:ext>
            </a:extLst>
          </p:cNvPr>
          <p:cNvSpPr txBox="1"/>
          <p:nvPr/>
        </p:nvSpPr>
        <p:spPr>
          <a:xfrm>
            <a:off x="534077" y="2082176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36AA4-7C08-3286-058E-1D9042A7C7BE}"/>
              </a:ext>
            </a:extLst>
          </p:cNvPr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64B4255-7364-1A4D-38E7-AE4F98BBBBF0}"/>
              </a:ext>
            </a:extLst>
          </p:cNvPr>
          <p:cNvCxnSpPr>
            <a:cxnSpLocks/>
          </p:cNvCxnSpPr>
          <p:nvPr/>
        </p:nvCxnSpPr>
        <p:spPr>
          <a:xfrm flipV="1">
            <a:off x="838009" y="1886617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rallelogram 8">
            <a:extLst>
              <a:ext uri="{FF2B5EF4-FFF2-40B4-BE49-F238E27FC236}">
                <a16:creationId xmlns:a16="http://schemas.microsoft.com/office/drawing/2014/main" id="{B346E814-9B76-F8E8-4182-1009C8A62BA0}"/>
              </a:ext>
            </a:extLst>
          </p:cNvPr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17CEBB-6EF7-4B2F-97DC-0F4ECD1D6A09}"/>
              </a:ext>
            </a:extLst>
          </p:cNvPr>
          <p:cNvCxnSpPr>
            <a:cxnSpLocks/>
          </p:cNvCxnSpPr>
          <p:nvPr/>
        </p:nvCxnSpPr>
        <p:spPr>
          <a:xfrm flipV="1">
            <a:off x="773772" y="3985154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8C517B6-E1D5-8C00-B608-63F8FC093395}"/>
              </a:ext>
            </a:extLst>
          </p:cNvPr>
          <p:cNvSpPr txBox="1"/>
          <p:nvPr/>
        </p:nvSpPr>
        <p:spPr>
          <a:xfrm>
            <a:off x="317875" y="4349421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F7AA7E-4289-F6EB-AE5E-4068EEE8FE26}"/>
              </a:ext>
            </a:extLst>
          </p:cNvPr>
          <p:cNvCxnSpPr>
            <a:cxnSpLocks/>
          </p:cNvCxnSpPr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27FA18-FED3-2DF6-6AD5-E10C80A3EB92}"/>
              </a:ext>
            </a:extLst>
          </p:cNvPr>
          <p:cNvCxnSpPr>
            <a:cxnSpLocks/>
          </p:cNvCxnSpPr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6D89A5B-54CB-CAA5-893E-326E2575464D}"/>
              </a:ext>
            </a:extLst>
          </p:cNvPr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2F83534-74C1-3119-8491-70E61D8EDB90}"/>
              </a:ext>
            </a:extLst>
          </p:cNvPr>
          <p:cNvCxnSpPr>
            <a:cxnSpLocks/>
          </p:cNvCxnSpPr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DFB3B27-A076-C402-DC7E-F18FF2E2C620}"/>
              </a:ext>
            </a:extLst>
          </p:cNvPr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C545C7-1DAA-BB08-3E7B-B46488D049A7}"/>
              </a:ext>
            </a:extLst>
          </p:cNvPr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highlight>
                  <a:srgbClr val="FFFF00"/>
                </a:highlight>
              </a:rPr>
              <a:t>Lid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6F75F4-A71C-2E97-DF85-5459858727D1}"/>
              </a:ext>
            </a:extLst>
          </p:cNvPr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2A8D3D-F640-F118-F672-524192B2DE8C}"/>
              </a:ext>
            </a:extLst>
          </p:cNvPr>
          <p:cNvSpPr txBox="1"/>
          <p:nvPr/>
        </p:nvSpPr>
        <p:spPr>
          <a:xfrm>
            <a:off x="7227042" y="3598284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C890B6A-E7FD-E23B-CAD8-496CCE42DC2E}"/>
              </a:ext>
            </a:extLst>
          </p:cNvPr>
          <p:cNvCxnSpPr>
            <a:cxnSpLocks/>
          </p:cNvCxnSpPr>
          <p:nvPr/>
        </p:nvCxnSpPr>
        <p:spPr>
          <a:xfrm flipH="1" flipV="1">
            <a:off x="1784860" y="179970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959C589-FC1E-72A3-5A8C-7699717C868E}"/>
              </a:ext>
            </a:extLst>
          </p:cNvPr>
          <p:cNvSpPr txBox="1"/>
          <p:nvPr/>
        </p:nvSpPr>
        <p:spPr>
          <a:xfrm>
            <a:off x="2063685" y="190557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0F5477D6-04FF-684C-A90B-ADF7340A15C3}"/>
              </a:ext>
            </a:extLst>
          </p:cNvPr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7DA300DA-FB9C-B21B-8F3F-A7EF5C043705}"/>
              </a:ext>
            </a:extLst>
          </p:cNvPr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6EBF511-715A-4B17-D460-E88EDBF06C02}"/>
              </a:ext>
            </a:extLst>
          </p:cNvPr>
          <p:cNvCxnSpPr>
            <a:cxnSpLocks/>
          </p:cNvCxnSpPr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57B7776-5622-CC0E-06FA-BA5BF25415B0}"/>
              </a:ext>
            </a:extLst>
          </p:cNvPr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/>
              <a:t>Third-angle projection</a:t>
            </a:r>
            <a:r>
              <a:rPr lang="en-SG" sz="1200" u="sng"/>
              <a:t>: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2B6E04-CADF-07C4-29B7-C33600E9F0D2}"/>
              </a:ext>
            </a:extLst>
          </p:cNvPr>
          <p:cNvSpPr txBox="1"/>
          <p:nvPr/>
        </p:nvSpPr>
        <p:spPr>
          <a:xfrm>
            <a:off x="2452504" y="279360"/>
            <a:ext cx="3651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The object is rotated.</a:t>
            </a:r>
            <a:endParaRPr lang="en-GB" sz="14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4312D36-D83E-E595-B826-05422384D2CE}"/>
              </a:ext>
            </a:extLst>
          </p:cNvPr>
          <p:cNvSpPr txBox="1"/>
          <p:nvPr/>
        </p:nvSpPr>
        <p:spPr>
          <a:xfrm>
            <a:off x="5362648" y="191095"/>
            <a:ext cx="33332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The layout stays the same because the object is simply rotated.</a:t>
            </a:r>
            <a:endParaRPr lang="en-GB" sz="140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F51EE07-7928-724E-B4DF-F80154CDBDDC}"/>
              </a:ext>
            </a:extLst>
          </p:cNvPr>
          <p:cNvGrpSpPr/>
          <p:nvPr/>
        </p:nvGrpSpPr>
        <p:grpSpPr>
          <a:xfrm>
            <a:off x="3606839" y="3300891"/>
            <a:ext cx="1049106" cy="1086076"/>
            <a:chOff x="6943810" y="1965960"/>
            <a:chExt cx="1321228" cy="1367788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3C598B7-A744-85E4-7E69-E514AE486CFB}"/>
                </a:ext>
              </a:extLst>
            </p:cNvPr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C4FB0F2-920B-6E12-E8DF-9B94930E2D11}"/>
                </a:ext>
              </a:extLst>
            </p:cNvPr>
            <p:cNvSpPr/>
            <p:nvPr/>
          </p:nvSpPr>
          <p:spPr>
            <a:xfrm>
              <a:off x="6944524" y="3091896"/>
              <a:ext cx="1320514" cy="2418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D594749-3792-570A-1672-CB66D2A9C993}"/>
              </a:ext>
            </a:extLst>
          </p:cNvPr>
          <p:cNvGrpSpPr/>
          <p:nvPr/>
        </p:nvGrpSpPr>
        <p:grpSpPr>
          <a:xfrm flipH="1">
            <a:off x="5321885" y="3253429"/>
            <a:ext cx="1180612" cy="1101960"/>
            <a:chOff x="9637776" y="1965960"/>
            <a:chExt cx="1469811" cy="1387792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BC2D1AB-2069-BCB6-3F1F-5A98B87EBC35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B755EB7-5A1A-EBAE-F9CC-9ECFEDE30B07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0B53FC6-50DD-E0E6-1B07-9268514E5CA1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C260BFE-EA15-ACCE-5692-3786C9BEE3CC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6416C9A-2486-F237-DB13-2D093470AD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F200A92-3B3D-850D-C92D-7F7412BA698C}"/>
              </a:ext>
            </a:extLst>
          </p:cNvPr>
          <p:cNvGrpSpPr/>
          <p:nvPr/>
        </p:nvGrpSpPr>
        <p:grpSpPr>
          <a:xfrm rot="10800000">
            <a:off x="5321973" y="1183779"/>
            <a:ext cx="1180521" cy="1086077"/>
            <a:chOff x="9757270" y="4382345"/>
            <a:chExt cx="1345791" cy="1367788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2F9B78E-E117-70EA-BE0A-ED1DA25ACC9B}"/>
                </a:ext>
              </a:extLst>
            </p:cNvPr>
            <p:cNvSpPr/>
            <p:nvPr/>
          </p:nvSpPr>
          <p:spPr>
            <a:xfrm>
              <a:off x="9757270" y="4382345"/>
              <a:ext cx="134578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2B820B3-A2AF-3CF8-6437-0ACEC500BBBB}"/>
                </a:ext>
              </a:extLst>
            </p:cNvPr>
            <p:cNvSpPr/>
            <p:nvPr/>
          </p:nvSpPr>
          <p:spPr>
            <a:xfrm>
              <a:off x="10494103" y="4382345"/>
              <a:ext cx="608958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C11A0D9C-80AD-B3C3-34A1-4A7CA1560EA9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/>
              <a:t>Variation 2</a:t>
            </a:r>
          </a:p>
        </p:txBody>
      </p:sp>
    </p:spTree>
    <p:extLst>
      <p:ext uri="{BB962C8B-B14F-4D97-AF65-F5344CB8AC3E}">
        <p14:creationId xmlns:p14="http://schemas.microsoft.com/office/powerpoint/2010/main" val="1734273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9B174-5EE4-7A0D-4087-41A0D4D26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2FDFD078-24D5-0A7A-21C4-FCDCE838297B}"/>
              </a:ext>
            </a:extLst>
          </p:cNvPr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D2540E-DDDE-4DAC-0484-D638982CCFA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7363" y="2587036"/>
            <a:ext cx="1492523" cy="16356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465A8E-CB6F-1EB1-1A4A-B3BE1CCB7CD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042" y="446485"/>
            <a:ext cx="1492523" cy="1635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55E23F-2E25-4699-B2BB-29B0CAF3BCE2}"/>
              </a:ext>
            </a:extLst>
          </p:cNvPr>
          <p:cNvSpPr txBox="1"/>
          <p:nvPr/>
        </p:nvSpPr>
        <p:spPr>
          <a:xfrm>
            <a:off x="2521985" y="771050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1E1ED-58BB-A998-A4FC-8C6F4F7EAA6B}"/>
              </a:ext>
            </a:extLst>
          </p:cNvPr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2ED28C-02C2-7726-7D4F-8EFF8EBDF1CC}"/>
              </a:ext>
            </a:extLst>
          </p:cNvPr>
          <p:cNvCxnSpPr>
            <a:cxnSpLocks/>
          </p:cNvCxnSpPr>
          <p:nvPr/>
        </p:nvCxnSpPr>
        <p:spPr>
          <a:xfrm flipH="1">
            <a:off x="2118079" y="831635"/>
            <a:ext cx="334425" cy="2811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arallelogram 7">
            <a:extLst>
              <a:ext uri="{FF2B5EF4-FFF2-40B4-BE49-F238E27FC236}">
                <a16:creationId xmlns:a16="http://schemas.microsoft.com/office/drawing/2014/main" id="{9E4D787E-9D79-7442-3C04-42B8B1E95D0D}"/>
              </a:ext>
            </a:extLst>
          </p:cNvPr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65B157-3829-D182-899C-43EBE5D709DD}"/>
              </a:ext>
            </a:extLst>
          </p:cNvPr>
          <p:cNvCxnSpPr>
            <a:cxnSpLocks/>
          </p:cNvCxnSpPr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15E675-16E3-7F82-8EBE-AE3AD6658D47}"/>
              </a:ext>
            </a:extLst>
          </p:cNvPr>
          <p:cNvCxnSpPr>
            <a:cxnSpLocks/>
          </p:cNvCxnSpPr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2059B4B-36B7-CF1A-39A5-F21FA8100953}"/>
              </a:ext>
            </a:extLst>
          </p:cNvPr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44118F-4990-D2F1-7630-41ECCA0C7C67}"/>
              </a:ext>
            </a:extLst>
          </p:cNvPr>
          <p:cNvCxnSpPr>
            <a:cxnSpLocks/>
          </p:cNvCxnSpPr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EB82910-07D3-2FE8-D9E4-7F7AE2E28DE7}"/>
              </a:ext>
            </a:extLst>
          </p:cNvPr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highlight>
                  <a:srgbClr val="FFFF00"/>
                </a:highlight>
              </a:rPr>
              <a:t>Base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C7820E-BC2C-A87E-61ED-DA3DEBAFFEF1}"/>
              </a:ext>
            </a:extLst>
          </p:cNvPr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B2E26E-37FE-38FE-028D-685AE9A2D0DE}"/>
              </a:ext>
            </a:extLst>
          </p:cNvPr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81C758-6775-8C6D-BE1D-3B63C5A5E1C0}"/>
              </a:ext>
            </a:extLst>
          </p:cNvPr>
          <p:cNvSpPr txBox="1"/>
          <p:nvPr/>
        </p:nvSpPr>
        <p:spPr>
          <a:xfrm>
            <a:off x="3663354" y="3858296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BF7C57-0D14-AA95-3DAA-697B17B82C8E}"/>
              </a:ext>
            </a:extLst>
          </p:cNvPr>
          <p:cNvCxnSpPr>
            <a:cxnSpLocks/>
          </p:cNvCxnSpPr>
          <p:nvPr/>
        </p:nvCxnSpPr>
        <p:spPr>
          <a:xfrm flipH="1" flipV="1">
            <a:off x="1784860" y="179970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FE863E6-6B3C-183D-14A2-D81BF7EF5C9E}"/>
              </a:ext>
            </a:extLst>
          </p:cNvPr>
          <p:cNvSpPr txBox="1"/>
          <p:nvPr/>
        </p:nvSpPr>
        <p:spPr>
          <a:xfrm>
            <a:off x="2063685" y="190557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D03918C3-EC4D-BCA6-15DE-17C7F010BC94}"/>
              </a:ext>
            </a:extLst>
          </p:cNvPr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0BF6BAF4-1567-E48B-BE91-F98273EB9149}"/>
              </a:ext>
            </a:extLst>
          </p:cNvPr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59CD1E-F76A-A920-6D9B-9E269D1CFD87}"/>
              </a:ext>
            </a:extLst>
          </p:cNvPr>
          <p:cNvCxnSpPr>
            <a:cxnSpLocks/>
          </p:cNvCxnSpPr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52F1747-C09C-AA4A-29C5-FD65B3C24701}"/>
              </a:ext>
            </a:extLst>
          </p:cNvPr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/>
              <a:t>Third-angle projection</a:t>
            </a:r>
            <a:r>
              <a:rPr lang="en-SG" sz="1200" u="sng"/>
              <a:t>: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1B60FD1-3476-B6C2-1A14-6CA8714825BA}"/>
              </a:ext>
            </a:extLst>
          </p:cNvPr>
          <p:cNvGrpSpPr/>
          <p:nvPr/>
        </p:nvGrpSpPr>
        <p:grpSpPr>
          <a:xfrm flipH="1">
            <a:off x="5321885" y="3253429"/>
            <a:ext cx="1180612" cy="1101960"/>
            <a:chOff x="9637776" y="1965960"/>
            <a:chExt cx="1469811" cy="1387792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3C35D96-0D12-2215-858F-F38EA956D7A8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9437565-5F1E-7E3B-A046-C8E17D76E745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D157500-A7FB-A468-CC12-BBECA536EAA7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27E3FA0-52A8-4BC2-F421-4FEC2A8C807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431806C-DDA3-6081-D83D-CEBEC32342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6D82BA5-DE0D-55E6-E8DA-670F3FFC5E40}"/>
              </a:ext>
            </a:extLst>
          </p:cNvPr>
          <p:cNvGrpSpPr/>
          <p:nvPr/>
        </p:nvGrpSpPr>
        <p:grpSpPr>
          <a:xfrm rot="10800000">
            <a:off x="5321973" y="1183779"/>
            <a:ext cx="1180521" cy="1086077"/>
            <a:chOff x="9757270" y="4382345"/>
            <a:chExt cx="1345791" cy="136778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5390CA3-5A30-79D0-3C73-CFD30F60B76B}"/>
                </a:ext>
              </a:extLst>
            </p:cNvPr>
            <p:cNvSpPr/>
            <p:nvPr/>
          </p:nvSpPr>
          <p:spPr>
            <a:xfrm>
              <a:off x="9757270" y="4382345"/>
              <a:ext cx="134578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48D292C-E7ED-166C-F967-3FFD581996CE}"/>
                </a:ext>
              </a:extLst>
            </p:cNvPr>
            <p:cNvSpPr/>
            <p:nvPr/>
          </p:nvSpPr>
          <p:spPr>
            <a:xfrm>
              <a:off x="10494103" y="4382345"/>
              <a:ext cx="608958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BC022F8-9975-BA37-BE27-06FCD7207D35}"/>
              </a:ext>
            </a:extLst>
          </p:cNvPr>
          <p:cNvSpPr txBox="1"/>
          <p:nvPr/>
        </p:nvSpPr>
        <p:spPr>
          <a:xfrm>
            <a:off x="2315769" y="1327032"/>
            <a:ext cx="18548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The other end view is requested.</a:t>
            </a:r>
            <a:endParaRPr lang="en-GB" sz="14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65811E-6E1E-2433-8624-9E1E2653CE25}"/>
              </a:ext>
            </a:extLst>
          </p:cNvPr>
          <p:cNvSpPr txBox="1"/>
          <p:nvPr/>
        </p:nvSpPr>
        <p:spPr>
          <a:xfrm>
            <a:off x="4099305" y="190434"/>
            <a:ext cx="4660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Take note that the layout is different now. Third-angle projections are in front of the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Take note of the hidden line.</a:t>
            </a:r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049876-9464-0B36-B868-CAB69CDC25FB}"/>
              </a:ext>
            </a:extLst>
          </p:cNvPr>
          <p:cNvSpPr txBox="1"/>
          <p:nvPr/>
        </p:nvSpPr>
        <p:spPr>
          <a:xfrm>
            <a:off x="2654739" y="2556624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B813F9F-9454-E04F-D246-E980A90DBCAB}"/>
              </a:ext>
            </a:extLst>
          </p:cNvPr>
          <p:cNvCxnSpPr>
            <a:cxnSpLocks/>
          </p:cNvCxnSpPr>
          <p:nvPr/>
        </p:nvCxnSpPr>
        <p:spPr>
          <a:xfrm flipH="1">
            <a:off x="2250833" y="2617209"/>
            <a:ext cx="334425" cy="2811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1D779F2-6344-0B9C-0E06-4E4A37E059E4}"/>
              </a:ext>
            </a:extLst>
          </p:cNvPr>
          <p:cNvGrpSpPr/>
          <p:nvPr/>
        </p:nvGrpSpPr>
        <p:grpSpPr>
          <a:xfrm>
            <a:off x="7307496" y="3265952"/>
            <a:ext cx="942441" cy="1101961"/>
            <a:chOff x="6943810" y="1788885"/>
            <a:chExt cx="1321228" cy="1544863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8DFBBB0-A886-94FF-AE1E-90A51D2F8E21}"/>
                </a:ext>
              </a:extLst>
            </p:cNvPr>
            <p:cNvSpPr/>
            <p:nvPr/>
          </p:nvSpPr>
          <p:spPr>
            <a:xfrm>
              <a:off x="6943810" y="1788885"/>
              <a:ext cx="1321227" cy="15448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2952B4B-1AD3-70DC-E3DD-5C55A2DA24EF}"/>
                </a:ext>
              </a:extLst>
            </p:cNvPr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615F54EA-4F87-B6A5-E842-929CC9CD6402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/>
              <a:t>Variation 3</a:t>
            </a:r>
          </a:p>
        </p:txBody>
      </p:sp>
    </p:spTree>
    <p:extLst>
      <p:ext uri="{BB962C8B-B14F-4D97-AF65-F5344CB8AC3E}">
        <p14:creationId xmlns:p14="http://schemas.microsoft.com/office/powerpoint/2010/main" val="693852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926EF-5EEC-4521-9297-451CE93A5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439DD879-7A47-E8C4-0A7C-BC482113916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5893" y="479480"/>
            <a:ext cx="1492523" cy="1635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65B85F-9E48-0788-7BFC-6980B2C82051}"/>
              </a:ext>
            </a:extLst>
          </p:cNvPr>
          <p:cNvSpPr txBox="1"/>
          <p:nvPr/>
        </p:nvSpPr>
        <p:spPr>
          <a:xfrm>
            <a:off x="243411" y="559008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066B68-1AD0-9D93-7710-5A324068C129}"/>
              </a:ext>
            </a:extLst>
          </p:cNvPr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0C57D08-DCA2-3D9E-B8E3-F3E95378DD39}"/>
              </a:ext>
            </a:extLst>
          </p:cNvPr>
          <p:cNvCxnSpPr>
            <a:cxnSpLocks/>
          </p:cNvCxnSpPr>
          <p:nvPr/>
        </p:nvCxnSpPr>
        <p:spPr>
          <a:xfrm flipV="1">
            <a:off x="700150" y="1872240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arallelogram 6">
            <a:extLst>
              <a:ext uri="{FF2B5EF4-FFF2-40B4-BE49-F238E27FC236}">
                <a16:creationId xmlns:a16="http://schemas.microsoft.com/office/drawing/2014/main" id="{4C07D201-D172-ACD2-9AA9-65D4A4C9BCAF}"/>
              </a:ext>
            </a:extLst>
          </p:cNvPr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FAF1C0-FE35-0715-6950-600A4A5C339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73772" y="2819127"/>
            <a:ext cx="1462740" cy="1603987"/>
          </a:xfrm>
          <a:prstGeom prst="rect">
            <a:avLst/>
          </a:prstGeom>
        </p:spPr>
      </p:pic>
      <p:sp>
        <p:nvSpPr>
          <p:cNvPr id="9" name="Parallelogram 8">
            <a:extLst>
              <a:ext uri="{FF2B5EF4-FFF2-40B4-BE49-F238E27FC236}">
                <a16:creationId xmlns:a16="http://schemas.microsoft.com/office/drawing/2014/main" id="{7A78CE14-2166-F7E2-C083-D0E879050C7B}"/>
              </a:ext>
            </a:extLst>
          </p:cNvPr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00B3D-22FB-1F7C-0687-62248439A348}"/>
              </a:ext>
            </a:extLst>
          </p:cNvPr>
          <p:cNvCxnSpPr>
            <a:cxnSpLocks/>
          </p:cNvCxnSpPr>
          <p:nvPr/>
        </p:nvCxnSpPr>
        <p:spPr>
          <a:xfrm flipV="1">
            <a:off x="773772" y="3985154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9935725-A4A1-1B6F-78B5-0D06821151E8}"/>
              </a:ext>
            </a:extLst>
          </p:cNvPr>
          <p:cNvSpPr txBox="1"/>
          <p:nvPr/>
        </p:nvSpPr>
        <p:spPr>
          <a:xfrm>
            <a:off x="317875" y="4349421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3C3FE0-1A71-00B6-5965-BC695642D23A}"/>
              </a:ext>
            </a:extLst>
          </p:cNvPr>
          <p:cNvCxnSpPr>
            <a:cxnSpLocks/>
          </p:cNvCxnSpPr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4CF4C6-FBAC-41C1-B823-CCA5747697DF}"/>
              </a:ext>
            </a:extLst>
          </p:cNvPr>
          <p:cNvCxnSpPr>
            <a:cxnSpLocks/>
          </p:cNvCxnSpPr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E9A759E-0082-A279-288A-BF17F61D2ECF}"/>
              </a:ext>
            </a:extLst>
          </p:cNvPr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6E00A5-4BA7-2DC2-2799-4D8B75BBA735}"/>
              </a:ext>
            </a:extLst>
          </p:cNvPr>
          <p:cNvCxnSpPr>
            <a:cxnSpLocks/>
          </p:cNvCxnSpPr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A2090B8-A5C8-E083-0630-53924C859E39}"/>
              </a:ext>
            </a:extLst>
          </p:cNvPr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904FF8-5D8D-B6EB-C276-C0CCB428AC3D}"/>
              </a:ext>
            </a:extLst>
          </p:cNvPr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5495A8-92B3-E726-7E52-429F2264021A}"/>
              </a:ext>
            </a:extLst>
          </p:cNvPr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20C4147-7FC4-C5BA-1148-09D846CB8234}"/>
              </a:ext>
            </a:extLst>
          </p:cNvPr>
          <p:cNvGrpSpPr/>
          <p:nvPr/>
        </p:nvGrpSpPr>
        <p:grpSpPr>
          <a:xfrm>
            <a:off x="3735458" y="3271326"/>
            <a:ext cx="1019564" cy="962670"/>
            <a:chOff x="9637776" y="1965960"/>
            <a:chExt cx="1469811" cy="1387792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4D7AAC-8B59-0464-74D2-B21113E15521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A36DE24-EA85-36A3-6CC1-0AA924120B60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0B21C6-FEDA-3199-894B-8A3E9DCA2011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D43B6DC-7AE9-AFEB-7B90-BBE5220792BA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C5E0A26-435B-4394-79C1-EBD9DEFAC4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7C4378-E825-BDB2-D1BC-778464DD3D9E}"/>
              </a:ext>
            </a:extLst>
          </p:cNvPr>
          <p:cNvGrpSpPr/>
          <p:nvPr/>
        </p:nvGrpSpPr>
        <p:grpSpPr>
          <a:xfrm>
            <a:off x="5506122" y="3301742"/>
            <a:ext cx="948141" cy="948793"/>
            <a:chOff x="6898191" y="1965960"/>
            <a:chExt cx="1366847" cy="136778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64D974F-D435-3D21-76FB-A9AFE3A89421}"/>
                </a:ext>
              </a:extLst>
            </p:cNvPr>
            <p:cNvSpPr/>
            <p:nvPr/>
          </p:nvSpPr>
          <p:spPr>
            <a:xfrm>
              <a:off x="6898195" y="1965960"/>
              <a:ext cx="1366843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F8F4A84-80D1-7864-8AB6-09EE7B4639E4}"/>
                </a:ext>
              </a:extLst>
            </p:cNvPr>
            <p:cNvSpPr/>
            <p:nvPr/>
          </p:nvSpPr>
          <p:spPr>
            <a:xfrm>
              <a:off x="6898191" y="3088262"/>
              <a:ext cx="1366847" cy="2454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8269201-4882-10AE-4A6E-07EC01E4485B}"/>
              </a:ext>
            </a:extLst>
          </p:cNvPr>
          <p:cNvSpPr txBox="1"/>
          <p:nvPr/>
        </p:nvSpPr>
        <p:spPr>
          <a:xfrm>
            <a:off x="7227042" y="3598284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27C359E-23E8-8A31-5F6B-55C74D25A4B6}"/>
              </a:ext>
            </a:extLst>
          </p:cNvPr>
          <p:cNvCxnSpPr>
            <a:cxnSpLocks/>
          </p:cNvCxnSpPr>
          <p:nvPr/>
        </p:nvCxnSpPr>
        <p:spPr>
          <a:xfrm>
            <a:off x="583526" y="829335"/>
            <a:ext cx="329218" cy="28898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68D6229-6F42-5F32-B199-0F1AF1E5FA88}"/>
              </a:ext>
            </a:extLst>
          </p:cNvPr>
          <p:cNvSpPr txBox="1"/>
          <p:nvPr/>
        </p:nvSpPr>
        <p:spPr>
          <a:xfrm>
            <a:off x="329833" y="2037918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F165F61E-2FF2-2E21-8B20-87E6B2D39BF6}"/>
              </a:ext>
            </a:extLst>
          </p:cNvPr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7115D925-1AE3-F9AE-90E4-80DDA87B3E02}"/>
              </a:ext>
            </a:extLst>
          </p:cNvPr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9D3A4FD-EB9C-1FEA-0139-F066AE611CC6}"/>
              </a:ext>
            </a:extLst>
          </p:cNvPr>
          <p:cNvCxnSpPr>
            <a:cxnSpLocks/>
          </p:cNvCxnSpPr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C5AFD1-5E4A-FCE7-230D-4420718D84F8}"/>
              </a:ext>
            </a:extLst>
          </p:cNvPr>
          <p:cNvGrpSpPr/>
          <p:nvPr/>
        </p:nvGrpSpPr>
        <p:grpSpPr>
          <a:xfrm rot="5400000">
            <a:off x="5439245" y="1403878"/>
            <a:ext cx="1082547" cy="948793"/>
            <a:chOff x="9690394" y="4382344"/>
            <a:chExt cx="1412666" cy="136778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B01509D-2172-8865-1ECE-C72D48FA76FE}"/>
                </a:ext>
              </a:extLst>
            </p:cNvPr>
            <p:cNvSpPr/>
            <p:nvPr/>
          </p:nvSpPr>
          <p:spPr>
            <a:xfrm>
              <a:off x="9690394" y="4382344"/>
              <a:ext cx="1412665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CA31DB4-B9CF-EAA9-3BF4-2B4C04AEB194}"/>
                </a:ext>
              </a:extLst>
            </p:cNvPr>
            <p:cNvSpPr/>
            <p:nvPr/>
          </p:nvSpPr>
          <p:spPr>
            <a:xfrm>
              <a:off x="10539114" y="4382344"/>
              <a:ext cx="56394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1C94404A-1C6C-D3A3-62E2-BFE78087C9CC}"/>
              </a:ext>
            </a:extLst>
          </p:cNvPr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/>
              <a:t>Third-angle projection</a:t>
            </a:r>
            <a:r>
              <a:rPr lang="en-SG" sz="1200" u="sng"/>
              <a:t>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F28144-210C-9620-8C71-687B5E295685}"/>
              </a:ext>
            </a:extLst>
          </p:cNvPr>
          <p:cNvSpPr txBox="1"/>
          <p:nvPr/>
        </p:nvSpPr>
        <p:spPr>
          <a:xfrm>
            <a:off x="2170545" y="624064"/>
            <a:ext cx="27019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The elevation view of the question has changed.</a:t>
            </a:r>
            <a:endParaRPr lang="en-GB" sz="14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F75D7D-2DC6-0F9F-5B3C-3FD30E3F8F20}"/>
              </a:ext>
            </a:extLst>
          </p:cNvPr>
          <p:cNvSpPr txBox="1"/>
          <p:nvPr/>
        </p:nvSpPr>
        <p:spPr>
          <a:xfrm>
            <a:off x="4643052" y="261078"/>
            <a:ext cx="4660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The final drawings are the same as Variation 1.</a:t>
            </a:r>
            <a:endParaRPr lang="en-GB" sz="14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49D9F8-DEB5-A6A2-9ECE-AED2EECA0420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/>
              <a:t>Variation 4</a:t>
            </a:r>
          </a:p>
        </p:txBody>
      </p:sp>
    </p:spTree>
    <p:extLst>
      <p:ext uri="{BB962C8B-B14F-4D97-AF65-F5344CB8AC3E}">
        <p14:creationId xmlns:p14="http://schemas.microsoft.com/office/powerpoint/2010/main" val="645861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D1AAE-90CB-3C51-5B9E-18BE87039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36F720-AB40-BA1D-A4CC-2AB74E570AAF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4 – Orthographic P</a:t>
            </a:r>
            <a:r>
              <a:rPr lang="en-US" altLang="zh-CN" sz="2800" b="1"/>
              <a:t>rojection</a:t>
            </a:r>
            <a:endParaRPr lang="en-US" sz="28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56BA53-8435-10E9-66F0-C9525E17A7B1}"/>
              </a:ext>
            </a:extLst>
          </p:cNvPr>
          <p:cNvSpPr txBox="1"/>
          <p:nvPr/>
        </p:nvSpPr>
        <p:spPr>
          <a:xfrm>
            <a:off x="317634" y="835119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</a:t>
            </a:r>
            <a:r>
              <a:rPr lang="en-US" altLang="zh-CN"/>
              <a:t>irst Quadrant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F19F5-97DC-48D6-2663-3351A391AB66}"/>
              </a:ext>
            </a:extLst>
          </p:cNvPr>
          <p:cNvSpPr txBox="1"/>
          <p:nvPr/>
        </p:nvSpPr>
        <p:spPr>
          <a:xfrm>
            <a:off x="2083048" y="835119"/>
            <a:ext cx="7012825" cy="74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Plan is always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below</a:t>
            </a:r>
            <a:r>
              <a:rPr lang="en-US" dirty="0">
                <a:solidFill>
                  <a:srgbClr val="FF0000"/>
                </a:solidFill>
              </a:rPr>
              <a:t> elevation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FF0000"/>
                </a:solidFill>
              </a:rPr>
              <a:t>roject the view 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behind</a:t>
            </a:r>
            <a:r>
              <a:rPr lang="en-US" altLang="zh-CN" dirty="0">
                <a:solidFill>
                  <a:srgbClr val="FF0000"/>
                </a:solidFill>
              </a:rPr>
              <a:t> the object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725896-7A30-7301-EA5B-856D866034B4}"/>
              </a:ext>
            </a:extLst>
          </p:cNvPr>
          <p:cNvSpPr txBox="1"/>
          <p:nvPr/>
        </p:nvSpPr>
        <p:spPr>
          <a:xfrm>
            <a:off x="317634" y="1846351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</a:t>
            </a:r>
            <a:r>
              <a:rPr lang="en-US" altLang="zh-CN"/>
              <a:t>hird Quadrant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F156C-DE0B-70BD-CF35-784E18A2F856}"/>
              </a:ext>
            </a:extLst>
          </p:cNvPr>
          <p:cNvSpPr txBox="1"/>
          <p:nvPr/>
        </p:nvSpPr>
        <p:spPr>
          <a:xfrm>
            <a:off x="2083048" y="1706272"/>
            <a:ext cx="701282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Plan is always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above</a:t>
            </a:r>
            <a:r>
              <a:rPr lang="en-US" dirty="0">
                <a:solidFill>
                  <a:srgbClr val="FF0000"/>
                </a:solidFill>
              </a:rPr>
              <a:t> elevation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FF0000"/>
                </a:solidFill>
              </a:rPr>
              <a:t>roject the view 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in front of </a:t>
            </a:r>
            <a:r>
              <a:rPr lang="en-US" altLang="zh-CN" dirty="0">
                <a:solidFill>
                  <a:srgbClr val="FF0000"/>
                </a:solidFill>
              </a:rPr>
              <a:t>the object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48998-BAFE-7530-1B68-F3536BEA9BD6}"/>
              </a:ext>
            </a:extLst>
          </p:cNvPr>
          <p:cNvSpPr txBox="1"/>
          <p:nvPr/>
        </p:nvSpPr>
        <p:spPr>
          <a:xfrm>
            <a:off x="317634" y="2685195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Direction 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833C10-470C-5223-A4A5-AF90DD5C52C2}"/>
              </a:ext>
            </a:extLst>
          </p:cNvPr>
          <p:cNvSpPr txBox="1"/>
          <p:nvPr/>
        </p:nvSpPr>
        <p:spPr>
          <a:xfrm>
            <a:off x="2083046" y="2685195"/>
            <a:ext cx="701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Elevation View (first to draw)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9A0F8F-E216-68C6-232C-E1816A3FC75E}"/>
              </a:ext>
            </a:extLst>
          </p:cNvPr>
          <p:cNvSpPr txBox="1"/>
          <p:nvPr/>
        </p:nvSpPr>
        <p:spPr>
          <a:xfrm>
            <a:off x="317636" y="3242521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Direction 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2364A7-1DC8-A7A7-74ED-0527536401E2}"/>
              </a:ext>
            </a:extLst>
          </p:cNvPr>
          <p:cNvSpPr txBox="1"/>
          <p:nvPr/>
        </p:nvSpPr>
        <p:spPr>
          <a:xfrm>
            <a:off x="2083048" y="3242521"/>
            <a:ext cx="445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End of 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C92C83-5A0D-B51B-65B6-D4347647B96F}"/>
              </a:ext>
            </a:extLst>
          </p:cNvPr>
          <p:cNvSpPr txBox="1"/>
          <p:nvPr/>
        </p:nvSpPr>
        <p:spPr>
          <a:xfrm>
            <a:off x="281166" y="3851124"/>
            <a:ext cx="8129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Distance from Horizontal &amp; Vertical Plans must be equal </a:t>
            </a:r>
            <a:r>
              <a:rPr lang="en-US">
                <a:solidFill>
                  <a:srgbClr val="FF0000"/>
                </a:solidFill>
              </a:rPr>
              <a:t>for projecting points, lines &amp;surface measurements</a:t>
            </a:r>
            <a:r>
              <a:rPr lang="en-US"/>
              <a:t> from one view to another views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8D9F5-4B74-0C0F-6D9E-6AE1E0EF6C7C}"/>
              </a:ext>
            </a:extLst>
          </p:cNvPr>
          <p:cNvSpPr txBox="1"/>
          <p:nvPr/>
        </p:nvSpPr>
        <p:spPr>
          <a:xfrm>
            <a:off x="281166" y="4493024"/>
            <a:ext cx="5500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3"/>
              </a:rPr>
              <a:t>https://www.youtube.com/watch?v=heIobpUVZqc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47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F9D82-E00A-D348-987E-5D285DF09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BF387C-6006-1675-2A9B-7A79AFC91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342" y="1142449"/>
            <a:ext cx="5149049" cy="28702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C0A605-672F-C599-8105-BDCD27200D98}"/>
              </a:ext>
            </a:extLst>
          </p:cNvPr>
          <p:cNvSpPr txBox="1"/>
          <p:nvPr/>
        </p:nvSpPr>
        <p:spPr>
          <a:xfrm>
            <a:off x="317634" y="168441"/>
            <a:ext cx="910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4 – </a:t>
            </a:r>
            <a:r>
              <a:rPr lang="en-US" sz="2800" b="1"/>
              <a:t>Orthographic P</a:t>
            </a:r>
            <a:r>
              <a:rPr lang="en-US" altLang="zh-CN" sz="2800" b="1"/>
              <a:t>rojection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– Self-learning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D27F09-4CF8-B044-80B9-042781DBF88C}"/>
              </a:ext>
            </a:extLst>
          </p:cNvPr>
          <p:cNvSpPr/>
          <p:nvPr/>
        </p:nvSpPr>
        <p:spPr>
          <a:xfrm>
            <a:off x="3616225" y="3444536"/>
            <a:ext cx="4702151" cy="4773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D7CF5-5E37-D394-24E7-7BF6D65D6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07" y="1142448"/>
            <a:ext cx="2417100" cy="26018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3C9BB33-5F1B-70BC-B7EC-AA4D290840A7}"/>
              </a:ext>
            </a:extLst>
          </p:cNvPr>
          <p:cNvSpPr/>
          <p:nvPr/>
        </p:nvSpPr>
        <p:spPr>
          <a:xfrm>
            <a:off x="682747" y="1856912"/>
            <a:ext cx="1739952" cy="355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6539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0B9F-9C6E-D6BB-4362-FBA77D0A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171BE2-9B72-DF17-2EFE-CDE687E58EDF}"/>
              </a:ext>
            </a:extLst>
          </p:cNvPr>
          <p:cNvSpPr txBox="1"/>
          <p:nvPr/>
        </p:nvSpPr>
        <p:spPr>
          <a:xfrm>
            <a:off x="317634" y="168441"/>
            <a:ext cx="910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4 – </a:t>
            </a:r>
            <a:r>
              <a:rPr lang="en-US" sz="2800" b="1"/>
              <a:t>Orthographic P</a:t>
            </a:r>
            <a:r>
              <a:rPr lang="en-US" altLang="zh-CN" sz="2800" b="1"/>
              <a:t>rojection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– Assignments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E06C2-38AB-DA97-4EA2-E57B8728EF6D}"/>
              </a:ext>
            </a:extLst>
          </p:cNvPr>
          <p:cNvSpPr txBox="1"/>
          <p:nvPr/>
        </p:nvSpPr>
        <p:spPr>
          <a:xfrm>
            <a:off x="317634" y="1494038"/>
            <a:ext cx="58308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Finish – E6, E7, E8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Submit – E7 </a:t>
            </a:r>
          </a:p>
        </p:txBody>
      </p:sp>
    </p:spTree>
    <p:extLst>
      <p:ext uri="{BB962C8B-B14F-4D97-AF65-F5344CB8AC3E}">
        <p14:creationId xmlns:p14="http://schemas.microsoft.com/office/powerpoint/2010/main" val="3843396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66AF-A921-28C1-8AF9-8942C769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E9430D9-C363-3DAC-53C7-736738E91F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07" b="12242"/>
          <a:stretch>
            <a:fillRect/>
          </a:stretch>
        </p:blipFill>
        <p:spPr>
          <a:xfrm>
            <a:off x="4425659" y="691661"/>
            <a:ext cx="2372530" cy="3834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19DC58-D837-9D48-A223-711F461AA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24" y="900866"/>
            <a:ext cx="3537210" cy="35372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7CF7B7-7CE4-AE82-E71E-3279B130976D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to download the slides?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D26AAB-4A93-9ECB-14BE-61E6F44E5164}"/>
              </a:ext>
            </a:extLst>
          </p:cNvPr>
          <p:cNvCxnSpPr>
            <a:cxnSpLocks/>
          </p:cNvCxnSpPr>
          <p:nvPr/>
        </p:nvCxnSpPr>
        <p:spPr>
          <a:xfrm flipV="1">
            <a:off x="3586555" y="2232204"/>
            <a:ext cx="839104" cy="3767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B088EBD-1777-E072-C48A-7B3EB1AD8169}"/>
              </a:ext>
            </a:extLst>
          </p:cNvPr>
          <p:cNvSpPr/>
          <p:nvPr/>
        </p:nvSpPr>
        <p:spPr>
          <a:xfrm>
            <a:off x="5260065" y="4135176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545CA8-659F-6416-28CF-C6D29B01723D}"/>
              </a:ext>
            </a:extLst>
          </p:cNvPr>
          <p:cNvCxnSpPr>
            <a:cxnSpLocks/>
          </p:cNvCxnSpPr>
          <p:nvPr/>
        </p:nvCxnSpPr>
        <p:spPr>
          <a:xfrm flipH="1">
            <a:off x="6113837" y="3622345"/>
            <a:ext cx="315971" cy="425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230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A540F8-4ACB-4DC8-920F-A3CE5A42B988}">
  <ds:schemaRefs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64D3FE7-A0C8-4453-A806-BCAD6F53B9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755</Words>
  <Application>Microsoft Office PowerPoint</Application>
  <PresentationFormat>On-screen Show (16:9)</PresentationFormat>
  <Paragraphs>221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CV1711 ENGINEERING DRAWING &amp; 3D BUILD  INFO MODEL (LAB)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#HUANG XINYA#</cp:lastModifiedBy>
  <cp:revision>1</cp:revision>
  <dcterms:created xsi:type="dcterms:W3CDTF">2017-05-14T01:29:56Z</dcterms:created>
  <dcterms:modified xsi:type="dcterms:W3CDTF">2026-09-01T05:06:50Z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