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336" r:id="rId5"/>
    <p:sldId id="334" r:id="rId6"/>
    <p:sldId id="313" r:id="rId7"/>
    <p:sldId id="293" r:id="rId8"/>
    <p:sldId id="295" r:id="rId9"/>
    <p:sldId id="278" r:id="rId10"/>
    <p:sldId id="297" r:id="rId11"/>
    <p:sldId id="298" r:id="rId12"/>
    <p:sldId id="277" r:id="rId13"/>
    <p:sldId id="296" r:id="rId14"/>
    <p:sldId id="279" r:id="rId15"/>
    <p:sldId id="299" r:id="rId16"/>
    <p:sldId id="338" r:id="rId17"/>
    <p:sldId id="352" r:id="rId18"/>
    <p:sldId id="308" r:id="rId19"/>
    <p:sldId id="340" r:id="rId20"/>
    <p:sldId id="339" r:id="rId21"/>
    <p:sldId id="341" r:id="rId22"/>
    <p:sldId id="342" r:id="rId23"/>
    <p:sldId id="349" r:id="rId2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092" autoAdjust="0"/>
  </p:normalViewPr>
  <p:slideViewPr>
    <p:cSldViewPr snapToGrid="0">
      <p:cViewPr varScale="1">
        <p:scale>
          <a:sx n="108" d="100"/>
          <a:sy n="108" d="100"/>
        </p:scale>
        <p:origin x="170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28T01:46:01.543" v="16248" actId="47"/>
      <pc:docMkLst>
        <pc:docMk/>
      </pc:docMkLst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897986182" sldId="259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946053145" sldId="262"/>
        </pc:sldMkLst>
      </pc:sldChg>
      <pc:sldChg chg="modSp del mod or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741047462" sldId="266"/>
        </pc:sldMkLst>
      </pc:sldChg>
      <pc:sldChg chg="addSp delSp del mod">
        <pc:chgData name="#HUANG XINYA#" userId="0394e048-be67-4ff5-b348-88acdc9df0d1" providerId="ADAL" clId="{02486B59-77C2-44D9-86E4-77A6D6D6742A}" dt="2026-08-28T01:46:01.543" v="16248" actId="47"/>
        <pc:sldMkLst>
          <pc:docMk/>
          <pc:sldMk cId="1444261047" sldId="268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817903410" sldId="269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307439785" sldId="270"/>
        </pc:sldMkLst>
      </pc:sldChg>
      <pc:sldChg chg="addSp 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4100255535" sldId="271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247883481" sldId="272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856787668" sldId="275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401384901" sldId="276"/>
        </pc:sldMkLst>
      </pc:sldChg>
      <pc:sldChg chg="addSp modSp del mod modAnim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148859768" sldId="277"/>
        </pc:sldMkLst>
      </pc:sldChg>
      <pc:sldChg chg="addSp delSp modSp del mod ord modAnim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732387768" sldId="278"/>
        </pc:sldMkLst>
      </pc:sldChg>
      <pc:sldChg chg="addSp modSp del mod modAnim">
        <pc:chgData name="#HUANG XINYA#" userId="0394e048-be67-4ff5-b348-88acdc9df0d1" providerId="ADAL" clId="{02486B59-77C2-44D9-86E4-77A6D6D6742A}" dt="2026-08-28T01:46:01.543" v="16248" actId="47"/>
        <pc:sldMkLst>
          <pc:docMk/>
          <pc:sldMk cId="940724167" sldId="279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606987900" sldId="282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4266317831" sldId="283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400981342" sldId="284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734273537" sldId="285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693852826" sldId="286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021957308" sldId="287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645861750" sldId="288"/>
        </pc:sldMkLst>
      </pc:sldChg>
      <pc:sldChg chg="addSp 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679089101" sldId="290"/>
        </pc:sldMkLst>
      </pc:sldChg>
      <pc:sldChg chg="addSp 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576713322" sldId="291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283426111" sldId="292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43491516" sldId="293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980262105" sldId="294"/>
        </pc:sldMkLst>
      </pc:sldChg>
      <pc:sldChg chg="addSp 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582355745" sldId="295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602438779" sldId="296"/>
        </pc:sldMkLst>
      </pc:sldChg>
      <pc:sldChg chg="addSp delSp modSp del mod ord modAnim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73653382" sldId="297"/>
        </pc:sldMkLst>
      </pc:sldChg>
      <pc:sldChg chg="del or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856398079" sldId="298"/>
        </pc:sldMkLst>
      </pc:sldChg>
      <pc:sldChg chg="modSp del mod">
        <pc:chgData name="#HUANG XINYA#" userId="0394e048-be67-4ff5-b348-88acdc9df0d1" providerId="ADAL" clId="{02486B59-77C2-44D9-86E4-77A6D6D6742A}" dt="2026-08-28T01:46:01.543" v="16248" actId="47"/>
        <pc:sldMkLst>
          <pc:docMk/>
          <pc:sldMk cId="3704679447" sldId="299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779232994" sldId="300"/>
        </pc:sldMkLst>
      </pc:sldChg>
      <pc:sldChg chg="del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06254916" sldId="301"/>
        </pc:sldMkLst>
      </pc:sldChg>
      <pc:sldChg chg="modSp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2977683853" sldId="302"/>
        </pc:sldMkLst>
      </pc:sldChg>
      <pc:sldChg chg="addSp modSp del mod modAnim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525409591" sldId="303"/>
        </pc:sldMkLst>
      </pc:sldChg>
      <pc:sldChg chg="modSp add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843396615" sldId="333"/>
        </pc:sldMkLst>
      </pc:sldChg>
      <pc:sldChg chg="modSp add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962184743" sldId="334"/>
        </pc:sldMkLst>
      </pc:sldChg>
      <pc:sldChg chg="addSp delSp modSp add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517604735" sldId="335"/>
        </pc:sldMkLst>
      </pc:sldChg>
      <pc:sldChg chg="addSp delSp modSp add del mod or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3890169643" sldId="336"/>
        </pc:sldMkLst>
      </pc:sldChg>
      <pc:sldChg chg="delSp modSp add del mod modNotesTx">
        <pc:chgData name="#HUANG XINYA#" userId="0394e048-be67-4ff5-b348-88acdc9df0d1" providerId="ADAL" clId="{02486B59-77C2-44D9-86E4-77A6D6D6742A}" dt="2026-08-28T01:46:01.543" v="16248" actId="47"/>
        <pc:sldMkLst>
          <pc:docMk/>
          <pc:sldMk cId="1712540678" sldId="337"/>
        </pc:sldMkLst>
      </pc:sldChg>
      <pc:sldChg chg="addSp delSp modSp add mod delAnim modAnim modNotesTx">
        <pc:chgData name="#HUANG XINYA#" userId="0394e048-be67-4ff5-b348-88acdc9df0d1" providerId="ADAL" clId="{02486B59-77C2-44D9-86E4-77A6D6D6742A}" dt="2026-08-08T06:31:31.739" v="16216"/>
        <pc:sldMkLst>
          <pc:docMk/>
          <pc:sldMk cId="1279301954" sldId="345"/>
        </pc:sldMkLst>
      </pc:sldChg>
      <pc:sldChg chg="delSp modSp add del mod">
        <pc:chgData name="#HUANG XINYA#" userId="0394e048-be67-4ff5-b348-88acdc9df0d1" providerId="ADAL" clId="{02486B59-77C2-44D9-86E4-77A6D6D6742A}" dt="2026-08-28T01:46:01.543" v="16248" actId="47"/>
        <pc:sldMkLst>
          <pc:docMk/>
          <pc:sldMk cId="1235230076" sldId="347"/>
        </pc:sldMkLst>
      </pc:sldChg>
      <pc:sldChg chg="add del">
        <pc:chgData name="#HUANG XINYA#" userId="0394e048-be67-4ff5-b348-88acdc9df0d1" providerId="ADAL" clId="{02486B59-77C2-44D9-86E4-77A6D6D6742A}" dt="2026-08-28T01:46:01.543" v="16248" actId="47"/>
        <pc:sldMkLst>
          <pc:docMk/>
          <pc:sldMk cId="3268945510" sldId="348"/>
        </pc:sldMkLst>
      </pc:sldChg>
      <pc:sldChg chg="add">
        <pc:chgData name="#HUANG XINYA#" userId="0394e048-be67-4ff5-b348-88acdc9df0d1" providerId="ADAL" clId="{02486B59-77C2-44D9-86E4-77A6D6D6742A}" dt="2026-08-08T07:03:29.960" v="16243"/>
        <pc:sldMkLst>
          <pc:docMk/>
          <pc:sldMk cId="4212675989" sldId="349"/>
        </pc:sldMkLst>
      </pc:sldChg>
      <pc:sldChg chg="add modNotesTx">
        <pc:chgData name="#HUANG XINYA#" userId="0394e048-be67-4ff5-b348-88acdc9df0d1" providerId="ADAL" clId="{02486B59-77C2-44D9-86E4-77A6D6D6742A}" dt="2026-08-08T09:51:57.526" v="16247" actId="20577"/>
        <pc:sldMkLst>
          <pc:docMk/>
          <pc:sldMk cId="3816575668" sldId="35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9/8/2026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96C77-5F37-ECB0-0505-3938500B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9B030-A1FB-90FA-60EA-BBE6171AC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B56A-9048-BE07-CE0F-B41819857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BC665-25D7-065C-F682-E79014860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6443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6549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50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539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4608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769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1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4326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2056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47217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27733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F16ED-3011-7469-4B0D-40DC4C845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6E3610-DBE6-F5D5-41C1-E82EE1C3C8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D8DD7-7AC4-3F52-170B-B66039A91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80CE6-5EA9-3575-217D-EED81BF8D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8614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1AF1F-4017-9108-4AB1-B1E4898B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054D17-FDD7-6B83-F0F0-F23182FBD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8C2E8-CFE3-B23B-870E-C82B5AE0D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88601-DECC-56DB-D21C-3AC7B3740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141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0468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097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6842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762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391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299-F701-CC6B-B840-7C2501BA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A630-B91D-EB53-F028-67B00BD51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77606-30E9-686D-15C7-C426C56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A05FD-1B7F-D362-713D-93CB9FC6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559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5C652-3F8B-4D91-7FD6-088406B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B1E8BBC-8AC1-5E46-6D80-CC68653E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48"/>
          <a:stretch>
            <a:fillRect/>
          </a:stretch>
        </p:blipFill>
        <p:spPr>
          <a:xfrm>
            <a:off x="2950869" y="1358282"/>
            <a:ext cx="5886597" cy="34179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A3CB-9BB1-C24E-4B25-05CC09E7C3A6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6 – </a:t>
            </a:r>
            <a:r>
              <a:rPr lang="en-US" sz="2800" b="1" dirty="0"/>
              <a:t>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Self-learning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D3C2A5-BB08-34B7-CE04-6D599E008C3E}"/>
              </a:ext>
            </a:extLst>
          </p:cNvPr>
          <p:cNvSpPr/>
          <p:nvPr/>
        </p:nvSpPr>
        <p:spPr>
          <a:xfrm>
            <a:off x="3054312" y="4311677"/>
            <a:ext cx="1143000" cy="221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EE1383-388B-5E3F-1FE1-CF5E31DF9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534" y="1462045"/>
            <a:ext cx="2417100" cy="260184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259E4E1-0485-7ABD-B360-5C0A267F87CE}"/>
              </a:ext>
            </a:extLst>
          </p:cNvPr>
          <p:cNvSpPr/>
          <p:nvPr/>
        </p:nvSpPr>
        <p:spPr>
          <a:xfrm>
            <a:off x="274374" y="2176509"/>
            <a:ext cx="1739952" cy="35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5829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6 – A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uxiliary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rojection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Assignments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Finish – E12, E13, E14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Submit – E13 </a:t>
            </a:r>
          </a:p>
        </p:txBody>
      </p:sp>
    </p:spTree>
    <p:extLst>
      <p:ext uri="{BB962C8B-B14F-4D97-AF65-F5344CB8AC3E}">
        <p14:creationId xmlns:p14="http://schemas.microsoft.com/office/powerpoint/2010/main" val="30776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AUXILIARY PROJECTION - </a:t>
            </a:r>
            <a:r>
              <a:rPr lang="en-SG" sz="2000" b="1">
                <a:solidFill>
                  <a:srgbClr val="FF0000"/>
                </a:solidFill>
              </a:rPr>
              <a:t>PRECEDURES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6055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1. </a:t>
            </a:r>
            <a:r>
              <a:rPr lang="en-SG" sz="2000" b="1">
                <a:solidFill>
                  <a:srgbClr val="FF0000"/>
                </a:solidFill>
              </a:rPr>
              <a:t>R</a:t>
            </a:r>
            <a:r>
              <a:rPr lang="en-US" altLang="zh-CN" sz="2000" b="1" err="1">
                <a:solidFill>
                  <a:srgbClr val="FF0000"/>
                </a:solidFill>
              </a:rPr>
              <a:t>eproduce</a:t>
            </a:r>
            <a:r>
              <a:rPr lang="en-US" altLang="zh-CN" sz="2000" b="1">
                <a:solidFill>
                  <a:srgbClr val="FF0000"/>
                </a:solidFill>
              </a:rPr>
              <a:t> </a:t>
            </a:r>
            <a:r>
              <a:rPr lang="en-US" altLang="zh-CN" sz="2000" b="1"/>
              <a:t>the </a:t>
            </a:r>
            <a:r>
              <a:rPr lang="en-US" sz="2000" b="1"/>
              <a:t>principal</a:t>
            </a:r>
            <a:r>
              <a:rPr lang="en-US" altLang="zh-CN" sz="2000" b="1"/>
              <a:t> views (Elevation &amp; Plan)</a:t>
            </a:r>
            <a:endParaRPr lang="en-SG" sz="16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2. </a:t>
            </a:r>
            <a:r>
              <a:rPr lang="en-SG" sz="2000" b="1">
                <a:solidFill>
                  <a:srgbClr val="FF0000"/>
                </a:solidFill>
              </a:rPr>
              <a:t>Projectors </a:t>
            </a:r>
            <a:r>
              <a:rPr lang="en-US" sz="2000" b="1">
                <a:solidFill>
                  <a:srgbClr val="FF0000"/>
                </a:solidFill>
              </a:rPr>
              <a:t>parallel </a:t>
            </a:r>
            <a:r>
              <a:rPr lang="en-US" sz="2000" b="1"/>
              <a:t>to the given direction from end points  </a:t>
            </a:r>
            <a:endParaRPr lang="en-SG" sz="16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3. </a:t>
            </a:r>
            <a:r>
              <a:rPr lang="en-US" sz="2000" b="1">
                <a:solidFill>
                  <a:srgbClr val="FF0000"/>
                </a:solidFill>
              </a:rPr>
              <a:t>G</a:t>
            </a:r>
            <a:r>
              <a:rPr lang="en-US" altLang="zh-CN" sz="2000" b="1">
                <a:solidFill>
                  <a:srgbClr val="FF0000"/>
                </a:solidFill>
              </a:rPr>
              <a:t>round line </a:t>
            </a:r>
            <a:r>
              <a:rPr lang="en-US" altLang="zh-CN" sz="2000" b="1"/>
              <a:t>perpendicular to the projectors</a:t>
            </a:r>
            <a:endParaRPr lang="en-SG" sz="16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4. </a:t>
            </a:r>
            <a:r>
              <a:rPr lang="en-US" sz="2000" b="1">
                <a:solidFill>
                  <a:srgbClr val="FF0000"/>
                </a:solidFill>
              </a:rPr>
              <a:t>Transfer</a:t>
            </a:r>
            <a:r>
              <a:rPr lang="en-US" sz="2000" b="1"/>
              <a:t> heights/widths</a:t>
            </a:r>
            <a:endParaRPr lang="en-SG" sz="1600"/>
          </a:p>
        </p:txBody>
      </p:sp>
    </p:spTree>
    <p:extLst>
      <p:ext uri="{BB962C8B-B14F-4D97-AF65-F5344CB8AC3E}">
        <p14:creationId xmlns:p14="http://schemas.microsoft.com/office/powerpoint/2010/main" val="3309710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1402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1816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02605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- Third Angle</a:t>
            </a:r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- First Auxiliary Plan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7" y="1372082"/>
            <a:ext cx="2159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in front of </a:t>
            </a:r>
            <a:r>
              <a:rPr lang="en-US" b="1" dirty="0">
                <a:solidFill>
                  <a:srgbClr val="FF0000"/>
                </a:solidFill>
              </a:rPr>
              <a:t>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Elevation</a:t>
            </a:r>
            <a:r>
              <a:rPr lang="en-US" b="1" dirty="0">
                <a:solidFill>
                  <a:srgbClr val="FF0000"/>
                </a:solidFill>
              </a:rPr>
              <a:t>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129597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69801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062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69072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69801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- Third Angle</a:t>
            </a:r>
            <a:endParaRPr lang="en-US" altLang="zh-CN" sz="1800" b="1">
              <a:solidFill>
                <a:srgbClr val="FF0000"/>
              </a:solidFill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- First Auxiliary Elevation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in front of </a:t>
            </a:r>
            <a:r>
              <a:rPr lang="en-US" b="1" dirty="0">
                <a:solidFill>
                  <a:srgbClr val="FF0000"/>
                </a:solidFill>
              </a:rPr>
              <a:t>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Plan</a:t>
            </a:r>
            <a:r>
              <a:rPr lang="en-US" b="1" dirty="0">
                <a:solidFill>
                  <a:srgbClr val="FF0000"/>
                </a:solidFill>
              </a:rPr>
              <a:t>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300AFB5-6122-5198-8914-2B9697BC64A2}"/>
              </a:ext>
            </a:extLst>
          </p:cNvPr>
          <p:cNvCxnSpPr>
            <a:cxnSpLocks/>
          </p:cNvCxnSpPr>
          <p:nvPr/>
        </p:nvCxnSpPr>
        <p:spPr>
          <a:xfrm>
            <a:off x="1235033" y="1151328"/>
            <a:ext cx="145146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F53B94F-533C-6C69-5EA1-7B9AD2C03DB4}"/>
              </a:ext>
            </a:extLst>
          </p:cNvPr>
          <p:cNvCxnSpPr>
            <a:cxnSpLocks/>
          </p:cNvCxnSpPr>
          <p:nvPr/>
        </p:nvCxnSpPr>
        <p:spPr>
          <a:xfrm>
            <a:off x="823344" y="1291852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724357" y="4237857"/>
            <a:ext cx="24033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Hidden lines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2486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162776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0394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12225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69666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0394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6D51103-5E3A-30E4-7D39-3FB1BB96796A}"/>
              </a:ext>
            </a:extLst>
          </p:cNvPr>
          <p:cNvCxnSpPr>
            <a:cxnSpLocks/>
          </p:cNvCxnSpPr>
          <p:nvPr/>
        </p:nvCxnSpPr>
        <p:spPr>
          <a:xfrm>
            <a:off x="823344" y="1642754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C2ECA71-2DE5-0322-80C3-E5E0A801FC55}"/>
              </a:ext>
            </a:extLst>
          </p:cNvPr>
          <p:cNvSpPr/>
          <p:nvPr/>
        </p:nvSpPr>
        <p:spPr>
          <a:xfrm>
            <a:off x="2050202" y="1335943"/>
            <a:ext cx="550494" cy="1544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plan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39D7E6D-F55F-6D85-C003-902A5B58633D}"/>
              </a:ext>
            </a:extLst>
          </p:cNvPr>
          <p:cNvCxnSpPr>
            <a:cxnSpLocks/>
          </p:cNvCxnSpPr>
          <p:nvPr/>
        </p:nvCxnSpPr>
        <p:spPr>
          <a:xfrm>
            <a:off x="1258785" y="1490354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2891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16871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1816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02605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09887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2509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4191D1-D4F7-4B3D-99DB-EE859F6E1DD9}"/>
              </a:ext>
            </a:extLst>
          </p:cNvPr>
          <p:cNvCxnSpPr>
            <a:cxnSpLocks/>
          </p:cNvCxnSpPr>
          <p:nvPr/>
        </p:nvCxnSpPr>
        <p:spPr>
          <a:xfrm>
            <a:off x="1235033" y="1086181"/>
            <a:ext cx="97377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FAF710-A9C2-F4C3-45C1-58CE143F5069}"/>
              </a:ext>
            </a:extLst>
          </p:cNvPr>
          <p:cNvCxnSpPr>
            <a:cxnSpLocks/>
          </p:cNvCxnSpPr>
          <p:nvPr/>
        </p:nvCxnSpPr>
        <p:spPr>
          <a:xfrm>
            <a:off x="823344" y="1226705"/>
            <a:ext cx="134191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28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 2 - 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15E63-7C0C-41F8-95D7-2F1A4F29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D18F6A-1976-AF5E-0DCD-15DAA0F53122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– Recap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42CD23-506D-FF92-5448-087A9EBEA000}"/>
              </a:ext>
            </a:extLst>
          </p:cNvPr>
          <p:cNvSpPr txBox="1"/>
          <p:nvPr/>
        </p:nvSpPr>
        <p:spPr>
          <a:xfrm>
            <a:off x="196278" y="745759"/>
            <a:ext cx="803413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1</a:t>
            </a:r>
            <a:r>
              <a:rPr lang="en-GB" sz="2000" b="1" baseline="30000" dirty="0"/>
              <a:t>st</a:t>
            </a:r>
            <a:r>
              <a:rPr lang="en-GB" sz="2000" b="1" dirty="0"/>
              <a:t> Angle Projection: Projection </a:t>
            </a:r>
            <a:r>
              <a:rPr lang="en-GB" sz="2000" b="1" dirty="0">
                <a:highlight>
                  <a:srgbClr val="FFFF00"/>
                </a:highlight>
              </a:rPr>
              <a:t>behind</a:t>
            </a:r>
            <a:r>
              <a:rPr lang="en-GB" sz="2000" b="1" dirty="0"/>
              <a:t> the object</a:t>
            </a:r>
          </a:p>
          <a:p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3</a:t>
            </a:r>
            <a:r>
              <a:rPr lang="en-GB" sz="2000" b="1" baseline="30000" dirty="0"/>
              <a:t>rd</a:t>
            </a:r>
            <a:r>
              <a:rPr lang="en-GB" sz="2000" b="1" dirty="0"/>
              <a:t> Angle Projection: Projection </a:t>
            </a:r>
            <a:r>
              <a:rPr lang="en-GB" sz="2000" b="1" dirty="0">
                <a:highlight>
                  <a:srgbClr val="FFFF00"/>
                </a:highlight>
              </a:rPr>
              <a:t>in front of </a:t>
            </a:r>
            <a:r>
              <a:rPr lang="en-GB" sz="2000" b="1" dirty="0"/>
              <a:t>the object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Auxiliary Plan: Projected from the </a:t>
            </a:r>
            <a:r>
              <a:rPr lang="en-GB" sz="2000" b="1" dirty="0">
                <a:highlight>
                  <a:srgbClr val="FFFF00"/>
                </a:highlight>
              </a:rPr>
              <a:t>elevation</a:t>
            </a:r>
            <a:r>
              <a:rPr lang="en-GB" sz="2000" b="1" dirty="0"/>
              <a:t> 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Auxiliary Elevation: Projected from the </a:t>
            </a:r>
            <a:r>
              <a:rPr lang="en-GB" sz="2000" b="1" dirty="0">
                <a:highlight>
                  <a:srgbClr val="FFFF00"/>
                </a:highlight>
              </a:rPr>
              <a:t>plan</a:t>
            </a:r>
            <a:r>
              <a:rPr lang="en-GB" sz="2000" b="1" dirty="0"/>
              <a:t> 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3968515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C7EC1-7D29-D5F7-71F5-27A02D00F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294997-447B-BC44-E9A3-9612B9B981CA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7965FB-E4E5-0028-615F-E8E22B07C56B}"/>
              </a:ext>
            </a:extLst>
          </p:cNvPr>
          <p:cNvSpPr txBox="1"/>
          <p:nvPr/>
        </p:nvSpPr>
        <p:spPr>
          <a:xfrm>
            <a:off x="196278" y="745759"/>
            <a:ext cx="80341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FF0000"/>
                </a:solidFill>
              </a:rPr>
              <a:t>Scope: Auxiliary Projection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b="1" dirty="0"/>
              <a:t>Review: E9-E14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2223594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196278" y="745759"/>
            <a:ext cx="80341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/>
              <a:t>SEATING – </a:t>
            </a:r>
            <a:r>
              <a:rPr lang="en-SG" sz="2000" b="1">
                <a:solidFill>
                  <a:srgbClr val="FF0000"/>
                </a:solidFill>
              </a:rPr>
              <a:t>Every Other Column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/>
              <a:t>QUIZ PAPER (cannot be taken out) – Write down </a:t>
            </a:r>
            <a:r>
              <a:rPr lang="en-US" sz="2000" b="1">
                <a:solidFill>
                  <a:srgbClr val="FF0000"/>
                </a:solidFill>
              </a:rPr>
              <a:t>Name + </a:t>
            </a:r>
            <a:r>
              <a:rPr lang="en-US" sz="2000" b="1" err="1">
                <a:solidFill>
                  <a:srgbClr val="FF0000"/>
                </a:solidFill>
              </a:rPr>
              <a:t>Matr.No</a:t>
            </a:r>
            <a:r>
              <a:rPr lang="en-US" sz="2000" b="1">
                <a:solidFill>
                  <a:srgbClr val="FF0000"/>
                </a:solidFill>
              </a:rPr>
              <a:t>.</a:t>
            </a:r>
            <a:endParaRPr lang="en-SG" sz="2000" b="1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/>
              <a:t>NO INTERNET CONNECTION, ONLY </a:t>
            </a:r>
            <a:r>
              <a:rPr lang="en-SG" sz="2000" b="1" err="1"/>
              <a:t>NTULearn</a:t>
            </a:r>
            <a:r>
              <a:rPr lang="en-SG" sz="2000" b="1"/>
              <a:t> Access</a:t>
            </a:r>
            <a:endParaRPr lang="en-SG" sz="20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>
                <a:solidFill>
                  <a:srgbClr val="FF0000"/>
                </a:solidFill>
              </a:rPr>
              <a:t>Files to submit: DWG + PDF</a:t>
            </a:r>
          </a:p>
        </p:txBody>
      </p:sp>
    </p:spTree>
    <p:extLst>
      <p:ext uri="{BB962C8B-B14F-4D97-AF65-F5344CB8AC3E}">
        <p14:creationId xmlns:p14="http://schemas.microsoft.com/office/powerpoint/2010/main" val="308953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41D71-D1A0-071C-CE9B-059E03176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597C1B-3837-051B-6E2E-6E4018DC2087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731092-0476-10B1-64E7-AC7B92D56AB4}"/>
              </a:ext>
            </a:extLst>
          </p:cNvPr>
          <p:cNvSpPr txBox="1"/>
          <p:nvPr/>
        </p:nvSpPr>
        <p:spPr>
          <a:xfrm>
            <a:off x="196278" y="745759"/>
            <a:ext cx="803413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lang="en-SG" sz="2000" b="1"/>
              <a:t>Export </a:t>
            </a:r>
            <a:r>
              <a:rPr lang="en-SG" sz="2000" b="1">
                <a:solidFill>
                  <a:srgbClr val="FF0000"/>
                </a:solidFill>
              </a:rPr>
              <a:t>DWG</a:t>
            </a:r>
            <a:r>
              <a:rPr lang="en-SG" sz="2000" b="1"/>
              <a:t>: </a:t>
            </a:r>
          </a:p>
          <a:p>
            <a:pPr marL="358775"/>
            <a:endParaRPr lang="en-US" sz="2000" b="1"/>
          </a:p>
          <a:p>
            <a:pPr marL="358775"/>
            <a:r>
              <a:rPr lang="en-US" sz="2000" b="1"/>
              <a:t>‘FILE’ &gt; ‘Save As’ &gt; ’.dwg’</a:t>
            </a:r>
          </a:p>
          <a:p>
            <a:endParaRPr lang="en-US" sz="2000" b="1"/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lang="en-US" sz="2000" b="1"/>
              <a:t>Export </a:t>
            </a:r>
            <a:r>
              <a:rPr lang="en-US" sz="2000" b="1">
                <a:solidFill>
                  <a:srgbClr val="FF0000"/>
                </a:solidFill>
              </a:rPr>
              <a:t>PDF</a:t>
            </a:r>
            <a:r>
              <a:rPr lang="en-US" sz="2000" b="1"/>
              <a:t>: </a:t>
            </a:r>
          </a:p>
          <a:p>
            <a:pPr marL="358775"/>
            <a:endParaRPr lang="en-US" sz="2000" b="1"/>
          </a:p>
          <a:p>
            <a:pPr marL="358775"/>
            <a:r>
              <a:rPr lang="en-US" sz="2000" b="1"/>
              <a:t>‘Layout’ tab &gt; Type ‘print’ &gt; Select printer ‘Microsoft print to pdf’ &gt; ‘Preview’ to check &gt; ‘ESC’ exit preview &gt; ‘OK’ to save PDF file</a:t>
            </a:r>
            <a:endParaRPr lang="en-SG" sz="2000" b="1"/>
          </a:p>
        </p:txBody>
      </p:sp>
    </p:spTree>
    <p:extLst>
      <p:ext uri="{BB962C8B-B14F-4D97-AF65-F5344CB8AC3E}">
        <p14:creationId xmlns:p14="http://schemas.microsoft.com/office/powerpoint/2010/main" val="3604412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CFF1C-B219-7CE3-C5AD-86D5A9247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3D149A3-74FC-6CCE-F3C7-E427CDFAE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8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73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C5F5F-4F55-6D63-91AD-1E95354C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CE830D-190D-B414-F574-E19681E25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3" y="0"/>
            <a:ext cx="909949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707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ED89-B4A2-1DED-55E0-77DDE8A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E79862-795B-F9A6-693D-E6780E167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03" y="0"/>
            <a:ext cx="770899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79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585B9-C8D9-89C4-5150-1BF6BBA02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EE8B201-AB13-8994-0818-91D609CB15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4425659" y="691661"/>
            <a:ext cx="2372530" cy="3834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321760B-5066-FBAE-1711-F8431865F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24" y="900866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625E4E-C5B6-35D1-8C61-074FBDE5ECA9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D1548D-6A34-28C1-7662-092B62DD3023}"/>
              </a:ext>
            </a:extLst>
          </p:cNvPr>
          <p:cNvCxnSpPr>
            <a:cxnSpLocks/>
          </p:cNvCxnSpPr>
          <p:nvPr/>
        </p:nvCxnSpPr>
        <p:spPr>
          <a:xfrm flipV="1">
            <a:off x="3586555" y="2232204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1AEBDE5-6742-313A-A601-E9BD34625D5A}"/>
              </a:ext>
            </a:extLst>
          </p:cNvPr>
          <p:cNvSpPr/>
          <p:nvPr/>
        </p:nvSpPr>
        <p:spPr>
          <a:xfrm>
            <a:off x="5260065" y="4135176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A1E8848-B37F-2DB5-41B4-CCC4F7883E69}"/>
              </a:ext>
            </a:extLst>
          </p:cNvPr>
          <p:cNvCxnSpPr>
            <a:cxnSpLocks/>
          </p:cNvCxnSpPr>
          <p:nvPr/>
        </p:nvCxnSpPr>
        <p:spPr>
          <a:xfrm flipH="1">
            <a:off x="6113837" y="3622345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75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326</Words>
  <Application>Microsoft Office PowerPoint</Application>
  <PresentationFormat>On-screen Show (16:9)</PresentationFormat>
  <Paragraphs>81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5</cp:revision>
  <dcterms:created xsi:type="dcterms:W3CDTF">2017-05-14T01:29:56Z</dcterms:created>
  <dcterms:modified xsi:type="dcterms:W3CDTF">2026-09-08T07:41:09Z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